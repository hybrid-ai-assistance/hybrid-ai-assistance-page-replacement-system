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6" r:id="rId1"/>
    <p:sldMasterId id="2147483842" r:id="rId2"/>
  </p:sldMasterIdLst>
  <p:notesMasterIdLst>
    <p:notesMasterId r:id="rId33"/>
  </p:notesMasterIdLst>
  <p:sldIdLst>
    <p:sldId id="256" r:id="rId3"/>
    <p:sldId id="257" r:id="rId4"/>
    <p:sldId id="258" r:id="rId5"/>
    <p:sldId id="280" r:id="rId6"/>
    <p:sldId id="259" r:id="rId7"/>
    <p:sldId id="260" r:id="rId8"/>
    <p:sldId id="261" r:id="rId9"/>
    <p:sldId id="279" r:id="rId10"/>
    <p:sldId id="262" r:id="rId11"/>
    <p:sldId id="264" r:id="rId12"/>
    <p:sldId id="263" r:id="rId13"/>
    <p:sldId id="265" r:id="rId14"/>
    <p:sldId id="266" r:id="rId15"/>
    <p:sldId id="282" r:id="rId16"/>
    <p:sldId id="283" r:id="rId17"/>
    <p:sldId id="281" r:id="rId18"/>
    <p:sldId id="272" r:id="rId19"/>
    <p:sldId id="267" r:id="rId20"/>
    <p:sldId id="268" r:id="rId21"/>
    <p:sldId id="284" r:id="rId22"/>
    <p:sldId id="276" r:id="rId23"/>
    <p:sldId id="271" r:id="rId24"/>
    <p:sldId id="285" r:id="rId25"/>
    <p:sldId id="273" r:id="rId26"/>
    <p:sldId id="274" r:id="rId27"/>
    <p:sldId id="275" r:id="rId28"/>
    <p:sldId id="277" r:id="rId29"/>
    <p:sldId id="278" r:id="rId30"/>
    <p:sldId id="286" r:id="rId31"/>
    <p:sldId id="287" r:id="rId32"/>
  </p:sldIdLst>
  <p:sldSz cx="12192000" cy="6858000"/>
  <p:notesSz cx="6858000" cy="9144000"/>
  <p:embeddedFontLst>
    <p:embeddedFont>
      <p:font typeface="Algerian" panose="04020705040A02060702" pitchFamily="82" charset="0"/>
      <p:regular r:id="rId34"/>
    </p:embeddedFont>
    <p:embeddedFont>
      <p:font typeface="Cambria Math" panose="02040503050406030204" pitchFamily="18" charset="0"/>
      <p:regular r:id="rId35"/>
    </p:embeddedFont>
    <p:embeddedFont>
      <p:font typeface="Tw Cen MT" panose="020B0602020104020603" pitchFamily="34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iyEKpqFbFcKS6cST8aqAr6XgaH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84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customschemas.google.com/relationships/presentationmetadata" Target="meta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291542-0762-48CF-969D-494FC49D034E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3A840D9-9187-4932-97ED-478619614778}">
      <dgm:prSet/>
      <dgm:spPr/>
      <dgm:t>
        <a:bodyPr/>
        <a:lstStyle/>
        <a:p>
          <a:r>
            <a:rPr lang="en-IN" i="0"/>
            <a:t>System Layers Overview</a:t>
          </a:r>
          <a:endParaRPr lang="en-IN"/>
        </a:p>
      </dgm:t>
    </dgm:pt>
    <dgm:pt modelId="{60A1CF6E-9DAE-4416-8916-95A04C87A162}" type="parTrans" cxnId="{C9B4F1BA-0A35-4913-A535-3085EB50E234}">
      <dgm:prSet/>
      <dgm:spPr/>
      <dgm:t>
        <a:bodyPr/>
        <a:lstStyle/>
        <a:p>
          <a:endParaRPr lang="en-IN"/>
        </a:p>
      </dgm:t>
    </dgm:pt>
    <dgm:pt modelId="{7D058E4D-FA0E-49AD-A196-99EF7985DE56}" type="sibTrans" cxnId="{C9B4F1BA-0A35-4913-A535-3085EB50E234}">
      <dgm:prSet/>
      <dgm:spPr/>
      <dgm:t>
        <a:bodyPr/>
        <a:lstStyle/>
        <a:p>
          <a:endParaRPr lang="en-IN"/>
        </a:p>
      </dgm:t>
    </dgm:pt>
    <dgm:pt modelId="{DB4B286C-972E-46A7-8247-10EE8CB7449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 dirty="0"/>
            <a:t>Kernel Layer</a:t>
          </a:r>
          <a:br>
            <a:rPr lang="en-IN" b="0" i="0" dirty="0"/>
          </a:br>
          <a:r>
            <a:rPr lang="en-IN" b="0" i="0" dirty="0"/>
            <a:t>Captures real-time PFN major‑fault data using </a:t>
          </a:r>
          <a:r>
            <a:rPr lang="en-IN" b="0" i="0" dirty="0" err="1"/>
            <a:t>Kprobes</a:t>
          </a:r>
          <a:r>
            <a:rPr lang="en-IN" b="0" i="0" dirty="0"/>
            <a:t>.</a:t>
          </a:r>
          <a:endParaRPr lang="en-IN" dirty="0"/>
        </a:p>
      </dgm:t>
    </dgm:pt>
    <dgm:pt modelId="{A0A3CCB3-A67D-4D9A-A668-B5A082D69877}" type="parTrans" cxnId="{D5F4ED45-BEA7-4482-850B-05FFCDD49E77}">
      <dgm:prSet/>
      <dgm:spPr/>
      <dgm:t>
        <a:bodyPr/>
        <a:lstStyle/>
        <a:p>
          <a:endParaRPr lang="en-IN"/>
        </a:p>
      </dgm:t>
    </dgm:pt>
    <dgm:pt modelId="{F1BE0FDF-F684-4CB0-97D4-19756DFF4AB8}" type="sibTrans" cxnId="{D5F4ED45-BEA7-4482-850B-05FFCDD49E77}">
      <dgm:prSet/>
      <dgm:spPr/>
      <dgm:t>
        <a:bodyPr/>
        <a:lstStyle/>
        <a:p>
          <a:endParaRPr lang="en-IN"/>
        </a:p>
      </dgm:t>
    </dgm:pt>
    <dgm:pt modelId="{C0605FB9-3907-46F9-AACA-47D464934AE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 dirty="0"/>
            <a:t>ML Processing Layer</a:t>
          </a:r>
          <a:br>
            <a:rPr lang="en-IN" b="0" i="0" dirty="0"/>
          </a:br>
          <a:r>
            <a:rPr lang="en-IN" b="0" i="0" dirty="0"/>
            <a:t>Preprocesses sequences, slices PFN into components, predicts future faults.</a:t>
          </a:r>
          <a:endParaRPr lang="en-IN" dirty="0"/>
        </a:p>
      </dgm:t>
    </dgm:pt>
    <dgm:pt modelId="{8DE947EC-FF39-4C9C-8C93-599E08A41732}" type="parTrans" cxnId="{6955786B-5C33-4BC1-8FFE-1E2B62C1DBAC}">
      <dgm:prSet/>
      <dgm:spPr/>
      <dgm:t>
        <a:bodyPr/>
        <a:lstStyle/>
        <a:p>
          <a:endParaRPr lang="en-IN"/>
        </a:p>
      </dgm:t>
    </dgm:pt>
    <dgm:pt modelId="{E0B0D60D-D029-49CF-AF20-5970E33923BB}" type="sibTrans" cxnId="{6955786B-5C33-4BC1-8FFE-1E2B62C1DBAC}">
      <dgm:prSet/>
      <dgm:spPr/>
      <dgm:t>
        <a:bodyPr/>
        <a:lstStyle/>
        <a:p>
          <a:endParaRPr lang="en-IN"/>
        </a:p>
      </dgm:t>
    </dgm:pt>
    <dgm:pt modelId="{80480D9E-5D73-4D05-B1C9-2D8864195B3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 dirty="0"/>
            <a:t>Decision Engine</a:t>
          </a:r>
          <a:br>
            <a:rPr lang="en-IN" b="0" i="0" dirty="0"/>
          </a:br>
          <a:r>
            <a:rPr lang="en-IN" b="0" i="0" dirty="0"/>
            <a:t>Combines OS logic + ML prediction to validate or override victim selection.</a:t>
          </a:r>
          <a:endParaRPr lang="en-IN" dirty="0"/>
        </a:p>
      </dgm:t>
    </dgm:pt>
    <dgm:pt modelId="{381A389B-97C3-42EC-B8B2-30894FF9D47D}" type="parTrans" cxnId="{DED440F9-C3C8-4A5D-8CF8-7F1EDC9C5C14}">
      <dgm:prSet/>
      <dgm:spPr/>
      <dgm:t>
        <a:bodyPr/>
        <a:lstStyle/>
        <a:p>
          <a:endParaRPr lang="en-IN"/>
        </a:p>
      </dgm:t>
    </dgm:pt>
    <dgm:pt modelId="{C97F7F82-7DF7-408A-B287-3D937CFB9D9B}" type="sibTrans" cxnId="{DED440F9-C3C8-4A5D-8CF8-7F1EDC9C5C14}">
      <dgm:prSet/>
      <dgm:spPr/>
      <dgm:t>
        <a:bodyPr/>
        <a:lstStyle/>
        <a:p>
          <a:endParaRPr lang="en-IN"/>
        </a:p>
      </dgm:t>
    </dgm:pt>
    <dgm:pt modelId="{446C9312-EB20-422B-9435-5548486D79F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 dirty="0"/>
            <a:t>User Interface Layer</a:t>
          </a:r>
          <a:br>
            <a:rPr lang="en-IN" b="0" i="0" dirty="0"/>
          </a:br>
          <a:r>
            <a:rPr lang="en-IN" b="0" i="0" dirty="0"/>
            <a:t>Python‑based dashboard for data visualization &amp; model monitoring.</a:t>
          </a:r>
          <a:endParaRPr lang="en-IN" dirty="0"/>
        </a:p>
      </dgm:t>
    </dgm:pt>
    <dgm:pt modelId="{652C9BE1-812A-4508-A505-D6F822ADDA48}" type="parTrans" cxnId="{20926EB9-E74B-4533-A742-DC73C64A99DF}">
      <dgm:prSet/>
      <dgm:spPr/>
      <dgm:t>
        <a:bodyPr/>
        <a:lstStyle/>
        <a:p>
          <a:endParaRPr lang="en-IN"/>
        </a:p>
      </dgm:t>
    </dgm:pt>
    <dgm:pt modelId="{A097354A-1BD8-4409-A3B4-15EF45344D69}" type="sibTrans" cxnId="{20926EB9-E74B-4533-A742-DC73C64A99DF}">
      <dgm:prSet/>
      <dgm:spPr/>
      <dgm:t>
        <a:bodyPr/>
        <a:lstStyle/>
        <a:p>
          <a:endParaRPr lang="en-IN"/>
        </a:p>
      </dgm:t>
    </dgm:pt>
    <dgm:pt modelId="{CCC403E7-3225-407A-9956-1E6691C80CEE}" type="pres">
      <dgm:prSet presAssocID="{30291542-0762-48CF-969D-494FC49D034E}" presName="Name0" presStyleCnt="0">
        <dgm:presLayoutVars>
          <dgm:dir/>
          <dgm:animLvl val="lvl"/>
          <dgm:resizeHandles val="exact"/>
        </dgm:presLayoutVars>
      </dgm:prSet>
      <dgm:spPr/>
    </dgm:pt>
    <dgm:pt modelId="{1EC2A6E2-78F9-4EC8-9808-0689C1285807}" type="pres">
      <dgm:prSet presAssocID="{63A840D9-9187-4932-97ED-478619614778}" presName="composite" presStyleCnt="0"/>
      <dgm:spPr/>
    </dgm:pt>
    <dgm:pt modelId="{9FFD3E3D-EA06-41AF-A858-27FD63738FA1}" type="pres">
      <dgm:prSet presAssocID="{63A840D9-9187-4932-97ED-478619614778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DA0B74E0-1356-4E61-9899-5A5C54553CDE}" type="pres">
      <dgm:prSet presAssocID="{63A840D9-9187-4932-97ED-478619614778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641B381A-E534-42DE-BEE1-DE30F1A3E6F6}" type="presOf" srcId="{63A840D9-9187-4932-97ED-478619614778}" destId="{9FFD3E3D-EA06-41AF-A858-27FD63738FA1}" srcOrd="0" destOrd="0" presId="urn:microsoft.com/office/officeart/2005/8/layout/hList1"/>
    <dgm:cxn modelId="{9CA8952F-3E0C-424B-8B9D-9B9D0D622863}" type="presOf" srcId="{446C9312-EB20-422B-9435-5548486D79FD}" destId="{DA0B74E0-1356-4E61-9899-5A5C54553CDE}" srcOrd="0" destOrd="3" presId="urn:microsoft.com/office/officeart/2005/8/layout/hList1"/>
    <dgm:cxn modelId="{D5F4ED45-BEA7-4482-850B-05FFCDD49E77}" srcId="{63A840D9-9187-4932-97ED-478619614778}" destId="{DB4B286C-972E-46A7-8247-10EE8CB7449E}" srcOrd="0" destOrd="0" parTransId="{A0A3CCB3-A67D-4D9A-A668-B5A082D69877}" sibTransId="{F1BE0FDF-F684-4CB0-97D4-19756DFF4AB8}"/>
    <dgm:cxn modelId="{6955786B-5C33-4BC1-8FFE-1E2B62C1DBAC}" srcId="{63A840D9-9187-4932-97ED-478619614778}" destId="{C0605FB9-3907-46F9-AACA-47D464934AEB}" srcOrd="1" destOrd="0" parTransId="{8DE947EC-FF39-4C9C-8C93-599E08A41732}" sibTransId="{E0B0D60D-D029-49CF-AF20-5970E33923BB}"/>
    <dgm:cxn modelId="{2D0DF06E-C4A4-4C0F-863D-40E499F628A2}" type="presOf" srcId="{80480D9E-5D73-4D05-B1C9-2D8864195B3B}" destId="{DA0B74E0-1356-4E61-9899-5A5C54553CDE}" srcOrd="0" destOrd="2" presId="urn:microsoft.com/office/officeart/2005/8/layout/hList1"/>
    <dgm:cxn modelId="{9E91DF7B-148B-47B7-B004-00F23CE6B379}" type="presOf" srcId="{DB4B286C-972E-46A7-8247-10EE8CB7449E}" destId="{DA0B74E0-1356-4E61-9899-5A5C54553CDE}" srcOrd="0" destOrd="0" presId="urn:microsoft.com/office/officeart/2005/8/layout/hList1"/>
    <dgm:cxn modelId="{72D934B4-0BF4-4B9E-9B57-6F4E43E580BA}" type="presOf" srcId="{30291542-0762-48CF-969D-494FC49D034E}" destId="{CCC403E7-3225-407A-9956-1E6691C80CEE}" srcOrd="0" destOrd="0" presId="urn:microsoft.com/office/officeart/2005/8/layout/hList1"/>
    <dgm:cxn modelId="{20926EB9-E74B-4533-A742-DC73C64A99DF}" srcId="{63A840D9-9187-4932-97ED-478619614778}" destId="{446C9312-EB20-422B-9435-5548486D79FD}" srcOrd="3" destOrd="0" parTransId="{652C9BE1-812A-4508-A505-D6F822ADDA48}" sibTransId="{A097354A-1BD8-4409-A3B4-15EF45344D69}"/>
    <dgm:cxn modelId="{C9B4F1BA-0A35-4913-A535-3085EB50E234}" srcId="{30291542-0762-48CF-969D-494FC49D034E}" destId="{63A840D9-9187-4932-97ED-478619614778}" srcOrd="0" destOrd="0" parTransId="{60A1CF6E-9DAE-4416-8916-95A04C87A162}" sibTransId="{7D058E4D-FA0E-49AD-A196-99EF7985DE56}"/>
    <dgm:cxn modelId="{5EC7FABC-6234-487D-84AD-7D3E1A5548FD}" type="presOf" srcId="{C0605FB9-3907-46F9-AACA-47D464934AEB}" destId="{DA0B74E0-1356-4E61-9899-5A5C54553CDE}" srcOrd="0" destOrd="1" presId="urn:microsoft.com/office/officeart/2005/8/layout/hList1"/>
    <dgm:cxn modelId="{DED440F9-C3C8-4A5D-8CF8-7F1EDC9C5C14}" srcId="{63A840D9-9187-4932-97ED-478619614778}" destId="{80480D9E-5D73-4D05-B1C9-2D8864195B3B}" srcOrd="2" destOrd="0" parTransId="{381A389B-97C3-42EC-B8B2-30894FF9D47D}" sibTransId="{C97F7F82-7DF7-408A-B287-3D937CFB9D9B}"/>
    <dgm:cxn modelId="{EB5D4EBC-FBAF-4F0D-91CB-CB498F23A672}" type="presParOf" srcId="{CCC403E7-3225-407A-9956-1E6691C80CEE}" destId="{1EC2A6E2-78F9-4EC8-9808-0689C1285807}" srcOrd="0" destOrd="0" presId="urn:microsoft.com/office/officeart/2005/8/layout/hList1"/>
    <dgm:cxn modelId="{AB3DB48C-CFC2-493F-A876-88F3E74CBCE2}" type="presParOf" srcId="{1EC2A6E2-78F9-4EC8-9808-0689C1285807}" destId="{9FFD3E3D-EA06-41AF-A858-27FD63738FA1}" srcOrd="0" destOrd="0" presId="urn:microsoft.com/office/officeart/2005/8/layout/hList1"/>
    <dgm:cxn modelId="{AB5DA0CB-9CB5-4F29-9F28-7B8809302445}" type="presParOf" srcId="{1EC2A6E2-78F9-4EC8-9808-0689C1285807}" destId="{DA0B74E0-1356-4E61-9899-5A5C54553CD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9237F7-7EFD-40AB-9DCC-DACD3A55CD74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E406AEB-DA42-4BF3-873E-4D4E2CBBE19E}">
      <dgm:prSet/>
      <dgm:spPr/>
      <dgm:t>
        <a:bodyPr/>
        <a:lstStyle/>
        <a:p>
          <a:r>
            <a:rPr lang="en-IN" dirty="0"/>
            <a:t>Kernel Instrumentation (</a:t>
          </a:r>
          <a:r>
            <a:rPr lang="en-IN" dirty="0" err="1"/>
            <a:t>Kprobes</a:t>
          </a:r>
          <a:r>
            <a:rPr lang="en-IN" dirty="0"/>
            <a:t>)</a:t>
          </a:r>
        </a:p>
      </dgm:t>
    </dgm:pt>
    <dgm:pt modelId="{B304BCE1-20A4-4036-A3F3-6E2437F25BB5}" type="parTrans" cxnId="{8E4B2FAB-17CD-41D7-9B59-90CE0ECDA94E}">
      <dgm:prSet/>
      <dgm:spPr/>
      <dgm:t>
        <a:bodyPr/>
        <a:lstStyle/>
        <a:p>
          <a:endParaRPr lang="en-IN"/>
        </a:p>
      </dgm:t>
    </dgm:pt>
    <dgm:pt modelId="{61A849D0-1444-4A5C-AE64-77487071B60C}" type="sibTrans" cxnId="{8E4B2FAB-17CD-41D7-9B59-90CE0ECDA94E}">
      <dgm:prSet/>
      <dgm:spPr/>
      <dgm:t>
        <a:bodyPr/>
        <a:lstStyle/>
        <a:p>
          <a:endParaRPr lang="en-IN"/>
        </a:p>
      </dgm:t>
    </dgm:pt>
    <dgm:pt modelId="{840CD0F0-44BB-40D5-948D-1D1DE24208D4}">
      <dgm:prSet/>
      <dgm:spPr/>
      <dgm:t>
        <a:bodyPr/>
        <a:lstStyle/>
        <a:p>
          <a:pPr>
            <a:lnSpc>
              <a:spcPct val="150000"/>
            </a:lnSpc>
          </a:pPr>
          <a:r>
            <a:rPr lang="en-IN" b="1" i="0" dirty="0" err="1"/>
            <a:t>do_swap_page</a:t>
          </a:r>
          <a:r>
            <a:rPr lang="en-IN" b="1" i="0" dirty="0"/>
            <a:t> → </a:t>
          </a:r>
          <a:r>
            <a:rPr lang="en-IN" b="1" i="0" dirty="0" err="1"/>
            <a:t>pre_handler</a:t>
          </a:r>
          <a:br>
            <a:rPr lang="en-IN" b="0" i="0" dirty="0"/>
          </a:br>
          <a:r>
            <a:rPr lang="en-IN" b="0" i="0" dirty="0"/>
            <a:t>Captures incoming major‑fault context.</a:t>
          </a:r>
          <a:endParaRPr lang="en-IN" dirty="0"/>
        </a:p>
      </dgm:t>
    </dgm:pt>
    <dgm:pt modelId="{CADD67B7-6091-4C80-B457-B5F383AA24DE}" type="parTrans" cxnId="{CC3198C3-13D5-4E04-8E66-B8528CC78733}">
      <dgm:prSet/>
      <dgm:spPr/>
      <dgm:t>
        <a:bodyPr/>
        <a:lstStyle/>
        <a:p>
          <a:endParaRPr lang="en-IN"/>
        </a:p>
      </dgm:t>
    </dgm:pt>
    <dgm:pt modelId="{49151FBF-1C84-4591-9AAA-2F470F2935F4}" type="sibTrans" cxnId="{CC3198C3-13D5-4E04-8E66-B8528CC78733}">
      <dgm:prSet/>
      <dgm:spPr/>
      <dgm:t>
        <a:bodyPr/>
        <a:lstStyle/>
        <a:p>
          <a:endParaRPr lang="en-IN"/>
        </a:p>
      </dgm:t>
    </dgm:pt>
    <dgm:pt modelId="{9C9AEB98-34D2-4B7E-97D0-BD433CA59567}">
      <dgm:prSet/>
      <dgm:spPr/>
      <dgm:t>
        <a:bodyPr/>
        <a:lstStyle/>
        <a:p>
          <a:pPr>
            <a:lnSpc>
              <a:spcPct val="150000"/>
            </a:lnSpc>
          </a:pPr>
          <a:r>
            <a:rPr lang="en-IN" b="1" i="0" dirty="0" err="1"/>
            <a:t>finish_fault</a:t>
          </a:r>
          <a:r>
            <a:rPr lang="en-IN" b="1" i="0" dirty="0"/>
            <a:t> → </a:t>
          </a:r>
          <a:r>
            <a:rPr lang="en-IN" b="1" i="0" dirty="0" err="1"/>
            <a:t>post_handler</a:t>
          </a:r>
          <a:br>
            <a:rPr lang="en-IN" b="0" i="0" dirty="0"/>
          </a:br>
          <a:r>
            <a:rPr lang="en-IN" b="0" i="0" dirty="0"/>
            <a:t>Extracts PFN, latency, folio index &amp; mapping.</a:t>
          </a:r>
          <a:endParaRPr lang="en-IN" dirty="0"/>
        </a:p>
      </dgm:t>
    </dgm:pt>
    <dgm:pt modelId="{1F0A8A1A-3F36-49F6-B8CA-6B4EBA6008ED}" type="parTrans" cxnId="{580E45ED-7F7F-403F-9092-F5B7260769BE}">
      <dgm:prSet/>
      <dgm:spPr/>
      <dgm:t>
        <a:bodyPr/>
        <a:lstStyle/>
        <a:p>
          <a:endParaRPr lang="en-IN"/>
        </a:p>
      </dgm:t>
    </dgm:pt>
    <dgm:pt modelId="{B9868DE0-D86C-425E-AC16-ABF87589D626}" type="sibTrans" cxnId="{580E45ED-7F7F-403F-9092-F5B7260769BE}">
      <dgm:prSet/>
      <dgm:spPr/>
      <dgm:t>
        <a:bodyPr/>
        <a:lstStyle/>
        <a:p>
          <a:endParaRPr lang="en-IN"/>
        </a:p>
      </dgm:t>
    </dgm:pt>
    <dgm:pt modelId="{BF8BCD59-48F0-49D6-93D5-36ECBD7DD130}">
      <dgm:prSet/>
      <dgm:spPr/>
      <dgm:t>
        <a:bodyPr/>
        <a:lstStyle/>
        <a:p>
          <a:pPr>
            <a:lnSpc>
              <a:spcPct val="150000"/>
            </a:lnSpc>
          </a:pPr>
          <a:r>
            <a:rPr lang="en-IN" b="1" i="0" dirty="0" err="1"/>
            <a:t>shrink_folio_list</a:t>
          </a:r>
          <a:br>
            <a:rPr lang="en-IN" b="0" i="0" dirty="0"/>
          </a:br>
          <a:r>
            <a:rPr lang="en-IN" b="0" i="0" dirty="0"/>
            <a:t>Observes victim‑selection pipeline.</a:t>
          </a:r>
          <a:endParaRPr lang="en-IN" dirty="0"/>
        </a:p>
      </dgm:t>
    </dgm:pt>
    <dgm:pt modelId="{B35D9106-5D6C-476D-B236-CD014DEBA0C3}" type="parTrans" cxnId="{B19B34D1-7CD9-4CF3-8BBA-734A7EE9AD9A}">
      <dgm:prSet/>
      <dgm:spPr/>
      <dgm:t>
        <a:bodyPr/>
        <a:lstStyle/>
        <a:p>
          <a:endParaRPr lang="en-IN"/>
        </a:p>
      </dgm:t>
    </dgm:pt>
    <dgm:pt modelId="{BE1C0F0A-D3F6-44BC-927A-63BCDED9A75C}" type="sibTrans" cxnId="{B19B34D1-7CD9-4CF3-8BBA-734A7EE9AD9A}">
      <dgm:prSet/>
      <dgm:spPr/>
      <dgm:t>
        <a:bodyPr/>
        <a:lstStyle/>
        <a:p>
          <a:endParaRPr lang="en-IN"/>
        </a:p>
      </dgm:t>
    </dgm:pt>
    <dgm:pt modelId="{3DECE37B-1761-4AC6-997C-857841FE0F9A}" type="pres">
      <dgm:prSet presAssocID="{169237F7-7EFD-40AB-9DCC-DACD3A55CD74}" presName="Name0" presStyleCnt="0">
        <dgm:presLayoutVars>
          <dgm:dir/>
          <dgm:animLvl val="lvl"/>
          <dgm:resizeHandles val="exact"/>
        </dgm:presLayoutVars>
      </dgm:prSet>
      <dgm:spPr/>
    </dgm:pt>
    <dgm:pt modelId="{2236ACBC-74C6-4170-BFD6-51C8AED96F73}" type="pres">
      <dgm:prSet presAssocID="{AE406AEB-DA42-4BF3-873E-4D4E2CBBE19E}" presName="composite" presStyleCnt="0"/>
      <dgm:spPr/>
    </dgm:pt>
    <dgm:pt modelId="{E57F304F-BBB1-4377-A5F1-6C6AC8271161}" type="pres">
      <dgm:prSet presAssocID="{AE406AEB-DA42-4BF3-873E-4D4E2CBBE19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FA82CB87-9EE5-4995-8BB7-9B3C9EC9290F}" type="pres">
      <dgm:prSet presAssocID="{AE406AEB-DA42-4BF3-873E-4D4E2CBBE19E}" presName="desTx" presStyleLbl="alignAccFollowNode1" presStyleIdx="0" presStyleCnt="1" custScaleY="111864" custLinFactNeighborY="8286">
        <dgm:presLayoutVars>
          <dgm:bulletEnabled val="1"/>
        </dgm:presLayoutVars>
      </dgm:prSet>
      <dgm:spPr/>
    </dgm:pt>
  </dgm:ptLst>
  <dgm:cxnLst>
    <dgm:cxn modelId="{C5178F57-AEF5-4DEA-95AB-509BE72F3CB2}" type="presOf" srcId="{169237F7-7EFD-40AB-9DCC-DACD3A55CD74}" destId="{3DECE37B-1761-4AC6-997C-857841FE0F9A}" srcOrd="0" destOrd="0" presId="urn:microsoft.com/office/officeart/2005/8/layout/hList1"/>
    <dgm:cxn modelId="{0FD717AB-4CE2-47F4-8C78-7ED4F73EDA6C}" type="presOf" srcId="{BF8BCD59-48F0-49D6-93D5-36ECBD7DD130}" destId="{FA82CB87-9EE5-4995-8BB7-9B3C9EC9290F}" srcOrd="0" destOrd="2" presId="urn:microsoft.com/office/officeart/2005/8/layout/hList1"/>
    <dgm:cxn modelId="{8E4B2FAB-17CD-41D7-9B59-90CE0ECDA94E}" srcId="{169237F7-7EFD-40AB-9DCC-DACD3A55CD74}" destId="{AE406AEB-DA42-4BF3-873E-4D4E2CBBE19E}" srcOrd="0" destOrd="0" parTransId="{B304BCE1-20A4-4036-A3F3-6E2437F25BB5}" sibTransId="{61A849D0-1444-4A5C-AE64-77487071B60C}"/>
    <dgm:cxn modelId="{CC3198C3-13D5-4E04-8E66-B8528CC78733}" srcId="{AE406AEB-DA42-4BF3-873E-4D4E2CBBE19E}" destId="{840CD0F0-44BB-40D5-948D-1D1DE24208D4}" srcOrd="0" destOrd="0" parTransId="{CADD67B7-6091-4C80-B457-B5F383AA24DE}" sibTransId="{49151FBF-1C84-4591-9AAA-2F470F2935F4}"/>
    <dgm:cxn modelId="{25A673CF-85D9-474E-BEED-E1E7070AC9C0}" type="presOf" srcId="{9C9AEB98-34D2-4B7E-97D0-BD433CA59567}" destId="{FA82CB87-9EE5-4995-8BB7-9B3C9EC9290F}" srcOrd="0" destOrd="1" presId="urn:microsoft.com/office/officeart/2005/8/layout/hList1"/>
    <dgm:cxn modelId="{B19B34D1-7CD9-4CF3-8BBA-734A7EE9AD9A}" srcId="{AE406AEB-DA42-4BF3-873E-4D4E2CBBE19E}" destId="{BF8BCD59-48F0-49D6-93D5-36ECBD7DD130}" srcOrd="2" destOrd="0" parTransId="{B35D9106-5D6C-476D-B236-CD014DEBA0C3}" sibTransId="{BE1C0F0A-D3F6-44BC-927A-63BCDED9A75C}"/>
    <dgm:cxn modelId="{F8AC9BD3-DE58-43CE-86F5-AAC5F80334A0}" type="presOf" srcId="{AE406AEB-DA42-4BF3-873E-4D4E2CBBE19E}" destId="{E57F304F-BBB1-4377-A5F1-6C6AC8271161}" srcOrd="0" destOrd="0" presId="urn:microsoft.com/office/officeart/2005/8/layout/hList1"/>
    <dgm:cxn modelId="{D2F695E2-A5FD-4FC7-9397-380BFD182782}" type="presOf" srcId="{840CD0F0-44BB-40D5-948D-1D1DE24208D4}" destId="{FA82CB87-9EE5-4995-8BB7-9B3C9EC9290F}" srcOrd="0" destOrd="0" presId="urn:microsoft.com/office/officeart/2005/8/layout/hList1"/>
    <dgm:cxn modelId="{580E45ED-7F7F-403F-9092-F5B7260769BE}" srcId="{AE406AEB-DA42-4BF3-873E-4D4E2CBBE19E}" destId="{9C9AEB98-34D2-4B7E-97D0-BD433CA59567}" srcOrd="1" destOrd="0" parTransId="{1F0A8A1A-3F36-49F6-B8CA-6B4EBA6008ED}" sibTransId="{B9868DE0-D86C-425E-AC16-ABF87589D626}"/>
    <dgm:cxn modelId="{FFA3B93F-8122-4654-AED7-6D9F96D8FE14}" type="presParOf" srcId="{3DECE37B-1761-4AC6-997C-857841FE0F9A}" destId="{2236ACBC-74C6-4170-BFD6-51C8AED96F73}" srcOrd="0" destOrd="0" presId="urn:microsoft.com/office/officeart/2005/8/layout/hList1"/>
    <dgm:cxn modelId="{E489301B-0E37-4251-8334-AF4703DB1EC1}" type="presParOf" srcId="{2236ACBC-74C6-4170-BFD6-51C8AED96F73}" destId="{E57F304F-BBB1-4377-A5F1-6C6AC8271161}" srcOrd="0" destOrd="0" presId="urn:microsoft.com/office/officeart/2005/8/layout/hList1"/>
    <dgm:cxn modelId="{9B24C02B-FB6A-4DB0-979F-E24DAB1855E0}" type="presParOf" srcId="{2236ACBC-74C6-4170-BFD6-51C8AED96F73}" destId="{FA82CB87-9EE5-4995-8BB7-9B3C9EC9290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81A318-0253-4D08-BDB1-BB992294BA4E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4DC3B9-EBF0-44F6-986D-23C2F95108B6}">
      <dgm:prSet/>
      <dgm:spPr/>
      <dgm:t>
        <a:bodyPr/>
        <a:lstStyle/>
        <a:p>
          <a:r>
            <a:rPr lang="en-IN" i="0" dirty="0"/>
            <a:t>AI Prediction Pipeline</a:t>
          </a:r>
          <a:endParaRPr lang="en-IN" dirty="0"/>
        </a:p>
      </dgm:t>
    </dgm:pt>
    <dgm:pt modelId="{5C0B85AA-8123-43F1-B663-E92CFD4F64A7}" type="parTrans" cxnId="{FC0D507B-4C22-43E1-A02E-10E8DDC39771}">
      <dgm:prSet/>
      <dgm:spPr/>
      <dgm:t>
        <a:bodyPr/>
        <a:lstStyle/>
        <a:p>
          <a:endParaRPr lang="en-IN"/>
        </a:p>
      </dgm:t>
    </dgm:pt>
    <dgm:pt modelId="{3E0E206C-E0F6-4BEC-BCC8-F267BA2F63AF}" type="sibTrans" cxnId="{FC0D507B-4C22-43E1-A02E-10E8DDC39771}">
      <dgm:prSet/>
      <dgm:spPr/>
      <dgm:t>
        <a:bodyPr/>
        <a:lstStyle/>
        <a:p>
          <a:endParaRPr lang="en-IN"/>
        </a:p>
      </dgm:t>
    </dgm:pt>
    <dgm:pt modelId="{08EEF914-4F06-4457-A699-4AE8BE419C4E}">
      <dgm:prSet/>
      <dgm:spPr/>
      <dgm:t>
        <a:bodyPr/>
        <a:lstStyle/>
        <a:p>
          <a:r>
            <a:rPr lang="en-IN" b="1" i="0" dirty="0"/>
            <a:t>Data Encoded:</a:t>
          </a:r>
          <a:br>
            <a:rPr lang="en-IN" b="0" i="0" dirty="0"/>
          </a:br>
          <a:r>
            <a:rPr lang="en-IN" b="0" i="0" dirty="0"/>
            <a:t>PID, mapping, folio index, latency cluster, PFN slices.</a:t>
          </a:r>
          <a:endParaRPr lang="en-IN" dirty="0"/>
        </a:p>
      </dgm:t>
    </dgm:pt>
    <dgm:pt modelId="{F2E1D750-9845-497C-8D94-35A1C528CC63}" type="parTrans" cxnId="{968F2618-6F34-49E4-87BE-2C49C661DA8E}">
      <dgm:prSet/>
      <dgm:spPr/>
      <dgm:t>
        <a:bodyPr/>
        <a:lstStyle/>
        <a:p>
          <a:endParaRPr lang="en-IN"/>
        </a:p>
      </dgm:t>
    </dgm:pt>
    <dgm:pt modelId="{53A2FC26-74F4-4A79-908D-9472D89278B2}" type="sibTrans" cxnId="{968F2618-6F34-49E4-87BE-2C49C661DA8E}">
      <dgm:prSet/>
      <dgm:spPr/>
      <dgm:t>
        <a:bodyPr/>
        <a:lstStyle/>
        <a:p>
          <a:endParaRPr lang="en-IN"/>
        </a:p>
      </dgm:t>
    </dgm:pt>
    <dgm:pt modelId="{DA3D8222-9F0F-461D-A62E-1FBC1BE13DD1}">
      <dgm:prSet/>
      <dgm:spPr/>
      <dgm:t>
        <a:bodyPr/>
        <a:lstStyle/>
        <a:p>
          <a:r>
            <a:rPr lang="en-IN" b="1" i="0" dirty="0"/>
            <a:t>Sequence Window:</a:t>
          </a:r>
          <a:br>
            <a:rPr lang="en-IN" b="0" i="0" dirty="0"/>
          </a:br>
          <a:r>
            <a:rPr lang="en-IN" b="0" i="0" dirty="0"/>
            <a:t>Fixed‑length sequence (30 steps).</a:t>
          </a:r>
          <a:endParaRPr lang="en-IN" dirty="0"/>
        </a:p>
      </dgm:t>
    </dgm:pt>
    <dgm:pt modelId="{D31784F5-8809-4D4E-BBA9-F5B0B2420214}" type="parTrans" cxnId="{1444199F-474C-473D-ADA4-FB6BDFED8FC1}">
      <dgm:prSet/>
      <dgm:spPr/>
      <dgm:t>
        <a:bodyPr/>
        <a:lstStyle/>
        <a:p>
          <a:endParaRPr lang="en-IN"/>
        </a:p>
      </dgm:t>
    </dgm:pt>
    <dgm:pt modelId="{BCD084A8-2906-47E0-A9E2-F75D63A03EBA}" type="sibTrans" cxnId="{1444199F-474C-473D-ADA4-FB6BDFED8FC1}">
      <dgm:prSet/>
      <dgm:spPr/>
      <dgm:t>
        <a:bodyPr/>
        <a:lstStyle/>
        <a:p>
          <a:endParaRPr lang="en-IN"/>
        </a:p>
      </dgm:t>
    </dgm:pt>
    <dgm:pt modelId="{B6954AB0-C60C-4F76-AE37-56A39520DF31}">
      <dgm:prSet/>
      <dgm:spPr/>
      <dgm:t>
        <a:bodyPr/>
        <a:lstStyle/>
        <a:p>
          <a:r>
            <a:rPr lang="en-IN" b="1" i="0" dirty="0"/>
            <a:t>Model Engine:</a:t>
          </a:r>
          <a:br>
            <a:rPr lang="en-IN" b="0" i="0" dirty="0"/>
          </a:br>
          <a:r>
            <a:rPr lang="en-IN" b="0" i="0" dirty="0"/>
            <a:t>GRU‑based hybrid multi‑head classifier (Model‑v3).</a:t>
          </a:r>
          <a:endParaRPr lang="en-IN" dirty="0"/>
        </a:p>
      </dgm:t>
    </dgm:pt>
    <dgm:pt modelId="{7219C12F-92F7-4265-A3FC-2DAF96763A48}" type="parTrans" cxnId="{621F8EF8-C36F-40E2-88B3-5C2EB9891CBA}">
      <dgm:prSet/>
      <dgm:spPr/>
      <dgm:t>
        <a:bodyPr/>
        <a:lstStyle/>
        <a:p>
          <a:endParaRPr lang="en-IN"/>
        </a:p>
      </dgm:t>
    </dgm:pt>
    <dgm:pt modelId="{47C4B094-8301-4A58-B7E7-B3DCDDF608A0}" type="sibTrans" cxnId="{621F8EF8-C36F-40E2-88B3-5C2EB9891CBA}">
      <dgm:prSet/>
      <dgm:spPr/>
      <dgm:t>
        <a:bodyPr/>
        <a:lstStyle/>
        <a:p>
          <a:endParaRPr lang="en-IN"/>
        </a:p>
      </dgm:t>
    </dgm:pt>
    <dgm:pt modelId="{FA257B3A-7824-4C62-9DCF-5F5B9355148E}">
      <dgm:prSet/>
      <dgm:spPr/>
      <dgm:t>
        <a:bodyPr/>
        <a:lstStyle/>
        <a:p>
          <a:r>
            <a:rPr lang="en-IN" b="1" i="0" dirty="0"/>
            <a:t>Output:</a:t>
          </a:r>
          <a:br>
            <a:rPr lang="en-IN" b="0" i="0" dirty="0"/>
          </a:br>
          <a:r>
            <a:rPr lang="en-IN" b="0" i="0" dirty="0"/>
            <a:t>Predicted next set of PFN slices (6 values).</a:t>
          </a:r>
          <a:endParaRPr lang="en-IN" dirty="0"/>
        </a:p>
      </dgm:t>
    </dgm:pt>
    <dgm:pt modelId="{B2744EAD-FCCE-480C-BC84-267099C12DFA}" type="parTrans" cxnId="{3C32577F-9434-4E16-A876-6C770259D581}">
      <dgm:prSet/>
      <dgm:spPr/>
      <dgm:t>
        <a:bodyPr/>
        <a:lstStyle/>
        <a:p>
          <a:endParaRPr lang="en-IN"/>
        </a:p>
      </dgm:t>
    </dgm:pt>
    <dgm:pt modelId="{01F5AC9C-67F0-4B1A-BE46-3772AA7EF949}" type="sibTrans" cxnId="{3C32577F-9434-4E16-A876-6C770259D581}">
      <dgm:prSet/>
      <dgm:spPr/>
      <dgm:t>
        <a:bodyPr/>
        <a:lstStyle/>
        <a:p>
          <a:endParaRPr lang="en-IN"/>
        </a:p>
      </dgm:t>
    </dgm:pt>
    <dgm:pt modelId="{63307EDE-7746-4CEE-BE8F-25A70BE0E838}" type="pres">
      <dgm:prSet presAssocID="{4A81A318-0253-4D08-BDB1-BB992294BA4E}" presName="Name0" presStyleCnt="0">
        <dgm:presLayoutVars>
          <dgm:dir/>
          <dgm:animLvl val="lvl"/>
          <dgm:resizeHandles val="exact"/>
        </dgm:presLayoutVars>
      </dgm:prSet>
      <dgm:spPr/>
    </dgm:pt>
    <dgm:pt modelId="{D4941209-5FCE-48FC-8505-F13DF99ED364}" type="pres">
      <dgm:prSet presAssocID="{764DC3B9-EBF0-44F6-986D-23C2F95108B6}" presName="composite" presStyleCnt="0"/>
      <dgm:spPr/>
    </dgm:pt>
    <dgm:pt modelId="{6F785A19-0135-4092-9522-873DE7B5CBE1}" type="pres">
      <dgm:prSet presAssocID="{764DC3B9-EBF0-44F6-986D-23C2F95108B6}" presName="parTx" presStyleLbl="alignNode1" presStyleIdx="0" presStyleCnt="1" custScaleY="93043" custLinFactNeighborX="800" custLinFactNeighborY="17070">
        <dgm:presLayoutVars>
          <dgm:chMax val="0"/>
          <dgm:chPref val="0"/>
          <dgm:bulletEnabled val="1"/>
        </dgm:presLayoutVars>
      </dgm:prSet>
      <dgm:spPr/>
    </dgm:pt>
    <dgm:pt modelId="{757BEDCD-28CA-4D90-B346-2488B797A3CD}" type="pres">
      <dgm:prSet presAssocID="{764DC3B9-EBF0-44F6-986D-23C2F95108B6}" presName="desTx" presStyleLbl="alignAccFollowNode1" presStyleIdx="0" presStyleCnt="1" custScaleY="95960" custLinFactNeighborY="835">
        <dgm:presLayoutVars>
          <dgm:bulletEnabled val="1"/>
        </dgm:presLayoutVars>
      </dgm:prSet>
      <dgm:spPr/>
    </dgm:pt>
  </dgm:ptLst>
  <dgm:cxnLst>
    <dgm:cxn modelId="{968F2618-6F34-49E4-87BE-2C49C661DA8E}" srcId="{764DC3B9-EBF0-44F6-986D-23C2F95108B6}" destId="{08EEF914-4F06-4457-A699-4AE8BE419C4E}" srcOrd="0" destOrd="0" parTransId="{F2E1D750-9845-497C-8D94-35A1C528CC63}" sibTransId="{53A2FC26-74F4-4A79-908D-9472D89278B2}"/>
    <dgm:cxn modelId="{545B331F-0FA9-4051-A366-2ECB991FE2E0}" type="presOf" srcId="{DA3D8222-9F0F-461D-A62E-1FBC1BE13DD1}" destId="{757BEDCD-28CA-4D90-B346-2488B797A3CD}" srcOrd="0" destOrd="1" presId="urn:microsoft.com/office/officeart/2005/8/layout/hList1"/>
    <dgm:cxn modelId="{85247C29-AD9C-4DC4-BC46-C6DD9887DAE9}" type="presOf" srcId="{B6954AB0-C60C-4F76-AE37-56A39520DF31}" destId="{757BEDCD-28CA-4D90-B346-2488B797A3CD}" srcOrd="0" destOrd="2" presId="urn:microsoft.com/office/officeart/2005/8/layout/hList1"/>
    <dgm:cxn modelId="{D076BB29-9EB8-4D4C-A7E9-6303BB7DABEA}" type="presOf" srcId="{764DC3B9-EBF0-44F6-986D-23C2F95108B6}" destId="{6F785A19-0135-4092-9522-873DE7B5CBE1}" srcOrd="0" destOrd="0" presId="urn:microsoft.com/office/officeart/2005/8/layout/hList1"/>
    <dgm:cxn modelId="{060F5D3F-CC60-4DC9-BEE4-0DC6ED1E795C}" type="presOf" srcId="{FA257B3A-7824-4C62-9DCF-5F5B9355148E}" destId="{757BEDCD-28CA-4D90-B346-2488B797A3CD}" srcOrd="0" destOrd="3" presId="urn:microsoft.com/office/officeart/2005/8/layout/hList1"/>
    <dgm:cxn modelId="{053E7149-77E3-498B-BD47-394DD793243A}" type="presOf" srcId="{08EEF914-4F06-4457-A699-4AE8BE419C4E}" destId="{757BEDCD-28CA-4D90-B346-2488B797A3CD}" srcOrd="0" destOrd="0" presId="urn:microsoft.com/office/officeart/2005/8/layout/hList1"/>
    <dgm:cxn modelId="{FC0D507B-4C22-43E1-A02E-10E8DDC39771}" srcId="{4A81A318-0253-4D08-BDB1-BB992294BA4E}" destId="{764DC3B9-EBF0-44F6-986D-23C2F95108B6}" srcOrd="0" destOrd="0" parTransId="{5C0B85AA-8123-43F1-B663-E92CFD4F64A7}" sibTransId="{3E0E206C-E0F6-4BEC-BCC8-F267BA2F63AF}"/>
    <dgm:cxn modelId="{F5FD9B7D-5F38-4129-B6AF-806EAB72748F}" type="presOf" srcId="{4A81A318-0253-4D08-BDB1-BB992294BA4E}" destId="{63307EDE-7746-4CEE-BE8F-25A70BE0E838}" srcOrd="0" destOrd="0" presId="urn:microsoft.com/office/officeart/2005/8/layout/hList1"/>
    <dgm:cxn modelId="{3C32577F-9434-4E16-A876-6C770259D581}" srcId="{764DC3B9-EBF0-44F6-986D-23C2F95108B6}" destId="{FA257B3A-7824-4C62-9DCF-5F5B9355148E}" srcOrd="3" destOrd="0" parTransId="{B2744EAD-FCCE-480C-BC84-267099C12DFA}" sibTransId="{01F5AC9C-67F0-4B1A-BE46-3772AA7EF949}"/>
    <dgm:cxn modelId="{1444199F-474C-473D-ADA4-FB6BDFED8FC1}" srcId="{764DC3B9-EBF0-44F6-986D-23C2F95108B6}" destId="{DA3D8222-9F0F-461D-A62E-1FBC1BE13DD1}" srcOrd="1" destOrd="0" parTransId="{D31784F5-8809-4D4E-BBA9-F5B0B2420214}" sibTransId="{BCD084A8-2906-47E0-A9E2-F75D63A03EBA}"/>
    <dgm:cxn modelId="{621F8EF8-C36F-40E2-88B3-5C2EB9891CBA}" srcId="{764DC3B9-EBF0-44F6-986D-23C2F95108B6}" destId="{B6954AB0-C60C-4F76-AE37-56A39520DF31}" srcOrd="2" destOrd="0" parTransId="{7219C12F-92F7-4265-A3FC-2DAF96763A48}" sibTransId="{47C4B094-8301-4A58-B7E7-B3DCDDF608A0}"/>
    <dgm:cxn modelId="{27C6BCDD-01AC-4446-903B-810D713585B0}" type="presParOf" srcId="{63307EDE-7746-4CEE-BE8F-25A70BE0E838}" destId="{D4941209-5FCE-48FC-8505-F13DF99ED364}" srcOrd="0" destOrd="0" presId="urn:microsoft.com/office/officeart/2005/8/layout/hList1"/>
    <dgm:cxn modelId="{61883B41-7A01-4A5B-89AA-FF10A5ACEBC9}" type="presParOf" srcId="{D4941209-5FCE-48FC-8505-F13DF99ED364}" destId="{6F785A19-0135-4092-9522-873DE7B5CBE1}" srcOrd="0" destOrd="0" presId="urn:microsoft.com/office/officeart/2005/8/layout/hList1"/>
    <dgm:cxn modelId="{AE61E7C9-3397-4041-8638-50B02E3DC939}" type="presParOf" srcId="{D4941209-5FCE-48FC-8505-F13DF99ED364}" destId="{757BEDCD-28CA-4D90-B346-2488B797A3C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A11871-5B8F-4E66-B291-D040C695E8C6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A2E4AF2-389D-492F-B236-A53AA58F1BCD}">
      <dgm:prSet/>
      <dgm:spPr/>
      <dgm:t>
        <a:bodyPr/>
        <a:lstStyle/>
        <a:p>
          <a:r>
            <a:rPr lang="en-IN" i="0" dirty="0"/>
            <a:t>Intelligent Page Replacement Workflow</a:t>
          </a:r>
          <a:endParaRPr lang="en-IN" dirty="0"/>
        </a:p>
      </dgm:t>
    </dgm:pt>
    <dgm:pt modelId="{AFCB891D-A1F3-4573-9F54-86B6A9F694F5}" type="parTrans" cxnId="{7FB4777B-8C24-498A-B01E-F8D7CFED7769}">
      <dgm:prSet/>
      <dgm:spPr/>
      <dgm:t>
        <a:bodyPr/>
        <a:lstStyle/>
        <a:p>
          <a:endParaRPr lang="en-IN"/>
        </a:p>
      </dgm:t>
    </dgm:pt>
    <dgm:pt modelId="{1FAFF1CB-D0AA-4235-A570-B745F91B2608}" type="sibTrans" cxnId="{7FB4777B-8C24-498A-B01E-F8D7CFED7769}">
      <dgm:prSet/>
      <dgm:spPr/>
      <dgm:t>
        <a:bodyPr/>
        <a:lstStyle/>
        <a:p>
          <a:endParaRPr lang="en-IN"/>
        </a:p>
      </dgm:t>
    </dgm:pt>
    <dgm:pt modelId="{FB1EFBF4-6EA5-4A1A-B5BE-A08208BF154F}">
      <dgm:prSet/>
      <dgm:spPr/>
      <dgm:t>
        <a:bodyPr/>
        <a:lstStyle/>
        <a:p>
          <a:r>
            <a:rPr lang="en-IN" b="1" i="0" dirty="0"/>
            <a:t>Step 1 — Fault Detected:</a:t>
          </a:r>
          <a:br>
            <a:rPr lang="en-IN" b="0" i="0" dirty="0"/>
          </a:br>
          <a:r>
            <a:rPr lang="en-IN" b="0" i="0" dirty="0"/>
            <a:t>Kernel notices a major fault → triggers ML module.</a:t>
          </a:r>
          <a:endParaRPr lang="en-IN" dirty="0"/>
        </a:p>
      </dgm:t>
    </dgm:pt>
    <dgm:pt modelId="{292D40FA-B691-4F52-9A6F-78016D27CC9B}" type="parTrans" cxnId="{41F5F3D3-1D76-4401-B952-11E7A4EB5589}">
      <dgm:prSet/>
      <dgm:spPr/>
      <dgm:t>
        <a:bodyPr/>
        <a:lstStyle/>
        <a:p>
          <a:endParaRPr lang="en-IN"/>
        </a:p>
      </dgm:t>
    </dgm:pt>
    <dgm:pt modelId="{E248EE6B-C8F7-4C66-A541-271B82FBDC8E}" type="sibTrans" cxnId="{41F5F3D3-1D76-4401-B952-11E7A4EB5589}">
      <dgm:prSet/>
      <dgm:spPr/>
      <dgm:t>
        <a:bodyPr/>
        <a:lstStyle/>
        <a:p>
          <a:endParaRPr lang="en-IN"/>
        </a:p>
      </dgm:t>
    </dgm:pt>
    <dgm:pt modelId="{932753A1-0AEF-406C-97F0-377CBADEB84C}">
      <dgm:prSet/>
      <dgm:spPr/>
      <dgm:t>
        <a:bodyPr/>
        <a:lstStyle/>
        <a:p>
          <a:r>
            <a:rPr lang="en-IN" b="1" i="0" dirty="0"/>
            <a:t>Step 2 — Future Sequence Predicted:</a:t>
          </a:r>
          <a:br>
            <a:rPr lang="en-IN" b="0" i="0" dirty="0"/>
          </a:br>
          <a:r>
            <a:rPr lang="en-IN" b="0" i="0" dirty="0"/>
            <a:t>ML predicts upcoming PFN slice sequence.</a:t>
          </a:r>
          <a:endParaRPr lang="en-IN" dirty="0"/>
        </a:p>
      </dgm:t>
    </dgm:pt>
    <dgm:pt modelId="{48F59304-8E8D-4A04-83F4-AC03F39F60CC}" type="parTrans" cxnId="{CBFB4639-BE10-41F6-87BB-A51AAB75C3A3}">
      <dgm:prSet/>
      <dgm:spPr/>
      <dgm:t>
        <a:bodyPr/>
        <a:lstStyle/>
        <a:p>
          <a:endParaRPr lang="en-IN"/>
        </a:p>
      </dgm:t>
    </dgm:pt>
    <dgm:pt modelId="{47B3C44F-39E4-49D4-9492-63C6670B9D58}" type="sibTrans" cxnId="{CBFB4639-BE10-41F6-87BB-A51AAB75C3A3}">
      <dgm:prSet/>
      <dgm:spPr/>
      <dgm:t>
        <a:bodyPr/>
        <a:lstStyle/>
        <a:p>
          <a:endParaRPr lang="en-IN"/>
        </a:p>
      </dgm:t>
    </dgm:pt>
    <dgm:pt modelId="{E670FBBA-9913-4781-92E5-14481907DE43}">
      <dgm:prSet/>
      <dgm:spPr/>
      <dgm:t>
        <a:bodyPr/>
        <a:lstStyle/>
        <a:p>
          <a:r>
            <a:rPr lang="en-IN" b="1" i="0"/>
            <a:t>Step 3 — Victim Validation:</a:t>
          </a:r>
          <a:br>
            <a:rPr lang="en-IN" b="0" i="0"/>
          </a:br>
          <a:r>
            <a:rPr lang="en-IN" b="0" i="0"/>
            <a:t>Prediction checked against shrink_folio_list victim.</a:t>
          </a:r>
          <a:endParaRPr lang="en-IN"/>
        </a:p>
      </dgm:t>
    </dgm:pt>
    <dgm:pt modelId="{5FA817AF-8392-4609-8A55-C50E7415FE8A}" type="parTrans" cxnId="{BBF7A1A8-9517-4D2C-9B4A-8BADD92FF431}">
      <dgm:prSet/>
      <dgm:spPr/>
      <dgm:t>
        <a:bodyPr/>
        <a:lstStyle/>
        <a:p>
          <a:endParaRPr lang="en-IN"/>
        </a:p>
      </dgm:t>
    </dgm:pt>
    <dgm:pt modelId="{6EBD43CC-B454-4518-A0F3-BF848033C829}" type="sibTrans" cxnId="{BBF7A1A8-9517-4D2C-9B4A-8BADD92FF431}">
      <dgm:prSet/>
      <dgm:spPr/>
      <dgm:t>
        <a:bodyPr/>
        <a:lstStyle/>
        <a:p>
          <a:endParaRPr lang="en-IN"/>
        </a:p>
      </dgm:t>
    </dgm:pt>
    <dgm:pt modelId="{72E95E49-5451-4A87-B705-127C2B8BE657}">
      <dgm:prSet/>
      <dgm:spPr/>
      <dgm:t>
        <a:bodyPr/>
        <a:lstStyle/>
        <a:p>
          <a:r>
            <a:rPr lang="en-IN" b="1" i="0"/>
            <a:t>Step 4 — Final Decision:</a:t>
          </a:r>
          <a:endParaRPr lang="en-IN"/>
        </a:p>
      </dgm:t>
    </dgm:pt>
    <dgm:pt modelId="{15D7B104-5931-47B7-A911-DF16F8DC6A46}" type="parTrans" cxnId="{9CC343C7-B10E-4D66-AEAE-0C50F14A5A2F}">
      <dgm:prSet/>
      <dgm:spPr/>
      <dgm:t>
        <a:bodyPr/>
        <a:lstStyle/>
        <a:p>
          <a:endParaRPr lang="en-IN"/>
        </a:p>
      </dgm:t>
    </dgm:pt>
    <dgm:pt modelId="{6E8722B8-3744-48E7-9DEF-F2C07BAF793D}" type="sibTrans" cxnId="{9CC343C7-B10E-4D66-AEAE-0C50F14A5A2F}">
      <dgm:prSet/>
      <dgm:spPr/>
      <dgm:t>
        <a:bodyPr/>
        <a:lstStyle/>
        <a:p>
          <a:endParaRPr lang="en-IN"/>
        </a:p>
      </dgm:t>
    </dgm:pt>
    <dgm:pt modelId="{73E0AC7A-3267-470E-9CF3-B63B3F5B99BB}">
      <dgm:prSet/>
      <dgm:spPr/>
      <dgm:t>
        <a:bodyPr/>
        <a:lstStyle/>
        <a:p>
          <a:r>
            <a:rPr lang="en-IN" b="0" i="0" dirty="0"/>
            <a:t>If victim is </a:t>
          </a:r>
          <a:r>
            <a:rPr lang="en-IN" b="0" i="1" dirty="0"/>
            <a:t>future-use</a:t>
          </a:r>
          <a:r>
            <a:rPr lang="en-IN" b="0" i="0" dirty="0"/>
            <a:t>, </a:t>
          </a:r>
          <a:r>
            <a:rPr lang="en-IN" b="1" i="0" dirty="0"/>
            <a:t>hold it</a:t>
          </a:r>
          <a:r>
            <a:rPr lang="en-IN" b="0" i="0" dirty="0"/>
            <a:t>.</a:t>
          </a:r>
          <a:endParaRPr lang="en-IN" dirty="0"/>
        </a:p>
      </dgm:t>
    </dgm:pt>
    <dgm:pt modelId="{84A0F9BF-306F-474C-9176-5D488F34D7A5}" type="parTrans" cxnId="{84200824-963C-42F8-9AE8-A7F76C71F1FB}">
      <dgm:prSet/>
      <dgm:spPr/>
      <dgm:t>
        <a:bodyPr/>
        <a:lstStyle/>
        <a:p>
          <a:endParaRPr lang="en-IN"/>
        </a:p>
      </dgm:t>
    </dgm:pt>
    <dgm:pt modelId="{FBBD13BD-B896-42A3-9D56-12111D1DC43F}" type="sibTrans" cxnId="{84200824-963C-42F8-9AE8-A7F76C71F1FB}">
      <dgm:prSet/>
      <dgm:spPr/>
      <dgm:t>
        <a:bodyPr/>
        <a:lstStyle/>
        <a:p>
          <a:endParaRPr lang="en-IN"/>
        </a:p>
      </dgm:t>
    </dgm:pt>
    <dgm:pt modelId="{9F9F43FB-3B09-4008-9A5B-39D5B9DDA234}">
      <dgm:prSet/>
      <dgm:spPr/>
      <dgm:t>
        <a:bodyPr/>
        <a:lstStyle/>
        <a:p>
          <a:r>
            <a:rPr lang="en-IN" b="0" i="0"/>
            <a:t>Else, OS performs </a:t>
          </a:r>
          <a:r>
            <a:rPr lang="en-IN" b="1" i="0"/>
            <a:t>normal replacement</a:t>
          </a:r>
          <a:r>
            <a:rPr lang="en-IN" b="0" i="0"/>
            <a:t>.</a:t>
          </a:r>
          <a:endParaRPr lang="en-IN"/>
        </a:p>
      </dgm:t>
    </dgm:pt>
    <dgm:pt modelId="{C4A2930F-D334-4225-A266-A92B0C384067}" type="parTrans" cxnId="{451BF3AC-A030-415E-8524-33DD0C2A5134}">
      <dgm:prSet/>
      <dgm:spPr/>
      <dgm:t>
        <a:bodyPr/>
        <a:lstStyle/>
        <a:p>
          <a:endParaRPr lang="en-IN"/>
        </a:p>
      </dgm:t>
    </dgm:pt>
    <dgm:pt modelId="{66EB144E-B762-4AA1-99F8-3E01031BD622}" type="sibTrans" cxnId="{451BF3AC-A030-415E-8524-33DD0C2A5134}">
      <dgm:prSet/>
      <dgm:spPr/>
      <dgm:t>
        <a:bodyPr/>
        <a:lstStyle/>
        <a:p>
          <a:endParaRPr lang="en-IN"/>
        </a:p>
      </dgm:t>
    </dgm:pt>
    <dgm:pt modelId="{81D1528F-ECEE-4650-8FA8-56A57B75CA2F}" type="pres">
      <dgm:prSet presAssocID="{EEA11871-5B8F-4E66-B291-D040C695E8C6}" presName="Name0" presStyleCnt="0">
        <dgm:presLayoutVars>
          <dgm:dir/>
          <dgm:animLvl val="lvl"/>
          <dgm:resizeHandles val="exact"/>
        </dgm:presLayoutVars>
      </dgm:prSet>
      <dgm:spPr/>
    </dgm:pt>
    <dgm:pt modelId="{AF11E477-4BAF-48E2-9673-E420F9B6D668}" type="pres">
      <dgm:prSet presAssocID="{6A2E4AF2-389D-492F-B236-A53AA58F1BCD}" presName="composite" presStyleCnt="0"/>
      <dgm:spPr/>
    </dgm:pt>
    <dgm:pt modelId="{D25E5706-EF24-42F4-AF05-EE4B2A4CF785}" type="pres">
      <dgm:prSet presAssocID="{6A2E4AF2-389D-492F-B236-A53AA58F1BCD}" presName="parTx" presStyleLbl="alignNode1" presStyleIdx="0" presStyleCnt="1" custScaleY="124767" custLinFactNeighborY="-15252">
        <dgm:presLayoutVars>
          <dgm:chMax val="0"/>
          <dgm:chPref val="0"/>
          <dgm:bulletEnabled val="1"/>
        </dgm:presLayoutVars>
      </dgm:prSet>
      <dgm:spPr/>
    </dgm:pt>
    <dgm:pt modelId="{EEFC07E4-0D0E-4D4E-99D6-A564C2438E91}" type="pres">
      <dgm:prSet presAssocID="{6A2E4AF2-389D-492F-B236-A53AA58F1BCD}" presName="desTx" presStyleLbl="alignAccFollowNode1" presStyleIdx="0" presStyleCnt="1" custScaleY="121786" custLinFactNeighborY="10776">
        <dgm:presLayoutVars>
          <dgm:bulletEnabled val="1"/>
        </dgm:presLayoutVars>
      </dgm:prSet>
      <dgm:spPr/>
    </dgm:pt>
  </dgm:ptLst>
  <dgm:cxnLst>
    <dgm:cxn modelId="{19F9E600-C69A-45B6-B13A-7EC5FBD923EA}" type="presOf" srcId="{932753A1-0AEF-406C-97F0-377CBADEB84C}" destId="{EEFC07E4-0D0E-4D4E-99D6-A564C2438E91}" srcOrd="0" destOrd="1" presId="urn:microsoft.com/office/officeart/2005/8/layout/hList1"/>
    <dgm:cxn modelId="{84200824-963C-42F8-9AE8-A7F76C71F1FB}" srcId="{72E95E49-5451-4A87-B705-127C2B8BE657}" destId="{73E0AC7A-3267-470E-9CF3-B63B3F5B99BB}" srcOrd="0" destOrd="0" parTransId="{84A0F9BF-306F-474C-9176-5D488F34D7A5}" sibTransId="{FBBD13BD-B896-42A3-9D56-12111D1DC43F}"/>
    <dgm:cxn modelId="{CBFB4639-BE10-41F6-87BB-A51AAB75C3A3}" srcId="{6A2E4AF2-389D-492F-B236-A53AA58F1BCD}" destId="{932753A1-0AEF-406C-97F0-377CBADEB84C}" srcOrd="1" destOrd="0" parTransId="{48F59304-8E8D-4A04-83F4-AC03F39F60CC}" sibTransId="{47B3C44F-39E4-49D4-9492-63C6670B9D58}"/>
    <dgm:cxn modelId="{09BF184D-A038-4A2E-8D1A-5599E629C620}" type="presOf" srcId="{73E0AC7A-3267-470E-9CF3-B63B3F5B99BB}" destId="{EEFC07E4-0D0E-4D4E-99D6-A564C2438E91}" srcOrd="0" destOrd="4" presId="urn:microsoft.com/office/officeart/2005/8/layout/hList1"/>
    <dgm:cxn modelId="{7FB4777B-8C24-498A-B01E-F8D7CFED7769}" srcId="{EEA11871-5B8F-4E66-B291-D040C695E8C6}" destId="{6A2E4AF2-389D-492F-B236-A53AA58F1BCD}" srcOrd="0" destOrd="0" parTransId="{AFCB891D-A1F3-4573-9F54-86B6A9F694F5}" sibTransId="{1FAFF1CB-D0AA-4235-A570-B745F91B2608}"/>
    <dgm:cxn modelId="{50E5AB90-08F0-4C5A-95A4-49A2D8203989}" type="presOf" srcId="{EEA11871-5B8F-4E66-B291-D040C695E8C6}" destId="{81D1528F-ECEE-4650-8FA8-56A57B75CA2F}" srcOrd="0" destOrd="0" presId="urn:microsoft.com/office/officeart/2005/8/layout/hList1"/>
    <dgm:cxn modelId="{F850C29D-C965-4BFC-B589-4AC9368F3E83}" type="presOf" srcId="{FB1EFBF4-6EA5-4A1A-B5BE-A08208BF154F}" destId="{EEFC07E4-0D0E-4D4E-99D6-A564C2438E91}" srcOrd="0" destOrd="0" presId="urn:microsoft.com/office/officeart/2005/8/layout/hList1"/>
    <dgm:cxn modelId="{2BEF09A8-938E-45C9-B2FE-0B4A03FACB95}" type="presOf" srcId="{72E95E49-5451-4A87-B705-127C2B8BE657}" destId="{EEFC07E4-0D0E-4D4E-99D6-A564C2438E91}" srcOrd="0" destOrd="3" presId="urn:microsoft.com/office/officeart/2005/8/layout/hList1"/>
    <dgm:cxn modelId="{BBF7A1A8-9517-4D2C-9B4A-8BADD92FF431}" srcId="{6A2E4AF2-389D-492F-B236-A53AA58F1BCD}" destId="{E670FBBA-9913-4781-92E5-14481907DE43}" srcOrd="2" destOrd="0" parTransId="{5FA817AF-8392-4609-8A55-C50E7415FE8A}" sibTransId="{6EBD43CC-B454-4518-A0F3-BF848033C829}"/>
    <dgm:cxn modelId="{451BF3AC-A030-415E-8524-33DD0C2A5134}" srcId="{72E95E49-5451-4A87-B705-127C2B8BE657}" destId="{9F9F43FB-3B09-4008-9A5B-39D5B9DDA234}" srcOrd="1" destOrd="0" parTransId="{C4A2930F-D334-4225-A266-A92B0C384067}" sibTransId="{66EB144E-B762-4AA1-99F8-3E01031BD622}"/>
    <dgm:cxn modelId="{EB37C1B4-07CA-4061-9990-63D3D5CFC3B1}" type="presOf" srcId="{6A2E4AF2-389D-492F-B236-A53AA58F1BCD}" destId="{D25E5706-EF24-42F4-AF05-EE4B2A4CF785}" srcOrd="0" destOrd="0" presId="urn:microsoft.com/office/officeart/2005/8/layout/hList1"/>
    <dgm:cxn modelId="{5FA8B2BB-18CB-45BD-A0CF-75A45A39747B}" type="presOf" srcId="{9F9F43FB-3B09-4008-9A5B-39D5B9DDA234}" destId="{EEFC07E4-0D0E-4D4E-99D6-A564C2438E91}" srcOrd="0" destOrd="5" presId="urn:microsoft.com/office/officeart/2005/8/layout/hList1"/>
    <dgm:cxn modelId="{9CC343C7-B10E-4D66-AEAE-0C50F14A5A2F}" srcId="{6A2E4AF2-389D-492F-B236-A53AA58F1BCD}" destId="{72E95E49-5451-4A87-B705-127C2B8BE657}" srcOrd="3" destOrd="0" parTransId="{15D7B104-5931-47B7-A911-DF16F8DC6A46}" sibTransId="{6E8722B8-3744-48E7-9DEF-F2C07BAF793D}"/>
    <dgm:cxn modelId="{44C11FD3-F2BC-453F-9E20-03DA04437329}" type="presOf" srcId="{E670FBBA-9913-4781-92E5-14481907DE43}" destId="{EEFC07E4-0D0E-4D4E-99D6-A564C2438E91}" srcOrd="0" destOrd="2" presId="urn:microsoft.com/office/officeart/2005/8/layout/hList1"/>
    <dgm:cxn modelId="{41F5F3D3-1D76-4401-B952-11E7A4EB5589}" srcId="{6A2E4AF2-389D-492F-B236-A53AA58F1BCD}" destId="{FB1EFBF4-6EA5-4A1A-B5BE-A08208BF154F}" srcOrd="0" destOrd="0" parTransId="{292D40FA-B691-4F52-9A6F-78016D27CC9B}" sibTransId="{E248EE6B-C8F7-4C66-A541-271B82FBDC8E}"/>
    <dgm:cxn modelId="{B2D9175F-8EB6-4C42-AC4A-6A7DC2151C96}" type="presParOf" srcId="{81D1528F-ECEE-4650-8FA8-56A57B75CA2F}" destId="{AF11E477-4BAF-48E2-9673-E420F9B6D668}" srcOrd="0" destOrd="0" presId="urn:microsoft.com/office/officeart/2005/8/layout/hList1"/>
    <dgm:cxn modelId="{02156922-6A56-4359-9560-9EFAA6488B03}" type="presParOf" srcId="{AF11E477-4BAF-48E2-9673-E420F9B6D668}" destId="{D25E5706-EF24-42F4-AF05-EE4B2A4CF785}" srcOrd="0" destOrd="0" presId="urn:microsoft.com/office/officeart/2005/8/layout/hList1"/>
    <dgm:cxn modelId="{270B2CB3-545D-412E-BE38-D602533E5F5C}" type="presParOf" srcId="{AF11E477-4BAF-48E2-9673-E420F9B6D668}" destId="{EEFC07E4-0D0E-4D4E-99D6-A564C2438E9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20934D-E74E-4EEC-8E9E-E3F1FA1803FB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A191192-8867-4A3C-A155-AD32241D44D7}">
      <dgm:prSet/>
      <dgm:spPr/>
      <dgm:t>
        <a:bodyPr/>
        <a:lstStyle/>
        <a:p>
          <a:r>
            <a:rPr lang="en-IN" i="0"/>
            <a:t>Integrated Hybrid System</a:t>
          </a:r>
          <a:endParaRPr lang="en-IN"/>
        </a:p>
      </dgm:t>
    </dgm:pt>
    <dgm:pt modelId="{AA98AB1A-CE02-41E7-AA70-DC61403BCDC4}" type="parTrans" cxnId="{1A68BE01-8C17-4ED7-814D-766CAB7DD850}">
      <dgm:prSet/>
      <dgm:spPr/>
      <dgm:t>
        <a:bodyPr/>
        <a:lstStyle/>
        <a:p>
          <a:endParaRPr lang="en-IN"/>
        </a:p>
      </dgm:t>
    </dgm:pt>
    <dgm:pt modelId="{7E4ED899-302D-4D9A-96F3-2C6E475571DA}" type="sibTrans" cxnId="{1A68BE01-8C17-4ED7-814D-766CAB7DD850}">
      <dgm:prSet/>
      <dgm:spPr/>
      <dgm:t>
        <a:bodyPr/>
        <a:lstStyle/>
        <a:p>
          <a:endParaRPr lang="en-IN"/>
        </a:p>
      </dgm:t>
    </dgm:pt>
    <dgm:pt modelId="{73A24D4B-2461-45F4-A536-0CDDB933A186}">
      <dgm:prSet/>
      <dgm:spPr/>
      <dgm:t>
        <a:bodyPr/>
        <a:lstStyle/>
        <a:p>
          <a:r>
            <a:rPr lang="en-IN" b="1" i="0" dirty="0"/>
            <a:t>AI + OS Collaboration</a:t>
          </a:r>
          <a:br>
            <a:rPr lang="en-IN" b="0" i="0" dirty="0"/>
          </a:br>
          <a:r>
            <a:rPr lang="en-IN" b="0" i="0" dirty="0"/>
            <a:t>AI predicts future access patterns; OS executes validated actions.</a:t>
          </a:r>
          <a:endParaRPr lang="en-IN" dirty="0"/>
        </a:p>
      </dgm:t>
    </dgm:pt>
    <dgm:pt modelId="{4EC16A0D-44E3-42F3-828F-80C250DE025F}" type="parTrans" cxnId="{67DB1407-9EF0-4734-86FC-5E35890B5FA5}">
      <dgm:prSet/>
      <dgm:spPr/>
      <dgm:t>
        <a:bodyPr/>
        <a:lstStyle/>
        <a:p>
          <a:endParaRPr lang="en-IN"/>
        </a:p>
      </dgm:t>
    </dgm:pt>
    <dgm:pt modelId="{8CE0DBB9-EEB7-4F1F-9811-D26C4081B928}" type="sibTrans" cxnId="{67DB1407-9EF0-4734-86FC-5E35890B5FA5}">
      <dgm:prSet/>
      <dgm:spPr/>
      <dgm:t>
        <a:bodyPr/>
        <a:lstStyle/>
        <a:p>
          <a:endParaRPr lang="en-IN"/>
        </a:p>
      </dgm:t>
    </dgm:pt>
    <dgm:pt modelId="{F73B554B-15FD-4D3C-99E7-28E62E7ACA5E}">
      <dgm:prSet/>
      <dgm:spPr/>
      <dgm:t>
        <a:bodyPr/>
        <a:lstStyle/>
        <a:p>
          <a:r>
            <a:rPr lang="en-IN" b="1" i="0"/>
            <a:t>Non‑intrusive Design</a:t>
          </a:r>
          <a:br>
            <a:rPr lang="en-IN" b="0" i="0"/>
          </a:br>
          <a:r>
            <a:rPr lang="en-IN" b="0" i="0"/>
            <a:t>Does not replace algorithms—only augments decision quality.a</a:t>
          </a:r>
          <a:endParaRPr lang="en-IN"/>
        </a:p>
      </dgm:t>
    </dgm:pt>
    <dgm:pt modelId="{25C8D19C-E31C-4BEF-B6F0-FAD200573595}" type="parTrans" cxnId="{8CE5B8B7-30EC-402D-9A65-DF1A0193B47F}">
      <dgm:prSet/>
      <dgm:spPr/>
      <dgm:t>
        <a:bodyPr/>
        <a:lstStyle/>
        <a:p>
          <a:endParaRPr lang="en-IN"/>
        </a:p>
      </dgm:t>
    </dgm:pt>
    <dgm:pt modelId="{84DEAA98-1EE1-4437-9A9D-E0A43706F81F}" type="sibTrans" cxnId="{8CE5B8B7-30EC-402D-9A65-DF1A0193B47F}">
      <dgm:prSet/>
      <dgm:spPr/>
      <dgm:t>
        <a:bodyPr/>
        <a:lstStyle/>
        <a:p>
          <a:endParaRPr lang="en-IN"/>
        </a:p>
      </dgm:t>
    </dgm:pt>
    <dgm:pt modelId="{1D49608B-0996-418C-A210-BD37BD9E0FAD}">
      <dgm:prSet/>
      <dgm:spPr/>
      <dgm:t>
        <a:bodyPr/>
        <a:lstStyle/>
        <a:p>
          <a:r>
            <a:rPr lang="en-IN" b="1" i="0"/>
            <a:t>Modular Architecture</a:t>
          </a:r>
          <a:br>
            <a:rPr lang="en-IN" b="0" i="0"/>
          </a:br>
          <a:r>
            <a:rPr lang="en-IN" b="0" i="0"/>
            <a:t>Independent kernel module, ML engine, UI</a:t>
          </a:r>
          <a:endParaRPr lang="en-IN"/>
        </a:p>
      </dgm:t>
    </dgm:pt>
    <dgm:pt modelId="{939E4599-0BD1-4434-8389-1BE7E80B4034}" type="parTrans" cxnId="{F5DD3E52-D22E-4283-A341-3F26A38E0451}">
      <dgm:prSet/>
      <dgm:spPr/>
      <dgm:t>
        <a:bodyPr/>
        <a:lstStyle/>
        <a:p>
          <a:endParaRPr lang="en-IN"/>
        </a:p>
      </dgm:t>
    </dgm:pt>
    <dgm:pt modelId="{EC137E59-445E-49AA-B189-2E10D4B47BA1}" type="sibTrans" cxnId="{F5DD3E52-D22E-4283-A341-3F26A38E0451}">
      <dgm:prSet/>
      <dgm:spPr/>
      <dgm:t>
        <a:bodyPr/>
        <a:lstStyle/>
        <a:p>
          <a:endParaRPr lang="en-IN"/>
        </a:p>
      </dgm:t>
    </dgm:pt>
    <dgm:pt modelId="{EF29436B-C522-426C-95F8-D22F8F90CF87}" type="pres">
      <dgm:prSet presAssocID="{0B20934D-E74E-4EEC-8E9E-E3F1FA1803FB}" presName="Name0" presStyleCnt="0">
        <dgm:presLayoutVars>
          <dgm:dir/>
          <dgm:animLvl val="lvl"/>
          <dgm:resizeHandles val="exact"/>
        </dgm:presLayoutVars>
      </dgm:prSet>
      <dgm:spPr/>
    </dgm:pt>
    <dgm:pt modelId="{88D2AE32-5380-472A-9E83-15756B6D9858}" type="pres">
      <dgm:prSet presAssocID="{5A191192-8867-4A3C-A155-AD32241D44D7}" presName="composite" presStyleCnt="0"/>
      <dgm:spPr/>
    </dgm:pt>
    <dgm:pt modelId="{F4D32AFB-B16D-41D8-BF7D-B3213FD6C8E4}" type="pres">
      <dgm:prSet presAssocID="{5A191192-8867-4A3C-A155-AD32241D44D7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195CADAB-1A6E-4A5F-B367-18DC21815F94}" type="pres">
      <dgm:prSet presAssocID="{5A191192-8867-4A3C-A155-AD32241D44D7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1A68BE01-8C17-4ED7-814D-766CAB7DD850}" srcId="{0B20934D-E74E-4EEC-8E9E-E3F1FA1803FB}" destId="{5A191192-8867-4A3C-A155-AD32241D44D7}" srcOrd="0" destOrd="0" parTransId="{AA98AB1A-CE02-41E7-AA70-DC61403BCDC4}" sibTransId="{7E4ED899-302D-4D9A-96F3-2C6E475571DA}"/>
    <dgm:cxn modelId="{67DB1407-9EF0-4734-86FC-5E35890B5FA5}" srcId="{5A191192-8867-4A3C-A155-AD32241D44D7}" destId="{73A24D4B-2461-45F4-A536-0CDDB933A186}" srcOrd="0" destOrd="0" parTransId="{4EC16A0D-44E3-42F3-828F-80C250DE025F}" sibTransId="{8CE0DBB9-EEB7-4F1F-9811-D26C4081B928}"/>
    <dgm:cxn modelId="{F5DD3E52-D22E-4283-A341-3F26A38E0451}" srcId="{5A191192-8867-4A3C-A155-AD32241D44D7}" destId="{1D49608B-0996-418C-A210-BD37BD9E0FAD}" srcOrd="2" destOrd="0" parTransId="{939E4599-0BD1-4434-8389-1BE7E80B4034}" sibTransId="{EC137E59-445E-49AA-B189-2E10D4B47BA1}"/>
    <dgm:cxn modelId="{2F282E55-6CB5-4427-AD66-8AB929B47823}" type="presOf" srcId="{1D49608B-0996-418C-A210-BD37BD9E0FAD}" destId="{195CADAB-1A6E-4A5F-B367-18DC21815F94}" srcOrd="0" destOrd="2" presId="urn:microsoft.com/office/officeart/2005/8/layout/hList1"/>
    <dgm:cxn modelId="{D6D0CA77-85AE-4BA4-94BF-089E625A37F7}" type="presOf" srcId="{5A191192-8867-4A3C-A155-AD32241D44D7}" destId="{F4D32AFB-B16D-41D8-BF7D-B3213FD6C8E4}" srcOrd="0" destOrd="0" presId="urn:microsoft.com/office/officeart/2005/8/layout/hList1"/>
    <dgm:cxn modelId="{0562C292-378E-47F3-ADE1-2EBE68DA7843}" type="presOf" srcId="{73A24D4B-2461-45F4-A536-0CDDB933A186}" destId="{195CADAB-1A6E-4A5F-B367-18DC21815F94}" srcOrd="0" destOrd="0" presId="urn:microsoft.com/office/officeart/2005/8/layout/hList1"/>
    <dgm:cxn modelId="{8CE5B8B7-30EC-402D-9A65-DF1A0193B47F}" srcId="{5A191192-8867-4A3C-A155-AD32241D44D7}" destId="{F73B554B-15FD-4D3C-99E7-28E62E7ACA5E}" srcOrd="1" destOrd="0" parTransId="{25C8D19C-E31C-4BEF-B6F0-FAD200573595}" sibTransId="{84DEAA98-1EE1-4437-9A9D-E0A43706F81F}"/>
    <dgm:cxn modelId="{9CC987C1-D3C1-4612-B51F-DCFD9CE2989E}" type="presOf" srcId="{0B20934D-E74E-4EEC-8E9E-E3F1FA1803FB}" destId="{EF29436B-C522-426C-95F8-D22F8F90CF87}" srcOrd="0" destOrd="0" presId="urn:microsoft.com/office/officeart/2005/8/layout/hList1"/>
    <dgm:cxn modelId="{A39B0FDA-BFD1-40F6-950C-AD215985B888}" type="presOf" srcId="{F73B554B-15FD-4D3C-99E7-28E62E7ACA5E}" destId="{195CADAB-1A6E-4A5F-B367-18DC21815F94}" srcOrd="0" destOrd="1" presId="urn:microsoft.com/office/officeart/2005/8/layout/hList1"/>
    <dgm:cxn modelId="{6B90E665-B8E2-4784-90A1-08A962BB6784}" type="presParOf" srcId="{EF29436B-C522-426C-95F8-D22F8F90CF87}" destId="{88D2AE32-5380-472A-9E83-15756B6D9858}" srcOrd="0" destOrd="0" presId="urn:microsoft.com/office/officeart/2005/8/layout/hList1"/>
    <dgm:cxn modelId="{F4D5478B-6E0F-4EC0-B202-54F1042E8029}" type="presParOf" srcId="{88D2AE32-5380-472A-9E83-15756B6D9858}" destId="{F4D32AFB-B16D-41D8-BF7D-B3213FD6C8E4}" srcOrd="0" destOrd="0" presId="urn:microsoft.com/office/officeart/2005/8/layout/hList1"/>
    <dgm:cxn modelId="{A65EF071-EC93-4B4E-8474-29D719FCDEA2}" type="presParOf" srcId="{88D2AE32-5380-472A-9E83-15756B6D9858}" destId="{195CADAB-1A6E-4A5F-B367-18DC21815F9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4C9DF60-E5D4-4337-BFA6-52C2ED0AE7C2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5491AC-88E5-4D98-95A4-205FE994B611}">
      <dgm:prSet/>
      <dgm:spPr/>
      <dgm:t>
        <a:bodyPr/>
        <a:lstStyle/>
        <a:p>
          <a:r>
            <a:rPr lang="en-IN" i="0" dirty="0"/>
            <a:t>6. Benefits (Infographic-Friendly)</a:t>
          </a:r>
          <a:endParaRPr lang="en-IN" dirty="0"/>
        </a:p>
      </dgm:t>
    </dgm:pt>
    <dgm:pt modelId="{965028B1-DAB5-40A6-97E1-650564A9E72D}" type="parTrans" cxnId="{62BF4B77-48BA-4281-98D4-A0CA0F07FCEC}">
      <dgm:prSet/>
      <dgm:spPr/>
      <dgm:t>
        <a:bodyPr/>
        <a:lstStyle/>
        <a:p>
          <a:endParaRPr lang="en-IN"/>
        </a:p>
      </dgm:t>
    </dgm:pt>
    <dgm:pt modelId="{2E67F1F8-5A3C-4104-A321-17611341A1FF}" type="sibTrans" cxnId="{62BF4B77-48BA-4281-98D4-A0CA0F07FCEC}">
      <dgm:prSet/>
      <dgm:spPr/>
      <dgm:t>
        <a:bodyPr/>
        <a:lstStyle/>
        <a:p>
          <a:endParaRPr lang="en-IN"/>
        </a:p>
      </dgm:t>
    </dgm:pt>
    <dgm:pt modelId="{9E7F9AD5-4CC2-47FE-A57D-E9261E8B4C4D}">
      <dgm:prSet/>
      <dgm:spPr/>
      <dgm:t>
        <a:bodyPr/>
        <a:lstStyle/>
        <a:p>
          <a:r>
            <a:rPr lang="en-IN" b="1" i="0" dirty="0"/>
            <a:t>⬆ Performance Boost</a:t>
          </a:r>
          <a:r>
            <a:rPr lang="en-IN" b="0" i="0" dirty="0"/>
            <a:t> → Reduced unnecessary evictions</a:t>
          </a:r>
          <a:endParaRPr lang="en-IN" dirty="0"/>
        </a:p>
      </dgm:t>
    </dgm:pt>
    <dgm:pt modelId="{14356E74-FFA9-4E24-89E1-58DDDB29D3C8}" type="parTrans" cxnId="{8116DB61-DD4C-431D-9AB9-6C11BBBE7B02}">
      <dgm:prSet/>
      <dgm:spPr/>
      <dgm:t>
        <a:bodyPr/>
        <a:lstStyle/>
        <a:p>
          <a:endParaRPr lang="en-IN"/>
        </a:p>
      </dgm:t>
    </dgm:pt>
    <dgm:pt modelId="{0371CCFB-A2BE-43E3-9FDE-1F1766C8A14A}" type="sibTrans" cxnId="{8116DB61-DD4C-431D-9AB9-6C11BBBE7B02}">
      <dgm:prSet/>
      <dgm:spPr/>
      <dgm:t>
        <a:bodyPr/>
        <a:lstStyle/>
        <a:p>
          <a:endParaRPr lang="en-IN"/>
        </a:p>
      </dgm:t>
    </dgm:pt>
    <dgm:pt modelId="{490C9E12-18A3-4FAC-9A5B-54A15BC5A4E8}">
      <dgm:prSet/>
      <dgm:spPr/>
      <dgm:t>
        <a:bodyPr/>
        <a:lstStyle/>
        <a:p>
          <a:r>
            <a:rPr lang="en-IN" b="1" i="0" dirty="0"/>
            <a:t>⬇ Latency Drops</a:t>
          </a:r>
          <a:r>
            <a:rPr lang="en-IN" b="0" i="0" dirty="0"/>
            <a:t> → Better future fault avoidance</a:t>
          </a:r>
          <a:endParaRPr lang="en-IN" dirty="0"/>
        </a:p>
      </dgm:t>
    </dgm:pt>
    <dgm:pt modelId="{C23051CD-F2B7-45D3-BEA7-8AE06ECFA906}" type="parTrans" cxnId="{46D516EA-F671-4D02-A7A8-1F475D037790}">
      <dgm:prSet/>
      <dgm:spPr/>
      <dgm:t>
        <a:bodyPr/>
        <a:lstStyle/>
        <a:p>
          <a:endParaRPr lang="en-IN"/>
        </a:p>
      </dgm:t>
    </dgm:pt>
    <dgm:pt modelId="{A11BEF75-4168-443C-9EFE-15E943F250DF}" type="sibTrans" cxnId="{46D516EA-F671-4D02-A7A8-1F475D037790}">
      <dgm:prSet/>
      <dgm:spPr/>
      <dgm:t>
        <a:bodyPr/>
        <a:lstStyle/>
        <a:p>
          <a:endParaRPr lang="en-IN"/>
        </a:p>
      </dgm:t>
    </dgm:pt>
    <dgm:pt modelId="{CFF06C92-7656-43D4-9724-8996A30150F3}">
      <dgm:prSet/>
      <dgm:spPr/>
      <dgm:t>
        <a:bodyPr/>
        <a:lstStyle/>
        <a:p>
          <a:r>
            <a:rPr lang="en-IN" b="1" i="0" dirty="0"/>
            <a:t>🔁 Efficient Memory Cycles</a:t>
          </a:r>
          <a:r>
            <a:rPr lang="en-IN" b="0" i="0" dirty="0"/>
            <a:t> → Smarter victim choices</a:t>
          </a:r>
          <a:endParaRPr lang="en-IN" dirty="0"/>
        </a:p>
      </dgm:t>
    </dgm:pt>
    <dgm:pt modelId="{09CE4161-5803-473B-9349-905BA47C7E9A}" type="parTrans" cxnId="{69B5CFD0-DE9C-4398-A67C-FB7FFD6F530F}">
      <dgm:prSet/>
      <dgm:spPr/>
      <dgm:t>
        <a:bodyPr/>
        <a:lstStyle/>
        <a:p>
          <a:endParaRPr lang="en-IN"/>
        </a:p>
      </dgm:t>
    </dgm:pt>
    <dgm:pt modelId="{BC8A2F55-A4AF-451B-BB66-44DDA1F78AFA}" type="sibTrans" cxnId="{69B5CFD0-DE9C-4398-A67C-FB7FFD6F530F}">
      <dgm:prSet/>
      <dgm:spPr/>
      <dgm:t>
        <a:bodyPr/>
        <a:lstStyle/>
        <a:p>
          <a:endParaRPr lang="en-IN"/>
        </a:p>
      </dgm:t>
    </dgm:pt>
    <dgm:pt modelId="{0CD6EFFB-40E9-42A5-86A4-320DA9A14A78}">
      <dgm:prSet/>
      <dgm:spPr/>
      <dgm:t>
        <a:bodyPr/>
        <a:lstStyle/>
        <a:p>
          <a:r>
            <a:rPr lang="en-IN" b="1" i="0" dirty="0"/>
            <a:t>🎯 Higher Prediction Accuracy</a:t>
          </a:r>
          <a:r>
            <a:rPr lang="en-IN" b="0" i="0" dirty="0"/>
            <a:t> → Model‑v3 stability</a:t>
          </a:r>
          <a:endParaRPr lang="en-IN" dirty="0"/>
        </a:p>
      </dgm:t>
    </dgm:pt>
    <dgm:pt modelId="{E78F3EEE-6568-48C7-B362-2DEA3D95498D}" type="parTrans" cxnId="{53AE1B30-7550-42AC-9F0C-4CC95BE2437D}">
      <dgm:prSet/>
      <dgm:spPr/>
      <dgm:t>
        <a:bodyPr/>
        <a:lstStyle/>
        <a:p>
          <a:endParaRPr lang="en-IN"/>
        </a:p>
      </dgm:t>
    </dgm:pt>
    <dgm:pt modelId="{B08DACE8-FB74-4271-AF30-A548AE676FD4}" type="sibTrans" cxnId="{53AE1B30-7550-42AC-9F0C-4CC95BE2437D}">
      <dgm:prSet/>
      <dgm:spPr/>
      <dgm:t>
        <a:bodyPr/>
        <a:lstStyle/>
        <a:p>
          <a:endParaRPr lang="en-IN"/>
        </a:p>
      </dgm:t>
    </dgm:pt>
    <dgm:pt modelId="{7E6D2D82-6D55-4DC0-BA49-6BD618BDCDCA}" type="pres">
      <dgm:prSet presAssocID="{14C9DF60-E5D4-4337-BFA6-52C2ED0AE7C2}" presName="Name0" presStyleCnt="0">
        <dgm:presLayoutVars>
          <dgm:dir/>
          <dgm:animLvl val="lvl"/>
          <dgm:resizeHandles val="exact"/>
        </dgm:presLayoutVars>
      </dgm:prSet>
      <dgm:spPr/>
    </dgm:pt>
    <dgm:pt modelId="{87715ED4-F247-4B94-B981-4972369E0637}" type="pres">
      <dgm:prSet presAssocID="{F55491AC-88E5-4D98-95A4-205FE994B611}" presName="composite" presStyleCnt="0"/>
      <dgm:spPr/>
    </dgm:pt>
    <dgm:pt modelId="{BB08CD54-28CA-4B27-B3D1-31664163AF30}" type="pres">
      <dgm:prSet presAssocID="{F55491AC-88E5-4D98-95A4-205FE994B611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7E01CCF1-4078-46B4-9D16-AC555325B407}" type="pres">
      <dgm:prSet presAssocID="{F55491AC-88E5-4D98-95A4-205FE994B611}" presName="desTx" presStyleLbl="alignAccFollowNode1" presStyleIdx="0" presStyleCnt="1" custScaleY="105916" custLinFactNeighborY="8283">
        <dgm:presLayoutVars>
          <dgm:bulletEnabled val="1"/>
        </dgm:presLayoutVars>
      </dgm:prSet>
      <dgm:spPr/>
    </dgm:pt>
  </dgm:ptLst>
  <dgm:cxnLst>
    <dgm:cxn modelId="{53AE1B30-7550-42AC-9F0C-4CC95BE2437D}" srcId="{F55491AC-88E5-4D98-95A4-205FE994B611}" destId="{0CD6EFFB-40E9-42A5-86A4-320DA9A14A78}" srcOrd="3" destOrd="0" parTransId="{E78F3EEE-6568-48C7-B362-2DEA3D95498D}" sibTransId="{B08DACE8-FB74-4271-AF30-A548AE676FD4}"/>
    <dgm:cxn modelId="{8116DB61-DD4C-431D-9AB9-6C11BBBE7B02}" srcId="{F55491AC-88E5-4D98-95A4-205FE994B611}" destId="{9E7F9AD5-4CC2-47FE-A57D-E9261E8B4C4D}" srcOrd="0" destOrd="0" parTransId="{14356E74-FFA9-4E24-89E1-58DDDB29D3C8}" sibTransId="{0371CCFB-A2BE-43E3-9FDE-1F1766C8A14A}"/>
    <dgm:cxn modelId="{F5A1244F-F62B-41F3-A979-ACDD72FC2C17}" type="presOf" srcId="{14C9DF60-E5D4-4337-BFA6-52C2ED0AE7C2}" destId="{7E6D2D82-6D55-4DC0-BA49-6BD618BDCDCA}" srcOrd="0" destOrd="0" presId="urn:microsoft.com/office/officeart/2005/8/layout/hList1"/>
    <dgm:cxn modelId="{62BF4B77-48BA-4281-98D4-A0CA0F07FCEC}" srcId="{14C9DF60-E5D4-4337-BFA6-52C2ED0AE7C2}" destId="{F55491AC-88E5-4D98-95A4-205FE994B611}" srcOrd="0" destOrd="0" parTransId="{965028B1-DAB5-40A6-97E1-650564A9E72D}" sibTransId="{2E67F1F8-5A3C-4104-A321-17611341A1FF}"/>
    <dgm:cxn modelId="{31B3DCA8-7DDE-4771-99C8-556C7930FB54}" type="presOf" srcId="{0CD6EFFB-40E9-42A5-86A4-320DA9A14A78}" destId="{7E01CCF1-4078-46B4-9D16-AC555325B407}" srcOrd="0" destOrd="3" presId="urn:microsoft.com/office/officeart/2005/8/layout/hList1"/>
    <dgm:cxn modelId="{69B5CFD0-DE9C-4398-A67C-FB7FFD6F530F}" srcId="{F55491AC-88E5-4D98-95A4-205FE994B611}" destId="{CFF06C92-7656-43D4-9724-8996A30150F3}" srcOrd="2" destOrd="0" parTransId="{09CE4161-5803-473B-9349-905BA47C7E9A}" sibTransId="{BC8A2F55-A4AF-451B-BB66-44DDA1F78AFA}"/>
    <dgm:cxn modelId="{596C9DD9-40EA-46AA-B755-8C5F2C9D95B2}" type="presOf" srcId="{F55491AC-88E5-4D98-95A4-205FE994B611}" destId="{BB08CD54-28CA-4B27-B3D1-31664163AF30}" srcOrd="0" destOrd="0" presId="urn:microsoft.com/office/officeart/2005/8/layout/hList1"/>
    <dgm:cxn modelId="{C3999EE9-A023-4B80-84C1-44107E1C0D58}" type="presOf" srcId="{CFF06C92-7656-43D4-9724-8996A30150F3}" destId="{7E01CCF1-4078-46B4-9D16-AC555325B407}" srcOrd="0" destOrd="2" presId="urn:microsoft.com/office/officeart/2005/8/layout/hList1"/>
    <dgm:cxn modelId="{6DDFAFE9-CE42-4ABA-8541-4ED3BD579FA0}" type="presOf" srcId="{9E7F9AD5-4CC2-47FE-A57D-E9261E8B4C4D}" destId="{7E01CCF1-4078-46B4-9D16-AC555325B407}" srcOrd="0" destOrd="0" presId="urn:microsoft.com/office/officeart/2005/8/layout/hList1"/>
    <dgm:cxn modelId="{46D516EA-F671-4D02-A7A8-1F475D037790}" srcId="{F55491AC-88E5-4D98-95A4-205FE994B611}" destId="{490C9E12-18A3-4FAC-9A5B-54A15BC5A4E8}" srcOrd="1" destOrd="0" parTransId="{C23051CD-F2B7-45D3-BEA7-8AE06ECFA906}" sibTransId="{A11BEF75-4168-443C-9EFE-15E943F250DF}"/>
    <dgm:cxn modelId="{2B605BEB-A9C2-4DF0-8415-27698C9FD0F2}" type="presOf" srcId="{490C9E12-18A3-4FAC-9A5B-54A15BC5A4E8}" destId="{7E01CCF1-4078-46B4-9D16-AC555325B407}" srcOrd="0" destOrd="1" presId="urn:microsoft.com/office/officeart/2005/8/layout/hList1"/>
    <dgm:cxn modelId="{B7B61CE1-B285-49C8-8C69-53EEE6B135C2}" type="presParOf" srcId="{7E6D2D82-6D55-4DC0-BA49-6BD618BDCDCA}" destId="{87715ED4-F247-4B94-B981-4972369E0637}" srcOrd="0" destOrd="0" presId="urn:microsoft.com/office/officeart/2005/8/layout/hList1"/>
    <dgm:cxn modelId="{E8A8BB46-CD6E-4D47-B08C-B6CF6B203DF7}" type="presParOf" srcId="{87715ED4-F247-4B94-B981-4972369E0637}" destId="{BB08CD54-28CA-4B27-B3D1-31664163AF30}" srcOrd="0" destOrd="0" presId="urn:microsoft.com/office/officeart/2005/8/layout/hList1"/>
    <dgm:cxn modelId="{E942854D-D742-4456-A31D-F94CF2EA96BB}" type="presParOf" srcId="{87715ED4-F247-4B94-B981-4972369E0637}" destId="{7E01CCF1-4078-46B4-9D16-AC555325B40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A4EEE43-16C6-458D-807A-A5D3285ADA53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888C668B-572B-412C-A52B-ABCBBC4B8DEA}">
      <dgm:prSet phldrT="[Text]" phldr="0"/>
      <dgm:spPr/>
      <dgm:t>
        <a:bodyPr/>
        <a:lstStyle/>
        <a:p>
          <a:r>
            <a:rPr lang="en-IN" dirty="0"/>
            <a:t>Hooking critical kernel functions</a:t>
          </a:r>
        </a:p>
      </dgm:t>
    </dgm:pt>
    <dgm:pt modelId="{94B42D53-E41B-42F4-8F52-37A276F79BA9}" type="parTrans" cxnId="{59EDBF48-CF71-4302-AFE3-A4DDE38BFBF5}">
      <dgm:prSet/>
      <dgm:spPr/>
      <dgm:t>
        <a:bodyPr/>
        <a:lstStyle/>
        <a:p>
          <a:endParaRPr lang="en-IN"/>
        </a:p>
      </dgm:t>
    </dgm:pt>
    <dgm:pt modelId="{2BC23BE2-6E82-4F63-9BA1-15C78A6710B9}" type="sibTrans" cxnId="{59EDBF48-CF71-4302-AFE3-A4DDE38BFBF5}">
      <dgm:prSet/>
      <dgm:spPr/>
      <dgm:t>
        <a:bodyPr/>
        <a:lstStyle/>
        <a:p>
          <a:endParaRPr lang="en-IN"/>
        </a:p>
      </dgm:t>
    </dgm:pt>
    <dgm:pt modelId="{0524EAD4-5334-4E26-AFD2-5DC33065453D}">
      <dgm:prSet phldrT="[Text]"/>
      <dgm:spPr/>
      <dgm:t>
        <a:bodyPr/>
        <a:lstStyle/>
        <a:p>
          <a:pPr>
            <a:buNone/>
          </a:pPr>
          <a:r>
            <a:rPr lang="en-US" b="1" dirty="0"/>
            <a:t>do_swap_page()</a:t>
          </a:r>
          <a:r>
            <a:rPr lang="en-US" dirty="0"/>
            <a:t> → Captures Virtual Address (VA), Process ID (PID), and Latency during page fault handling.</a:t>
          </a:r>
          <a:endParaRPr lang="en-IN" dirty="0"/>
        </a:p>
      </dgm:t>
    </dgm:pt>
    <dgm:pt modelId="{017411C7-1A06-4D9F-8BB9-C667B9F6375F}" type="parTrans" cxnId="{F47BA7F6-C628-4445-8EAE-7D91C6B4871E}">
      <dgm:prSet/>
      <dgm:spPr/>
      <dgm:t>
        <a:bodyPr/>
        <a:lstStyle/>
        <a:p>
          <a:endParaRPr lang="en-IN"/>
        </a:p>
      </dgm:t>
    </dgm:pt>
    <dgm:pt modelId="{E98F7FEA-1235-4477-BB36-134A7FFD4F19}" type="sibTrans" cxnId="{F47BA7F6-C628-4445-8EAE-7D91C6B4871E}">
      <dgm:prSet/>
      <dgm:spPr/>
      <dgm:t>
        <a:bodyPr/>
        <a:lstStyle/>
        <a:p>
          <a:endParaRPr lang="en-IN"/>
        </a:p>
      </dgm:t>
    </dgm:pt>
    <dgm:pt modelId="{CE77FF1F-321D-4C71-8ADF-76EFC7458CF3}">
      <dgm:prSet phldrT="[Text]"/>
      <dgm:spPr/>
      <dgm:t>
        <a:bodyPr/>
        <a:lstStyle/>
        <a:p>
          <a:pPr>
            <a:buNone/>
          </a:pPr>
          <a:r>
            <a:rPr lang="en-US" dirty="0"/>
            <a:t>Each </a:t>
          </a:r>
          <a:r>
            <a:rPr lang="en-US" b="1" dirty="0"/>
            <a:t>major page fault</a:t>
          </a:r>
          <a:r>
            <a:rPr lang="en-US" dirty="0"/>
            <a:t> triggers the hooked probes.</a:t>
          </a:r>
          <a:endParaRPr lang="en-IN" dirty="0"/>
        </a:p>
      </dgm:t>
    </dgm:pt>
    <dgm:pt modelId="{DC440323-208D-4EF5-93DA-58518F5B4295}" type="parTrans" cxnId="{7EDA8B99-EA79-4FA3-BC15-BE5E41B043C0}">
      <dgm:prSet/>
      <dgm:spPr/>
      <dgm:t>
        <a:bodyPr/>
        <a:lstStyle/>
        <a:p>
          <a:endParaRPr lang="en-IN"/>
        </a:p>
      </dgm:t>
    </dgm:pt>
    <dgm:pt modelId="{70CBBCFD-659D-4986-BEF1-4C9565EDC622}" type="sibTrans" cxnId="{7EDA8B99-EA79-4FA3-BC15-BE5E41B043C0}">
      <dgm:prSet/>
      <dgm:spPr/>
      <dgm:t>
        <a:bodyPr/>
        <a:lstStyle/>
        <a:p>
          <a:endParaRPr lang="en-IN"/>
        </a:p>
      </dgm:t>
    </dgm:pt>
    <dgm:pt modelId="{535905A3-D703-4C7D-AE68-B44D0F8E8D60}">
      <dgm:prSet/>
      <dgm:spPr/>
      <dgm:t>
        <a:bodyPr/>
        <a:lstStyle/>
        <a:p>
          <a:pPr>
            <a:buNone/>
          </a:pPr>
          <a:r>
            <a:rPr lang="en-US" b="1" dirty="0"/>
            <a:t>finish_fault()</a:t>
          </a:r>
          <a:r>
            <a:rPr lang="en-US" dirty="0"/>
            <a:t> → Extracts </a:t>
          </a:r>
          <a:r>
            <a:rPr lang="en-US" b="1" dirty="0"/>
            <a:t>Page Frame Number (PFN)</a:t>
          </a:r>
          <a:r>
            <a:rPr lang="en-US" dirty="0"/>
            <a:t> and Folio structure post fault resolution.</a:t>
          </a:r>
        </a:p>
      </dgm:t>
    </dgm:pt>
    <dgm:pt modelId="{A7272166-5A71-4A36-AD3D-B5D0658BE3EF}" type="parTrans" cxnId="{08A09D1D-A782-4391-975C-4A9A4D2FCC1E}">
      <dgm:prSet/>
      <dgm:spPr/>
      <dgm:t>
        <a:bodyPr/>
        <a:lstStyle/>
        <a:p>
          <a:endParaRPr lang="en-IN"/>
        </a:p>
      </dgm:t>
    </dgm:pt>
    <dgm:pt modelId="{4B080B69-CA3D-4ABF-B04A-76C8B048D356}" type="sibTrans" cxnId="{08A09D1D-A782-4391-975C-4A9A4D2FCC1E}">
      <dgm:prSet/>
      <dgm:spPr/>
      <dgm:t>
        <a:bodyPr/>
        <a:lstStyle/>
        <a:p>
          <a:endParaRPr lang="en-IN"/>
        </a:p>
      </dgm:t>
    </dgm:pt>
    <dgm:pt modelId="{2CEA8FCD-268A-4F6C-91F5-976EEBB7D84A}">
      <dgm:prSet/>
      <dgm:spPr/>
      <dgm:t>
        <a:bodyPr/>
        <a:lstStyle/>
        <a:p>
          <a:pPr>
            <a:buNone/>
          </a:pPr>
          <a:r>
            <a:rPr lang="en-IN" b="1" dirty="0" err="1"/>
            <a:t>vmscan.c</a:t>
          </a:r>
          <a:r>
            <a:rPr lang="en-IN" b="1" dirty="0"/>
            <a:t> → </a:t>
          </a:r>
          <a:r>
            <a:rPr lang="en-IN" b="1" dirty="0" err="1"/>
            <a:t>shrink_list_folio</a:t>
          </a:r>
          <a:r>
            <a:rPr lang="en-IN" b="1" dirty="0"/>
            <a:t>()</a:t>
          </a:r>
          <a:r>
            <a:rPr lang="en-IN" dirty="0"/>
            <a:t> → Monitors </a:t>
          </a:r>
          <a:r>
            <a:rPr lang="en-IN" b="1" dirty="0"/>
            <a:t>victim page selection</a:t>
          </a:r>
          <a:r>
            <a:rPr lang="en-IN" dirty="0"/>
            <a:t> events for LRU validation.</a:t>
          </a:r>
        </a:p>
      </dgm:t>
    </dgm:pt>
    <dgm:pt modelId="{54B47FC6-A0D5-4716-A67A-B862C4F2153F}" type="parTrans" cxnId="{E291D5AA-6AD7-4EBF-95B5-28CD0274659A}">
      <dgm:prSet/>
      <dgm:spPr/>
      <dgm:t>
        <a:bodyPr/>
        <a:lstStyle/>
        <a:p>
          <a:endParaRPr lang="en-IN"/>
        </a:p>
      </dgm:t>
    </dgm:pt>
    <dgm:pt modelId="{FEAE597B-A882-40E2-B7E9-011E47075C1F}" type="sibTrans" cxnId="{E291D5AA-6AD7-4EBF-95B5-28CD0274659A}">
      <dgm:prSet/>
      <dgm:spPr/>
      <dgm:t>
        <a:bodyPr/>
        <a:lstStyle/>
        <a:p>
          <a:endParaRPr lang="en-IN"/>
        </a:p>
      </dgm:t>
    </dgm:pt>
    <dgm:pt modelId="{80B29B4F-6191-4B47-B226-7FE08F251E37}">
      <dgm:prSet/>
      <dgm:spPr/>
      <dgm:t>
        <a:bodyPr/>
        <a:lstStyle/>
        <a:p>
          <a:pPr>
            <a:buNone/>
          </a:pPr>
          <a:r>
            <a:rPr lang="en-IN" dirty="0"/>
            <a:t>Captured entry structure:</a:t>
          </a:r>
          <a:br>
            <a:rPr lang="en-IN" dirty="0"/>
          </a:br>
          <a:r>
            <a:rPr lang="en-IN" dirty="0"/>
            <a:t>[Virtual Address | PFN | PID | Latency | Folio | Fault Timestamp]</a:t>
          </a:r>
        </a:p>
      </dgm:t>
    </dgm:pt>
    <dgm:pt modelId="{323B3D10-9AF8-4F9E-8A94-9BAF17D15C4E}" type="parTrans" cxnId="{2EE0A408-8AFA-4DE2-A8BA-606EC7B21F9E}">
      <dgm:prSet/>
      <dgm:spPr/>
      <dgm:t>
        <a:bodyPr/>
        <a:lstStyle/>
        <a:p>
          <a:endParaRPr lang="en-IN"/>
        </a:p>
      </dgm:t>
    </dgm:pt>
    <dgm:pt modelId="{C005F685-4042-4842-9B12-22124E406D19}" type="sibTrans" cxnId="{2EE0A408-8AFA-4DE2-A8BA-606EC7B21F9E}">
      <dgm:prSet/>
      <dgm:spPr/>
      <dgm:t>
        <a:bodyPr/>
        <a:lstStyle/>
        <a:p>
          <a:endParaRPr lang="en-IN"/>
        </a:p>
      </dgm:t>
    </dgm:pt>
    <dgm:pt modelId="{1022E241-F551-4B8F-A199-85AEA0CDE0B7}">
      <dgm:prSet/>
      <dgm:spPr/>
      <dgm:t>
        <a:bodyPr/>
        <a:lstStyle/>
        <a:p>
          <a:pPr>
            <a:buNone/>
          </a:pPr>
          <a:r>
            <a:rPr lang="en-US" dirty="0"/>
            <a:t>Data streamed to </a:t>
          </a:r>
          <a:r>
            <a:rPr lang="en-US" b="1" dirty="0"/>
            <a:t>user space</a:t>
          </a:r>
          <a:r>
            <a:rPr lang="en-US" dirty="0"/>
            <a:t> via kernel logs for preprocessing and AI training.</a:t>
          </a:r>
        </a:p>
      </dgm:t>
    </dgm:pt>
    <dgm:pt modelId="{38BD9BFA-AAE8-4623-ADDB-67C1BF134819}" type="parTrans" cxnId="{4574EC5C-6A57-43AC-850C-242FEFFFC779}">
      <dgm:prSet/>
      <dgm:spPr/>
      <dgm:t>
        <a:bodyPr/>
        <a:lstStyle/>
        <a:p>
          <a:endParaRPr lang="en-IN"/>
        </a:p>
      </dgm:t>
    </dgm:pt>
    <dgm:pt modelId="{5073B021-6EDC-4146-9879-B87275EA96DA}" type="sibTrans" cxnId="{4574EC5C-6A57-43AC-850C-242FEFFFC779}">
      <dgm:prSet/>
      <dgm:spPr/>
      <dgm:t>
        <a:bodyPr/>
        <a:lstStyle/>
        <a:p>
          <a:endParaRPr lang="en-IN"/>
        </a:p>
      </dgm:t>
    </dgm:pt>
    <dgm:pt modelId="{D3A0A76E-2587-418B-A6BE-D5E35DE49E09}">
      <dgm:prSet phldrT="[Text]" phldr="0"/>
      <dgm:spPr/>
      <dgm:t>
        <a:bodyPr/>
        <a:lstStyle/>
        <a:p>
          <a:r>
            <a:rPr lang="en-IN" dirty="0"/>
            <a:t>Data Abstraction process</a:t>
          </a:r>
        </a:p>
      </dgm:t>
    </dgm:pt>
    <dgm:pt modelId="{015C89AF-62E2-4B02-9688-9084039A751D}" type="parTrans" cxnId="{E299DC17-3F8B-4EB6-BC0C-04BD005430DD}">
      <dgm:prSet/>
      <dgm:spPr/>
      <dgm:t>
        <a:bodyPr/>
        <a:lstStyle/>
        <a:p>
          <a:endParaRPr lang="en-IN"/>
        </a:p>
      </dgm:t>
    </dgm:pt>
    <dgm:pt modelId="{E213C045-7E7A-4777-B114-5DCECECC19AE}" type="sibTrans" cxnId="{E299DC17-3F8B-4EB6-BC0C-04BD005430DD}">
      <dgm:prSet/>
      <dgm:spPr/>
      <dgm:t>
        <a:bodyPr/>
        <a:lstStyle/>
        <a:p>
          <a:endParaRPr lang="en-IN"/>
        </a:p>
      </dgm:t>
    </dgm:pt>
    <dgm:pt modelId="{C953863B-EF62-458D-9A4E-06C785B5250D}">
      <dgm:prSet/>
      <dgm:spPr/>
      <dgm:t>
        <a:bodyPr/>
        <a:lstStyle/>
        <a:p>
          <a:pPr>
            <a:buNone/>
          </a:pPr>
          <a:r>
            <a:rPr lang="en-US" dirty="0"/>
            <a:t>AI </a:t>
          </a:r>
          <a:r>
            <a:rPr lang="en-US"/>
            <a:t>integration layer</a:t>
          </a:r>
          <a:endParaRPr lang="en-US" dirty="0"/>
        </a:p>
      </dgm:t>
    </dgm:pt>
    <dgm:pt modelId="{2E2CE2C6-7CB7-4C3D-9D1C-FC1DB4442EB1}" type="parTrans" cxnId="{F1A2F116-8D7B-4013-9DBD-3EF36AA09FBB}">
      <dgm:prSet/>
      <dgm:spPr/>
      <dgm:t>
        <a:bodyPr/>
        <a:lstStyle/>
        <a:p>
          <a:endParaRPr lang="en-IN"/>
        </a:p>
      </dgm:t>
    </dgm:pt>
    <dgm:pt modelId="{D1FC6208-0886-4F75-981B-20ABB428EAE0}" type="sibTrans" cxnId="{F1A2F116-8D7B-4013-9DBD-3EF36AA09FBB}">
      <dgm:prSet/>
      <dgm:spPr/>
      <dgm:t>
        <a:bodyPr/>
        <a:lstStyle/>
        <a:p>
          <a:endParaRPr lang="en-IN"/>
        </a:p>
      </dgm:t>
    </dgm:pt>
    <dgm:pt modelId="{67391BAF-A73D-4FE7-9E1B-8991F7C0589E}">
      <dgm:prSet/>
      <dgm:spPr/>
      <dgm:t>
        <a:bodyPr/>
        <a:lstStyle/>
        <a:p>
          <a:pPr>
            <a:buNone/>
          </a:pPr>
          <a:r>
            <a:rPr lang="en-US" dirty="0"/>
            <a:t>  During I/O wait, the </a:t>
          </a:r>
          <a:r>
            <a:rPr lang="en-US" b="1" dirty="0"/>
            <a:t>AI Predictor</a:t>
          </a:r>
          <a:r>
            <a:rPr lang="en-US" dirty="0"/>
            <a:t> runs asynchronously to forecast future page demands.</a:t>
          </a:r>
        </a:p>
      </dgm:t>
    </dgm:pt>
    <dgm:pt modelId="{C8B09473-4C2B-4673-80E6-DBC2F4FDF5BC}" type="parTrans" cxnId="{D038CC24-3DE9-46F0-86F5-285F826B7995}">
      <dgm:prSet/>
      <dgm:spPr/>
      <dgm:t>
        <a:bodyPr/>
        <a:lstStyle/>
        <a:p>
          <a:endParaRPr lang="en-IN"/>
        </a:p>
      </dgm:t>
    </dgm:pt>
    <dgm:pt modelId="{B496C4F5-3C09-457F-9848-D11474288C88}" type="sibTrans" cxnId="{D038CC24-3DE9-46F0-86F5-285F826B7995}">
      <dgm:prSet/>
      <dgm:spPr/>
      <dgm:t>
        <a:bodyPr/>
        <a:lstStyle/>
        <a:p>
          <a:endParaRPr lang="en-IN"/>
        </a:p>
      </dgm:t>
    </dgm:pt>
    <dgm:pt modelId="{8A6404D2-625C-49C6-8F82-99F1E9801EBA}">
      <dgm:prSet/>
      <dgm:spPr/>
      <dgm:t>
        <a:bodyPr/>
        <a:lstStyle/>
        <a:p>
          <a:pPr>
            <a:buNone/>
          </a:pPr>
          <a:r>
            <a:rPr lang="en-US"/>
            <a:t>The </a:t>
          </a:r>
          <a:r>
            <a:rPr lang="en-US" b="1"/>
            <a:t>Trust Controller</a:t>
          </a:r>
          <a:r>
            <a:rPr lang="en-US"/>
            <a:t> validates AI recommendations before allowing victim eviction.</a:t>
          </a:r>
        </a:p>
      </dgm:t>
    </dgm:pt>
    <dgm:pt modelId="{FCBFEB82-FC63-4A2B-A89C-1994747B18A4}" type="parTrans" cxnId="{D4ECD825-DFD3-4F4F-A3FC-C897903A8B3E}">
      <dgm:prSet/>
      <dgm:spPr/>
      <dgm:t>
        <a:bodyPr/>
        <a:lstStyle/>
        <a:p>
          <a:endParaRPr lang="en-IN"/>
        </a:p>
      </dgm:t>
    </dgm:pt>
    <dgm:pt modelId="{571D90D0-B147-4CE8-8FF5-CEF654584A40}" type="sibTrans" cxnId="{D4ECD825-DFD3-4F4F-A3FC-C897903A8B3E}">
      <dgm:prSet/>
      <dgm:spPr/>
      <dgm:t>
        <a:bodyPr/>
        <a:lstStyle/>
        <a:p>
          <a:endParaRPr lang="en-IN"/>
        </a:p>
      </dgm:t>
    </dgm:pt>
    <dgm:pt modelId="{8D284BE2-390E-4DE2-8FF8-45D6444F5D04}">
      <dgm:prSet/>
      <dgm:spPr/>
      <dgm:t>
        <a:bodyPr/>
        <a:lstStyle/>
        <a:p>
          <a:pPr>
            <a:buNone/>
          </a:pPr>
          <a:r>
            <a:rPr lang="en-IN" dirty="0"/>
            <a:t>Ensures </a:t>
          </a:r>
          <a:r>
            <a:rPr lang="en-IN" b="1" dirty="0"/>
            <a:t>no </a:t>
          </a:r>
          <a:r>
            <a:rPr lang="en-IN" dirty="0"/>
            <a:t>performance</a:t>
          </a:r>
          <a:r>
            <a:rPr lang="en-IN" b="1" dirty="0"/>
            <a:t> degradation</a:t>
          </a:r>
          <a:r>
            <a:rPr lang="en-IN" dirty="0"/>
            <a:t> and maintains OS stability.</a:t>
          </a:r>
        </a:p>
      </dgm:t>
    </dgm:pt>
    <dgm:pt modelId="{BA95C989-999C-4C1E-9EF6-6DBF0582B675}" type="parTrans" cxnId="{A16BFC13-FED5-4CD6-ACC7-003AED9A6DF1}">
      <dgm:prSet/>
      <dgm:spPr/>
      <dgm:t>
        <a:bodyPr/>
        <a:lstStyle/>
        <a:p>
          <a:endParaRPr lang="en-IN"/>
        </a:p>
      </dgm:t>
    </dgm:pt>
    <dgm:pt modelId="{B42088A3-091A-44AC-B9CC-A89D80F3EBA1}" type="sibTrans" cxnId="{A16BFC13-FED5-4CD6-ACC7-003AED9A6DF1}">
      <dgm:prSet/>
      <dgm:spPr/>
      <dgm:t>
        <a:bodyPr/>
        <a:lstStyle/>
        <a:p>
          <a:endParaRPr lang="en-IN"/>
        </a:p>
      </dgm:t>
    </dgm:pt>
    <dgm:pt modelId="{7F51FE20-49EE-4FA4-889C-F81B6BC8B895}" type="pres">
      <dgm:prSet presAssocID="{8A4EEE43-16C6-458D-807A-A5D3285ADA53}" presName="linear" presStyleCnt="0">
        <dgm:presLayoutVars>
          <dgm:dir/>
          <dgm:animLvl val="lvl"/>
          <dgm:resizeHandles val="exact"/>
        </dgm:presLayoutVars>
      </dgm:prSet>
      <dgm:spPr/>
    </dgm:pt>
    <dgm:pt modelId="{2EF8EA73-4B5A-444C-BAAD-74162ADB2052}" type="pres">
      <dgm:prSet presAssocID="{888C668B-572B-412C-A52B-ABCBBC4B8DEA}" presName="parentLin" presStyleCnt="0"/>
      <dgm:spPr/>
    </dgm:pt>
    <dgm:pt modelId="{C818DE11-E8C5-4156-B1AD-F381E35D4B91}" type="pres">
      <dgm:prSet presAssocID="{888C668B-572B-412C-A52B-ABCBBC4B8DEA}" presName="parentLeftMargin" presStyleLbl="node1" presStyleIdx="0" presStyleCnt="3"/>
      <dgm:spPr/>
    </dgm:pt>
    <dgm:pt modelId="{6D57B7DF-4671-4123-BDB7-A6C895F477B7}" type="pres">
      <dgm:prSet presAssocID="{888C668B-572B-412C-A52B-ABCBBC4B8DE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C47B449-E4D9-40D2-9A7B-C376D8B8B57E}" type="pres">
      <dgm:prSet presAssocID="{888C668B-572B-412C-A52B-ABCBBC4B8DEA}" presName="negativeSpace" presStyleCnt="0"/>
      <dgm:spPr/>
    </dgm:pt>
    <dgm:pt modelId="{6ACB8AB7-F6E8-46B1-8B80-BF2FD2845487}" type="pres">
      <dgm:prSet presAssocID="{888C668B-572B-412C-A52B-ABCBBC4B8DEA}" presName="childText" presStyleLbl="conFgAcc1" presStyleIdx="0" presStyleCnt="3">
        <dgm:presLayoutVars>
          <dgm:bulletEnabled val="1"/>
        </dgm:presLayoutVars>
      </dgm:prSet>
      <dgm:spPr/>
    </dgm:pt>
    <dgm:pt modelId="{E33731A4-072D-44C1-BB58-C5AD15EF869D}" type="pres">
      <dgm:prSet presAssocID="{2BC23BE2-6E82-4F63-9BA1-15C78A6710B9}" presName="spaceBetweenRectangles" presStyleCnt="0"/>
      <dgm:spPr/>
    </dgm:pt>
    <dgm:pt modelId="{DCE2E03D-A3EA-41B9-BD34-498D7715DD0D}" type="pres">
      <dgm:prSet presAssocID="{D3A0A76E-2587-418B-A6BE-D5E35DE49E09}" presName="parentLin" presStyleCnt="0"/>
      <dgm:spPr/>
    </dgm:pt>
    <dgm:pt modelId="{7150D374-9F6B-4868-B100-EA27CD860E79}" type="pres">
      <dgm:prSet presAssocID="{D3A0A76E-2587-418B-A6BE-D5E35DE49E09}" presName="parentLeftMargin" presStyleLbl="node1" presStyleIdx="0" presStyleCnt="3"/>
      <dgm:spPr/>
    </dgm:pt>
    <dgm:pt modelId="{AEB24C8A-9D80-4E4E-A386-BC7DBAC7170E}" type="pres">
      <dgm:prSet presAssocID="{D3A0A76E-2587-418B-A6BE-D5E35DE49E0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3EDAE05-A35F-4473-93BA-4D59A62C93FA}" type="pres">
      <dgm:prSet presAssocID="{D3A0A76E-2587-418B-A6BE-D5E35DE49E09}" presName="negativeSpace" presStyleCnt="0"/>
      <dgm:spPr/>
    </dgm:pt>
    <dgm:pt modelId="{D5BBB354-BD46-4A3A-9C02-C9C1EE40B202}" type="pres">
      <dgm:prSet presAssocID="{D3A0A76E-2587-418B-A6BE-D5E35DE49E09}" presName="childText" presStyleLbl="conFgAcc1" presStyleIdx="1" presStyleCnt="3">
        <dgm:presLayoutVars>
          <dgm:bulletEnabled val="1"/>
        </dgm:presLayoutVars>
      </dgm:prSet>
      <dgm:spPr/>
    </dgm:pt>
    <dgm:pt modelId="{5CB5D884-0AD3-4349-88A7-F40003A8134D}" type="pres">
      <dgm:prSet presAssocID="{E213C045-7E7A-4777-B114-5DCECECC19AE}" presName="spaceBetweenRectangles" presStyleCnt="0"/>
      <dgm:spPr/>
    </dgm:pt>
    <dgm:pt modelId="{86DAB1A4-4C11-4631-948D-DB11CADFB193}" type="pres">
      <dgm:prSet presAssocID="{C953863B-EF62-458D-9A4E-06C785B5250D}" presName="parentLin" presStyleCnt="0"/>
      <dgm:spPr/>
    </dgm:pt>
    <dgm:pt modelId="{0B59C40C-9FBD-44F4-87DA-DA81FF4E8EDC}" type="pres">
      <dgm:prSet presAssocID="{C953863B-EF62-458D-9A4E-06C785B5250D}" presName="parentLeftMargin" presStyleLbl="node1" presStyleIdx="1" presStyleCnt="3"/>
      <dgm:spPr/>
    </dgm:pt>
    <dgm:pt modelId="{90F378F3-BAF2-45A3-80CE-3010531EE0BA}" type="pres">
      <dgm:prSet presAssocID="{C953863B-EF62-458D-9A4E-06C785B5250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CBC7FB8-300D-46C7-AD58-39641461F319}" type="pres">
      <dgm:prSet presAssocID="{C953863B-EF62-458D-9A4E-06C785B5250D}" presName="negativeSpace" presStyleCnt="0"/>
      <dgm:spPr/>
    </dgm:pt>
    <dgm:pt modelId="{2C3268FF-7CAF-4FDC-BF35-7E7C44DCFAB8}" type="pres">
      <dgm:prSet presAssocID="{C953863B-EF62-458D-9A4E-06C785B5250D}" presName="childText" presStyleLbl="conFgAcc1" presStyleIdx="2" presStyleCnt="3" custLinFactNeighborX="-1335" custLinFactNeighborY="22205">
        <dgm:presLayoutVars>
          <dgm:bulletEnabled val="1"/>
        </dgm:presLayoutVars>
      </dgm:prSet>
      <dgm:spPr/>
    </dgm:pt>
  </dgm:ptLst>
  <dgm:cxnLst>
    <dgm:cxn modelId="{2EE0A408-8AFA-4DE2-A8BA-606EC7B21F9E}" srcId="{D3A0A76E-2587-418B-A6BE-D5E35DE49E09}" destId="{80B29B4F-6191-4B47-B226-7FE08F251E37}" srcOrd="1" destOrd="0" parTransId="{323B3D10-9AF8-4F9E-8A94-9BAF17D15C4E}" sibTransId="{C005F685-4042-4842-9B12-22124E406D19}"/>
    <dgm:cxn modelId="{D9188D0A-976C-4A1E-81D0-BFC7C99DBC50}" type="presOf" srcId="{67391BAF-A73D-4FE7-9E1B-8991F7C0589E}" destId="{2C3268FF-7CAF-4FDC-BF35-7E7C44DCFAB8}" srcOrd="0" destOrd="0" presId="urn:microsoft.com/office/officeart/2005/8/layout/list1"/>
    <dgm:cxn modelId="{5E89AF10-DFD8-4857-BFAA-0E8018615C00}" type="presOf" srcId="{CE77FF1F-321D-4C71-8ADF-76EFC7458CF3}" destId="{D5BBB354-BD46-4A3A-9C02-C9C1EE40B202}" srcOrd="0" destOrd="0" presId="urn:microsoft.com/office/officeart/2005/8/layout/list1"/>
    <dgm:cxn modelId="{A16BFC13-FED5-4CD6-ACC7-003AED9A6DF1}" srcId="{C953863B-EF62-458D-9A4E-06C785B5250D}" destId="{8D284BE2-390E-4DE2-8FF8-45D6444F5D04}" srcOrd="2" destOrd="0" parTransId="{BA95C989-999C-4C1E-9EF6-6DBF0582B675}" sibTransId="{B42088A3-091A-44AC-B9CC-A89D80F3EBA1}"/>
    <dgm:cxn modelId="{F1A2F116-8D7B-4013-9DBD-3EF36AA09FBB}" srcId="{8A4EEE43-16C6-458D-807A-A5D3285ADA53}" destId="{C953863B-EF62-458D-9A4E-06C785B5250D}" srcOrd="2" destOrd="0" parTransId="{2E2CE2C6-7CB7-4C3D-9D1C-FC1DB4442EB1}" sibTransId="{D1FC6208-0886-4F75-981B-20ABB428EAE0}"/>
    <dgm:cxn modelId="{E299DC17-3F8B-4EB6-BC0C-04BD005430DD}" srcId="{8A4EEE43-16C6-458D-807A-A5D3285ADA53}" destId="{D3A0A76E-2587-418B-A6BE-D5E35DE49E09}" srcOrd="1" destOrd="0" parTransId="{015C89AF-62E2-4B02-9688-9084039A751D}" sibTransId="{E213C045-7E7A-4777-B114-5DCECECC19AE}"/>
    <dgm:cxn modelId="{08A09D1D-A782-4391-975C-4A9A4D2FCC1E}" srcId="{888C668B-572B-412C-A52B-ABCBBC4B8DEA}" destId="{535905A3-D703-4C7D-AE68-B44D0F8E8D60}" srcOrd="1" destOrd="0" parTransId="{A7272166-5A71-4A36-AD3D-B5D0658BE3EF}" sibTransId="{4B080B69-CA3D-4ABF-B04A-76C8B048D356}"/>
    <dgm:cxn modelId="{D038CC24-3DE9-46F0-86F5-285F826B7995}" srcId="{C953863B-EF62-458D-9A4E-06C785B5250D}" destId="{67391BAF-A73D-4FE7-9E1B-8991F7C0589E}" srcOrd="0" destOrd="0" parTransId="{C8B09473-4C2B-4673-80E6-DBC2F4FDF5BC}" sibTransId="{B496C4F5-3C09-457F-9848-D11474288C88}"/>
    <dgm:cxn modelId="{D4ECD825-DFD3-4F4F-A3FC-C897903A8B3E}" srcId="{C953863B-EF62-458D-9A4E-06C785B5250D}" destId="{8A6404D2-625C-49C6-8F82-99F1E9801EBA}" srcOrd="1" destOrd="0" parTransId="{FCBFEB82-FC63-4A2B-A89C-1994747B18A4}" sibTransId="{571D90D0-B147-4CE8-8FF5-CEF654584A40}"/>
    <dgm:cxn modelId="{B1BC1328-FB18-40B1-A44C-853414741389}" type="presOf" srcId="{D3A0A76E-2587-418B-A6BE-D5E35DE49E09}" destId="{7150D374-9F6B-4868-B100-EA27CD860E79}" srcOrd="0" destOrd="0" presId="urn:microsoft.com/office/officeart/2005/8/layout/list1"/>
    <dgm:cxn modelId="{3CDA2736-C0F6-4B53-9B2B-C4FBE8827A28}" type="presOf" srcId="{C953863B-EF62-458D-9A4E-06C785B5250D}" destId="{0B59C40C-9FBD-44F4-87DA-DA81FF4E8EDC}" srcOrd="0" destOrd="0" presId="urn:microsoft.com/office/officeart/2005/8/layout/list1"/>
    <dgm:cxn modelId="{4574EC5C-6A57-43AC-850C-242FEFFFC779}" srcId="{D3A0A76E-2587-418B-A6BE-D5E35DE49E09}" destId="{1022E241-F551-4B8F-A199-85AEA0CDE0B7}" srcOrd="2" destOrd="0" parTransId="{38BD9BFA-AAE8-4623-ADDB-67C1BF134819}" sibTransId="{5073B021-6EDC-4146-9879-B87275EA96DA}"/>
    <dgm:cxn modelId="{5B18AF45-013E-4AAF-95D6-3BE4B8C7967C}" type="presOf" srcId="{D3A0A76E-2587-418B-A6BE-D5E35DE49E09}" destId="{AEB24C8A-9D80-4E4E-A386-BC7DBAC7170E}" srcOrd="1" destOrd="0" presId="urn:microsoft.com/office/officeart/2005/8/layout/list1"/>
    <dgm:cxn modelId="{59EDBF48-CF71-4302-AFE3-A4DDE38BFBF5}" srcId="{8A4EEE43-16C6-458D-807A-A5D3285ADA53}" destId="{888C668B-572B-412C-A52B-ABCBBC4B8DEA}" srcOrd="0" destOrd="0" parTransId="{94B42D53-E41B-42F4-8F52-37A276F79BA9}" sibTransId="{2BC23BE2-6E82-4F63-9BA1-15C78A6710B9}"/>
    <dgm:cxn modelId="{28BAFE4B-F76B-4E03-910B-4FD00B72339F}" type="presOf" srcId="{2CEA8FCD-268A-4F6C-91F5-976EEBB7D84A}" destId="{6ACB8AB7-F6E8-46B1-8B80-BF2FD2845487}" srcOrd="0" destOrd="2" presId="urn:microsoft.com/office/officeart/2005/8/layout/list1"/>
    <dgm:cxn modelId="{69769E72-8796-4281-88B9-CAEED0BEB938}" type="presOf" srcId="{0524EAD4-5334-4E26-AFD2-5DC33065453D}" destId="{6ACB8AB7-F6E8-46B1-8B80-BF2FD2845487}" srcOrd="0" destOrd="0" presId="urn:microsoft.com/office/officeart/2005/8/layout/list1"/>
    <dgm:cxn modelId="{FA2A2B58-D42E-4EF1-8576-E6F9CDF77D2E}" type="presOf" srcId="{888C668B-572B-412C-A52B-ABCBBC4B8DEA}" destId="{C818DE11-E8C5-4156-B1AD-F381E35D4B91}" srcOrd="0" destOrd="0" presId="urn:microsoft.com/office/officeart/2005/8/layout/list1"/>
    <dgm:cxn modelId="{301A897E-A86C-4E79-B088-989416B0E339}" type="presOf" srcId="{80B29B4F-6191-4B47-B226-7FE08F251E37}" destId="{D5BBB354-BD46-4A3A-9C02-C9C1EE40B202}" srcOrd="0" destOrd="1" presId="urn:microsoft.com/office/officeart/2005/8/layout/list1"/>
    <dgm:cxn modelId="{DE4E4E86-DE28-455A-A678-E825B21731BD}" type="presOf" srcId="{8A6404D2-625C-49C6-8F82-99F1E9801EBA}" destId="{2C3268FF-7CAF-4FDC-BF35-7E7C44DCFAB8}" srcOrd="0" destOrd="1" presId="urn:microsoft.com/office/officeart/2005/8/layout/list1"/>
    <dgm:cxn modelId="{64836A8D-40EB-4840-A99E-EBBFBF4BB7E5}" type="presOf" srcId="{888C668B-572B-412C-A52B-ABCBBC4B8DEA}" destId="{6D57B7DF-4671-4123-BDB7-A6C895F477B7}" srcOrd="1" destOrd="0" presId="urn:microsoft.com/office/officeart/2005/8/layout/list1"/>
    <dgm:cxn modelId="{7EDA8B99-EA79-4FA3-BC15-BE5E41B043C0}" srcId="{D3A0A76E-2587-418B-A6BE-D5E35DE49E09}" destId="{CE77FF1F-321D-4C71-8ADF-76EFC7458CF3}" srcOrd="0" destOrd="0" parTransId="{DC440323-208D-4EF5-93DA-58518F5B4295}" sibTransId="{70CBBCFD-659D-4986-BEF1-4C9565EDC622}"/>
    <dgm:cxn modelId="{E291D5AA-6AD7-4EBF-95B5-28CD0274659A}" srcId="{888C668B-572B-412C-A52B-ABCBBC4B8DEA}" destId="{2CEA8FCD-268A-4F6C-91F5-976EEBB7D84A}" srcOrd="2" destOrd="0" parTransId="{54B47FC6-A0D5-4716-A67A-B862C4F2153F}" sibTransId="{FEAE597B-A882-40E2-B7E9-011E47075C1F}"/>
    <dgm:cxn modelId="{25A21BBE-F64C-42E6-B327-C02C3DC8D44D}" type="presOf" srcId="{8A4EEE43-16C6-458D-807A-A5D3285ADA53}" destId="{7F51FE20-49EE-4FA4-889C-F81B6BC8B895}" srcOrd="0" destOrd="0" presId="urn:microsoft.com/office/officeart/2005/8/layout/list1"/>
    <dgm:cxn modelId="{47D936C9-9194-4E26-9FE8-FEC9A9CDC95E}" type="presOf" srcId="{C953863B-EF62-458D-9A4E-06C785B5250D}" destId="{90F378F3-BAF2-45A3-80CE-3010531EE0BA}" srcOrd="1" destOrd="0" presId="urn:microsoft.com/office/officeart/2005/8/layout/list1"/>
    <dgm:cxn modelId="{CA1B56CE-69D5-4FAC-AC81-87A69DAC36FA}" type="presOf" srcId="{1022E241-F551-4B8F-A199-85AEA0CDE0B7}" destId="{D5BBB354-BD46-4A3A-9C02-C9C1EE40B202}" srcOrd="0" destOrd="2" presId="urn:microsoft.com/office/officeart/2005/8/layout/list1"/>
    <dgm:cxn modelId="{355578D7-3A36-4069-9765-7BB3C28DA43E}" type="presOf" srcId="{535905A3-D703-4C7D-AE68-B44D0F8E8D60}" destId="{6ACB8AB7-F6E8-46B1-8B80-BF2FD2845487}" srcOrd="0" destOrd="1" presId="urn:microsoft.com/office/officeart/2005/8/layout/list1"/>
    <dgm:cxn modelId="{A0261CEE-ACC5-4F6C-860C-EF72198CBFB8}" type="presOf" srcId="{8D284BE2-390E-4DE2-8FF8-45D6444F5D04}" destId="{2C3268FF-7CAF-4FDC-BF35-7E7C44DCFAB8}" srcOrd="0" destOrd="2" presId="urn:microsoft.com/office/officeart/2005/8/layout/list1"/>
    <dgm:cxn modelId="{F47BA7F6-C628-4445-8EAE-7D91C6B4871E}" srcId="{888C668B-572B-412C-A52B-ABCBBC4B8DEA}" destId="{0524EAD4-5334-4E26-AFD2-5DC33065453D}" srcOrd="0" destOrd="0" parTransId="{017411C7-1A06-4D9F-8BB9-C667B9F6375F}" sibTransId="{E98F7FEA-1235-4477-BB36-134A7FFD4F19}"/>
    <dgm:cxn modelId="{C434161B-1346-49C8-BB8F-488E44CB5C09}" type="presParOf" srcId="{7F51FE20-49EE-4FA4-889C-F81B6BC8B895}" destId="{2EF8EA73-4B5A-444C-BAAD-74162ADB2052}" srcOrd="0" destOrd="0" presId="urn:microsoft.com/office/officeart/2005/8/layout/list1"/>
    <dgm:cxn modelId="{87A00243-EE7B-481D-AC2C-B8E957EE9F41}" type="presParOf" srcId="{2EF8EA73-4B5A-444C-BAAD-74162ADB2052}" destId="{C818DE11-E8C5-4156-B1AD-F381E35D4B91}" srcOrd="0" destOrd="0" presId="urn:microsoft.com/office/officeart/2005/8/layout/list1"/>
    <dgm:cxn modelId="{4280601D-94CA-49CA-B6E0-9BD0ED301FD5}" type="presParOf" srcId="{2EF8EA73-4B5A-444C-BAAD-74162ADB2052}" destId="{6D57B7DF-4671-4123-BDB7-A6C895F477B7}" srcOrd="1" destOrd="0" presId="urn:microsoft.com/office/officeart/2005/8/layout/list1"/>
    <dgm:cxn modelId="{25CD8578-833B-4DF0-B587-C3AD8A40F5CC}" type="presParOf" srcId="{7F51FE20-49EE-4FA4-889C-F81B6BC8B895}" destId="{7C47B449-E4D9-40D2-9A7B-C376D8B8B57E}" srcOrd="1" destOrd="0" presId="urn:microsoft.com/office/officeart/2005/8/layout/list1"/>
    <dgm:cxn modelId="{8D5CFF91-EC92-413D-9E1F-EE01F2B5FE44}" type="presParOf" srcId="{7F51FE20-49EE-4FA4-889C-F81B6BC8B895}" destId="{6ACB8AB7-F6E8-46B1-8B80-BF2FD2845487}" srcOrd="2" destOrd="0" presId="urn:microsoft.com/office/officeart/2005/8/layout/list1"/>
    <dgm:cxn modelId="{28AEBAF6-5AAD-427F-936E-6426EC781792}" type="presParOf" srcId="{7F51FE20-49EE-4FA4-889C-F81B6BC8B895}" destId="{E33731A4-072D-44C1-BB58-C5AD15EF869D}" srcOrd="3" destOrd="0" presId="urn:microsoft.com/office/officeart/2005/8/layout/list1"/>
    <dgm:cxn modelId="{1061D38D-46F7-4E56-A08D-081940C2000F}" type="presParOf" srcId="{7F51FE20-49EE-4FA4-889C-F81B6BC8B895}" destId="{DCE2E03D-A3EA-41B9-BD34-498D7715DD0D}" srcOrd="4" destOrd="0" presId="urn:microsoft.com/office/officeart/2005/8/layout/list1"/>
    <dgm:cxn modelId="{51E2D30F-34D7-4801-8896-8F416279C3BC}" type="presParOf" srcId="{DCE2E03D-A3EA-41B9-BD34-498D7715DD0D}" destId="{7150D374-9F6B-4868-B100-EA27CD860E79}" srcOrd="0" destOrd="0" presId="urn:microsoft.com/office/officeart/2005/8/layout/list1"/>
    <dgm:cxn modelId="{C74D3229-2466-47CA-8113-317A75854E45}" type="presParOf" srcId="{DCE2E03D-A3EA-41B9-BD34-498D7715DD0D}" destId="{AEB24C8A-9D80-4E4E-A386-BC7DBAC7170E}" srcOrd="1" destOrd="0" presId="urn:microsoft.com/office/officeart/2005/8/layout/list1"/>
    <dgm:cxn modelId="{6388B8A3-6191-446B-B31F-4BAED404868A}" type="presParOf" srcId="{7F51FE20-49EE-4FA4-889C-F81B6BC8B895}" destId="{F3EDAE05-A35F-4473-93BA-4D59A62C93FA}" srcOrd="5" destOrd="0" presId="urn:microsoft.com/office/officeart/2005/8/layout/list1"/>
    <dgm:cxn modelId="{6326BAFB-1306-4F7F-BF1C-F16AC881B92A}" type="presParOf" srcId="{7F51FE20-49EE-4FA4-889C-F81B6BC8B895}" destId="{D5BBB354-BD46-4A3A-9C02-C9C1EE40B202}" srcOrd="6" destOrd="0" presId="urn:microsoft.com/office/officeart/2005/8/layout/list1"/>
    <dgm:cxn modelId="{0A3340F2-8327-4DFD-A860-4DDDB6B2C680}" type="presParOf" srcId="{7F51FE20-49EE-4FA4-889C-F81B6BC8B895}" destId="{5CB5D884-0AD3-4349-88A7-F40003A8134D}" srcOrd="7" destOrd="0" presId="urn:microsoft.com/office/officeart/2005/8/layout/list1"/>
    <dgm:cxn modelId="{F9FC84F4-3D34-4AA2-BA77-581732EF8CAB}" type="presParOf" srcId="{7F51FE20-49EE-4FA4-889C-F81B6BC8B895}" destId="{86DAB1A4-4C11-4631-948D-DB11CADFB193}" srcOrd="8" destOrd="0" presId="urn:microsoft.com/office/officeart/2005/8/layout/list1"/>
    <dgm:cxn modelId="{66AABBD9-B184-4DE6-8A59-C827555C40C7}" type="presParOf" srcId="{86DAB1A4-4C11-4631-948D-DB11CADFB193}" destId="{0B59C40C-9FBD-44F4-87DA-DA81FF4E8EDC}" srcOrd="0" destOrd="0" presId="urn:microsoft.com/office/officeart/2005/8/layout/list1"/>
    <dgm:cxn modelId="{4662C61D-2F71-4D8B-8486-80DDD3573DCA}" type="presParOf" srcId="{86DAB1A4-4C11-4631-948D-DB11CADFB193}" destId="{90F378F3-BAF2-45A3-80CE-3010531EE0BA}" srcOrd="1" destOrd="0" presId="urn:microsoft.com/office/officeart/2005/8/layout/list1"/>
    <dgm:cxn modelId="{31F6E778-0110-4DAE-A718-3C774EDBFA54}" type="presParOf" srcId="{7F51FE20-49EE-4FA4-889C-F81B6BC8B895}" destId="{FCBC7FB8-300D-46C7-AD58-39641461F319}" srcOrd="9" destOrd="0" presId="urn:microsoft.com/office/officeart/2005/8/layout/list1"/>
    <dgm:cxn modelId="{9FF73D62-32B1-4F97-938C-C3B510FAEF5D}" type="presParOf" srcId="{7F51FE20-49EE-4FA4-889C-F81B6BC8B895}" destId="{2C3268FF-7CAF-4FDC-BF35-7E7C44DCFAB8}" srcOrd="10" destOrd="0" presId="urn:microsoft.com/office/officeart/2005/8/layout/list1"/>
  </dgm:cxnLst>
  <dgm:bg>
    <a:solidFill>
      <a:schemeClr val="tx1">
        <a:lumMod val="95000"/>
        <a:lumOff val="5000"/>
      </a:schemeClr>
    </a:solidFill>
    <a:effectLst>
      <a:outerShdw blurRad="63500" sx="102000" sy="102000" algn="ctr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FD3E3D-EA06-41AF-A858-27FD63738FA1}">
      <dsp:nvSpPr>
        <dsp:cNvPr id="0" name=""/>
        <dsp:cNvSpPr/>
      </dsp:nvSpPr>
      <dsp:spPr>
        <a:xfrm>
          <a:off x="0" y="4339"/>
          <a:ext cx="3286583" cy="3168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/>
            <a:t>System Layers Overview</a:t>
          </a:r>
          <a:endParaRPr lang="en-IN" sz="1100" kern="1200"/>
        </a:p>
      </dsp:txBody>
      <dsp:txXfrm>
        <a:off x="0" y="4339"/>
        <a:ext cx="3286583" cy="316800"/>
      </dsp:txXfrm>
    </dsp:sp>
    <dsp:sp modelId="{DA0B74E0-1356-4E61-9899-5A5C54553CDE}">
      <dsp:nvSpPr>
        <dsp:cNvPr id="0" name=""/>
        <dsp:cNvSpPr/>
      </dsp:nvSpPr>
      <dsp:spPr>
        <a:xfrm>
          <a:off x="0" y="321139"/>
          <a:ext cx="3286583" cy="21136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b="1" i="0" kern="1200" dirty="0"/>
            <a:t>Kernel Layer</a:t>
          </a:r>
          <a:br>
            <a:rPr lang="en-IN" sz="1100" b="0" i="0" kern="1200" dirty="0"/>
          </a:br>
          <a:r>
            <a:rPr lang="en-IN" sz="1100" b="0" i="0" kern="1200" dirty="0"/>
            <a:t>Captures real-time PFN major‑fault data using </a:t>
          </a:r>
          <a:r>
            <a:rPr lang="en-IN" sz="1100" b="0" i="0" kern="1200" dirty="0" err="1"/>
            <a:t>Kprobes</a:t>
          </a:r>
          <a:r>
            <a:rPr lang="en-IN" sz="1100" b="0" i="0" kern="1200" dirty="0"/>
            <a:t>.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b="1" i="0" kern="1200" dirty="0"/>
            <a:t>ML Processing Layer</a:t>
          </a:r>
          <a:br>
            <a:rPr lang="en-IN" sz="1100" b="0" i="0" kern="1200" dirty="0"/>
          </a:br>
          <a:r>
            <a:rPr lang="en-IN" sz="1100" b="0" i="0" kern="1200" dirty="0"/>
            <a:t>Preprocesses sequences, slices PFN into components, predicts future faults.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b="1" i="0" kern="1200" dirty="0"/>
            <a:t>Decision Engine</a:t>
          </a:r>
          <a:br>
            <a:rPr lang="en-IN" sz="1100" b="0" i="0" kern="1200" dirty="0"/>
          </a:br>
          <a:r>
            <a:rPr lang="en-IN" sz="1100" b="0" i="0" kern="1200" dirty="0"/>
            <a:t>Combines OS logic + ML prediction to validate or override victim selection.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b="1" i="0" kern="1200" dirty="0"/>
            <a:t>User Interface Layer</a:t>
          </a:r>
          <a:br>
            <a:rPr lang="en-IN" sz="1100" b="0" i="0" kern="1200" dirty="0"/>
          </a:br>
          <a:r>
            <a:rPr lang="en-IN" sz="1100" b="0" i="0" kern="1200" dirty="0"/>
            <a:t>Python‑based dashboard for data visualization &amp; model monitoring.</a:t>
          </a:r>
          <a:endParaRPr lang="en-IN" sz="1100" kern="1200" dirty="0"/>
        </a:p>
      </dsp:txBody>
      <dsp:txXfrm>
        <a:off x="0" y="321139"/>
        <a:ext cx="3286583" cy="21136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F304F-BBB1-4377-A5F1-6C6AC8271161}">
      <dsp:nvSpPr>
        <dsp:cNvPr id="0" name=""/>
        <dsp:cNvSpPr/>
      </dsp:nvSpPr>
      <dsp:spPr>
        <a:xfrm>
          <a:off x="0" y="52285"/>
          <a:ext cx="3043189" cy="3456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Kernel Instrumentation (</a:t>
          </a:r>
          <a:r>
            <a:rPr lang="en-IN" sz="1200" kern="1200" dirty="0" err="1"/>
            <a:t>Kprobes</a:t>
          </a:r>
          <a:r>
            <a:rPr lang="en-IN" sz="1200" kern="1200" dirty="0"/>
            <a:t>)</a:t>
          </a:r>
        </a:p>
      </dsp:txBody>
      <dsp:txXfrm>
        <a:off x="0" y="52285"/>
        <a:ext cx="3043189" cy="345600"/>
      </dsp:txXfrm>
    </dsp:sp>
    <dsp:sp modelId="{FA82CB87-9EE5-4995-8BB7-9B3C9EC9290F}">
      <dsp:nvSpPr>
        <dsp:cNvPr id="0" name=""/>
        <dsp:cNvSpPr/>
      </dsp:nvSpPr>
      <dsp:spPr>
        <a:xfrm>
          <a:off x="0" y="338792"/>
          <a:ext cx="3043189" cy="21003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i="0" kern="1200" dirty="0" err="1"/>
            <a:t>do_swap_page</a:t>
          </a:r>
          <a:r>
            <a:rPr lang="en-IN" sz="1200" b="1" i="0" kern="1200" dirty="0"/>
            <a:t> → </a:t>
          </a:r>
          <a:r>
            <a:rPr lang="en-IN" sz="1200" b="1" i="0" kern="1200" dirty="0" err="1"/>
            <a:t>pre_handler</a:t>
          </a:r>
          <a:br>
            <a:rPr lang="en-IN" sz="1200" b="0" i="0" kern="1200" dirty="0"/>
          </a:br>
          <a:r>
            <a:rPr lang="en-IN" sz="1200" b="0" i="0" kern="1200" dirty="0"/>
            <a:t>Captures incoming major‑fault context.</a:t>
          </a:r>
          <a:endParaRPr lang="en-IN" sz="1200" kern="1200" dirty="0"/>
        </a:p>
        <a:p>
          <a:pPr marL="114300" lvl="1" indent="-114300" algn="l" defTabSz="5334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i="0" kern="1200" dirty="0" err="1"/>
            <a:t>finish_fault</a:t>
          </a:r>
          <a:r>
            <a:rPr lang="en-IN" sz="1200" b="1" i="0" kern="1200" dirty="0"/>
            <a:t> → </a:t>
          </a:r>
          <a:r>
            <a:rPr lang="en-IN" sz="1200" b="1" i="0" kern="1200" dirty="0" err="1"/>
            <a:t>post_handler</a:t>
          </a:r>
          <a:br>
            <a:rPr lang="en-IN" sz="1200" b="0" i="0" kern="1200" dirty="0"/>
          </a:br>
          <a:r>
            <a:rPr lang="en-IN" sz="1200" b="0" i="0" kern="1200" dirty="0"/>
            <a:t>Extracts PFN, latency, folio index &amp; mapping.</a:t>
          </a:r>
          <a:endParaRPr lang="en-IN" sz="1200" kern="1200" dirty="0"/>
        </a:p>
        <a:p>
          <a:pPr marL="114300" lvl="1" indent="-114300" algn="l" defTabSz="5334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i="0" kern="1200" dirty="0" err="1"/>
            <a:t>shrink_folio_list</a:t>
          </a:r>
          <a:br>
            <a:rPr lang="en-IN" sz="1200" b="0" i="0" kern="1200" dirty="0"/>
          </a:br>
          <a:r>
            <a:rPr lang="en-IN" sz="1200" b="0" i="0" kern="1200" dirty="0"/>
            <a:t>Observes victim‑selection pipeline.</a:t>
          </a:r>
          <a:endParaRPr lang="en-IN" sz="1200" kern="1200" dirty="0"/>
        </a:p>
      </dsp:txBody>
      <dsp:txXfrm>
        <a:off x="0" y="338792"/>
        <a:ext cx="3043189" cy="21003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85A19-0135-4092-9522-873DE7B5CBE1}">
      <dsp:nvSpPr>
        <dsp:cNvPr id="0" name=""/>
        <dsp:cNvSpPr/>
      </dsp:nvSpPr>
      <dsp:spPr>
        <a:xfrm>
          <a:off x="0" y="311562"/>
          <a:ext cx="4075716" cy="37514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i="0" kern="1200" dirty="0"/>
            <a:t>AI Prediction Pipeline</a:t>
          </a:r>
          <a:endParaRPr lang="en-IN" sz="1400" kern="1200" dirty="0"/>
        </a:p>
      </dsp:txBody>
      <dsp:txXfrm>
        <a:off x="0" y="311562"/>
        <a:ext cx="4075716" cy="375149"/>
      </dsp:txXfrm>
    </dsp:sp>
    <dsp:sp modelId="{757BEDCD-28CA-4D90-B346-2488B797A3CD}">
      <dsp:nvSpPr>
        <dsp:cNvPr id="0" name=""/>
        <dsp:cNvSpPr/>
      </dsp:nvSpPr>
      <dsp:spPr>
        <a:xfrm>
          <a:off x="0" y="662772"/>
          <a:ext cx="4075716" cy="19801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i="0" kern="1200" dirty="0"/>
            <a:t>Data Encoded:</a:t>
          </a:r>
          <a:br>
            <a:rPr lang="en-IN" sz="1400" b="0" i="0" kern="1200" dirty="0"/>
          </a:br>
          <a:r>
            <a:rPr lang="en-IN" sz="1400" b="0" i="0" kern="1200" dirty="0"/>
            <a:t>PID, mapping, folio index, latency cluster, PFN slices.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i="0" kern="1200" dirty="0"/>
            <a:t>Sequence Window:</a:t>
          </a:r>
          <a:br>
            <a:rPr lang="en-IN" sz="1400" b="0" i="0" kern="1200" dirty="0"/>
          </a:br>
          <a:r>
            <a:rPr lang="en-IN" sz="1400" b="0" i="0" kern="1200" dirty="0"/>
            <a:t>Fixed‑length sequence (30 steps).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i="0" kern="1200" dirty="0"/>
            <a:t>Model Engine:</a:t>
          </a:r>
          <a:br>
            <a:rPr lang="en-IN" sz="1400" b="0" i="0" kern="1200" dirty="0"/>
          </a:br>
          <a:r>
            <a:rPr lang="en-IN" sz="1400" b="0" i="0" kern="1200" dirty="0"/>
            <a:t>GRU‑based hybrid multi‑head classifier (Model‑v3).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i="0" kern="1200" dirty="0"/>
            <a:t>Output:</a:t>
          </a:r>
          <a:br>
            <a:rPr lang="en-IN" sz="1400" b="0" i="0" kern="1200" dirty="0"/>
          </a:br>
          <a:r>
            <a:rPr lang="en-IN" sz="1400" b="0" i="0" kern="1200" dirty="0"/>
            <a:t>Predicted next set of PFN slices (6 values).</a:t>
          </a:r>
          <a:endParaRPr lang="en-IN" sz="1400" kern="1200" dirty="0"/>
        </a:p>
      </dsp:txBody>
      <dsp:txXfrm>
        <a:off x="0" y="662772"/>
        <a:ext cx="4075716" cy="19801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E5706-EF24-42F4-AF05-EE4B2A4CF785}">
      <dsp:nvSpPr>
        <dsp:cNvPr id="0" name=""/>
        <dsp:cNvSpPr/>
      </dsp:nvSpPr>
      <dsp:spPr>
        <a:xfrm>
          <a:off x="0" y="95500"/>
          <a:ext cx="3286582" cy="3952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 dirty="0"/>
            <a:t>Intelligent Page Replacement Workflow</a:t>
          </a:r>
          <a:endParaRPr lang="en-IN" sz="1100" kern="1200" dirty="0"/>
        </a:p>
      </dsp:txBody>
      <dsp:txXfrm>
        <a:off x="0" y="95500"/>
        <a:ext cx="3286582" cy="395261"/>
      </dsp:txXfrm>
    </dsp:sp>
    <dsp:sp modelId="{EEFC07E4-0D0E-4D4E-99D6-A564C2438E91}">
      <dsp:nvSpPr>
        <dsp:cNvPr id="0" name=""/>
        <dsp:cNvSpPr/>
      </dsp:nvSpPr>
      <dsp:spPr>
        <a:xfrm>
          <a:off x="0" y="462765"/>
          <a:ext cx="3286582" cy="20225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i="0" kern="1200" dirty="0"/>
            <a:t>Step 1 — Fault Detected:</a:t>
          </a:r>
          <a:br>
            <a:rPr lang="en-IN" sz="1100" b="0" i="0" kern="1200" dirty="0"/>
          </a:br>
          <a:r>
            <a:rPr lang="en-IN" sz="1100" b="0" i="0" kern="1200" dirty="0"/>
            <a:t>Kernel notices a major fault → triggers ML module.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i="0" kern="1200" dirty="0"/>
            <a:t>Step 2 — Future Sequence Predicted:</a:t>
          </a:r>
          <a:br>
            <a:rPr lang="en-IN" sz="1100" b="0" i="0" kern="1200" dirty="0"/>
          </a:br>
          <a:r>
            <a:rPr lang="en-IN" sz="1100" b="0" i="0" kern="1200" dirty="0"/>
            <a:t>ML predicts upcoming PFN slice sequence.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i="0" kern="1200"/>
            <a:t>Step 3 — Victim Validation:</a:t>
          </a:r>
          <a:br>
            <a:rPr lang="en-IN" sz="1100" b="0" i="0" kern="1200"/>
          </a:br>
          <a:r>
            <a:rPr lang="en-IN" sz="1100" b="0" i="0" kern="1200"/>
            <a:t>Prediction checked against shrink_folio_list victim.</a:t>
          </a:r>
          <a:endParaRPr lang="en-IN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i="0" kern="1200"/>
            <a:t>Step 4 — Final Decision:</a:t>
          </a:r>
          <a:endParaRPr lang="en-IN" sz="1100" kern="120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0" i="0" kern="1200" dirty="0"/>
            <a:t>If victim is </a:t>
          </a:r>
          <a:r>
            <a:rPr lang="en-IN" sz="1100" b="0" i="1" kern="1200" dirty="0"/>
            <a:t>future-use</a:t>
          </a:r>
          <a:r>
            <a:rPr lang="en-IN" sz="1100" b="0" i="0" kern="1200" dirty="0"/>
            <a:t>, </a:t>
          </a:r>
          <a:r>
            <a:rPr lang="en-IN" sz="1100" b="1" i="0" kern="1200" dirty="0"/>
            <a:t>hold it</a:t>
          </a:r>
          <a:r>
            <a:rPr lang="en-IN" sz="1100" b="0" i="0" kern="1200" dirty="0"/>
            <a:t>.</a:t>
          </a:r>
          <a:endParaRPr lang="en-IN" sz="1100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0" i="0" kern="1200"/>
            <a:t>Else, OS performs </a:t>
          </a:r>
          <a:r>
            <a:rPr lang="en-IN" sz="1100" b="1" i="0" kern="1200"/>
            <a:t>normal replacement</a:t>
          </a:r>
          <a:r>
            <a:rPr lang="en-IN" sz="1100" b="0" i="0" kern="1200"/>
            <a:t>.</a:t>
          </a:r>
          <a:endParaRPr lang="en-IN" sz="1100" kern="1200"/>
        </a:p>
      </dsp:txBody>
      <dsp:txXfrm>
        <a:off x="0" y="462765"/>
        <a:ext cx="3286582" cy="20225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32AFB-B16D-41D8-BF7D-B3213FD6C8E4}">
      <dsp:nvSpPr>
        <dsp:cNvPr id="0" name=""/>
        <dsp:cNvSpPr/>
      </dsp:nvSpPr>
      <dsp:spPr>
        <a:xfrm>
          <a:off x="0" y="30539"/>
          <a:ext cx="3043189" cy="403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i="0" kern="1200"/>
            <a:t>Integrated Hybrid System</a:t>
          </a:r>
          <a:endParaRPr lang="en-IN" sz="1400" kern="1200"/>
        </a:p>
      </dsp:txBody>
      <dsp:txXfrm>
        <a:off x="0" y="30539"/>
        <a:ext cx="3043189" cy="403200"/>
      </dsp:txXfrm>
    </dsp:sp>
    <dsp:sp modelId="{195CADAB-1A6E-4A5F-B367-18DC21815F94}">
      <dsp:nvSpPr>
        <dsp:cNvPr id="0" name=""/>
        <dsp:cNvSpPr/>
      </dsp:nvSpPr>
      <dsp:spPr>
        <a:xfrm>
          <a:off x="0" y="433739"/>
          <a:ext cx="3043189" cy="20367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i="0" kern="1200" dirty="0"/>
            <a:t>AI + OS Collaboration</a:t>
          </a:r>
          <a:br>
            <a:rPr lang="en-IN" sz="1400" b="0" i="0" kern="1200" dirty="0"/>
          </a:br>
          <a:r>
            <a:rPr lang="en-IN" sz="1400" b="0" i="0" kern="1200" dirty="0"/>
            <a:t>AI predicts future access patterns; OS executes validated actions.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i="0" kern="1200"/>
            <a:t>Non‑intrusive Design</a:t>
          </a:r>
          <a:br>
            <a:rPr lang="en-IN" sz="1400" b="0" i="0" kern="1200"/>
          </a:br>
          <a:r>
            <a:rPr lang="en-IN" sz="1400" b="0" i="0" kern="1200"/>
            <a:t>Does not replace algorithms—only augments decision quality.a</a:t>
          </a:r>
          <a:endParaRPr lang="en-IN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i="0" kern="1200"/>
            <a:t>Modular Architecture</a:t>
          </a:r>
          <a:br>
            <a:rPr lang="en-IN" sz="1400" b="0" i="0" kern="1200"/>
          </a:br>
          <a:r>
            <a:rPr lang="en-IN" sz="1400" b="0" i="0" kern="1200"/>
            <a:t>Independent kernel module, ML engine, UI</a:t>
          </a:r>
          <a:endParaRPr lang="en-IN" sz="1400" kern="1200"/>
        </a:p>
      </dsp:txBody>
      <dsp:txXfrm>
        <a:off x="0" y="433739"/>
        <a:ext cx="3043189" cy="20367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8CD54-28CA-4B27-B3D1-31664163AF30}">
      <dsp:nvSpPr>
        <dsp:cNvPr id="0" name=""/>
        <dsp:cNvSpPr/>
      </dsp:nvSpPr>
      <dsp:spPr>
        <a:xfrm>
          <a:off x="0" y="35272"/>
          <a:ext cx="3686070" cy="403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i="0" kern="1200" dirty="0"/>
            <a:t>6. Benefits (Infographic-Friendly)</a:t>
          </a:r>
          <a:endParaRPr lang="en-IN" sz="1400" kern="1200" dirty="0"/>
        </a:p>
      </dsp:txBody>
      <dsp:txXfrm>
        <a:off x="0" y="35272"/>
        <a:ext cx="3686070" cy="403200"/>
      </dsp:txXfrm>
    </dsp:sp>
    <dsp:sp modelId="{7E01CCF1-4078-46B4-9D16-AC555325B407}">
      <dsp:nvSpPr>
        <dsp:cNvPr id="0" name=""/>
        <dsp:cNvSpPr/>
      </dsp:nvSpPr>
      <dsp:spPr>
        <a:xfrm>
          <a:off x="0" y="416906"/>
          <a:ext cx="3686070" cy="20351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i="0" kern="1200" dirty="0"/>
            <a:t>⬆ Performance Boost</a:t>
          </a:r>
          <a:r>
            <a:rPr lang="en-IN" sz="1400" b="0" i="0" kern="1200" dirty="0"/>
            <a:t> → Reduced unnecessary evictions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i="0" kern="1200" dirty="0"/>
            <a:t>⬇ Latency Drops</a:t>
          </a:r>
          <a:r>
            <a:rPr lang="en-IN" sz="1400" b="0" i="0" kern="1200" dirty="0"/>
            <a:t> → Better future fault avoidance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i="0" kern="1200" dirty="0"/>
            <a:t>🔁 Efficient Memory Cycles</a:t>
          </a:r>
          <a:r>
            <a:rPr lang="en-IN" sz="1400" b="0" i="0" kern="1200" dirty="0"/>
            <a:t> → Smarter victim choices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i="0" kern="1200" dirty="0"/>
            <a:t>🎯 Higher Prediction Accuracy</a:t>
          </a:r>
          <a:r>
            <a:rPr lang="en-IN" sz="1400" b="0" i="0" kern="1200" dirty="0"/>
            <a:t> → Model‑v3 stability</a:t>
          </a:r>
          <a:endParaRPr lang="en-IN" sz="1400" kern="1200" dirty="0"/>
        </a:p>
      </dsp:txBody>
      <dsp:txXfrm>
        <a:off x="0" y="416906"/>
        <a:ext cx="3686070" cy="20351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B8AB7-F6E8-46B1-8B80-BF2FD2845487}">
      <dsp:nvSpPr>
        <dsp:cNvPr id="0" name=""/>
        <dsp:cNvSpPr/>
      </dsp:nvSpPr>
      <dsp:spPr>
        <a:xfrm>
          <a:off x="0" y="304190"/>
          <a:ext cx="5893942" cy="139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435" tIns="249936" rIns="45743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kern="1200" dirty="0"/>
            <a:t>do_swap_page()</a:t>
          </a:r>
          <a:r>
            <a:rPr lang="en-US" sz="1200" kern="1200" dirty="0"/>
            <a:t> → Captures Virtual Address (VA), Process ID (PID), and Latency during page fault handling.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kern="1200" dirty="0"/>
            <a:t>finish_fault()</a:t>
          </a:r>
          <a:r>
            <a:rPr lang="en-US" sz="1200" kern="1200" dirty="0"/>
            <a:t> → Extracts </a:t>
          </a:r>
          <a:r>
            <a:rPr lang="en-US" sz="1200" b="1" kern="1200" dirty="0"/>
            <a:t>Page Frame Number (PFN)</a:t>
          </a:r>
          <a:r>
            <a:rPr lang="en-US" sz="1200" kern="1200" dirty="0"/>
            <a:t> and Folio structure post fault resolution.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1" kern="1200" dirty="0" err="1"/>
            <a:t>vmscan.c</a:t>
          </a:r>
          <a:r>
            <a:rPr lang="en-IN" sz="1200" b="1" kern="1200" dirty="0"/>
            <a:t> → </a:t>
          </a:r>
          <a:r>
            <a:rPr lang="en-IN" sz="1200" b="1" kern="1200" dirty="0" err="1"/>
            <a:t>shrink_list_folio</a:t>
          </a:r>
          <a:r>
            <a:rPr lang="en-IN" sz="1200" b="1" kern="1200" dirty="0"/>
            <a:t>()</a:t>
          </a:r>
          <a:r>
            <a:rPr lang="en-IN" sz="1200" kern="1200" dirty="0"/>
            <a:t> → Monitors </a:t>
          </a:r>
          <a:r>
            <a:rPr lang="en-IN" sz="1200" b="1" kern="1200" dirty="0"/>
            <a:t>victim page selection</a:t>
          </a:r>
          <a:r>
            <a:rPr lang="en-IN" sz="1200" kern="1200" dirty="0"/>
            <a:t> events for LRU validation.</a:t>
          </a:r>
        </a:p>
      </dsp:txBody>
      <dsp:txXfrm>
        <a:off x="0" y="304190"/>
        <a:ext cx="5893942" cy="1398600"/>
      </dsp:txXfrm>
    </dsp:sp>
    <dsp:sp modelId="{6D57B7DF-4671-4123-BDB7-A6C895F477B7}">
      <dsp:nvSpPr>
        <dsp:cNvPr id="0" name=""/>
        <dsp:cNvSpPr/>
      </dsp:nvSpPr>
      <dsp:spPr>
        <a:xfrm>
          <a:off x="294697" y="127070"/>
          <a:ext cx="4125759" cy="354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944" tIns="0" rIns="155944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Hooking critical kernel functions</a:t>
          </a:r>
        </a:p>
      </dsp:txBody>
      <dsp:txXfrm>
        <a:off x="311990" y="144363"/>
        <a:ext cx="4091173" cy="319654"/>
      </dsp:txXfrm>
    </dsp:sp>
    <dsp:sp modelId="{D5BBB354-BD46-4A3A-9C02-C9C1EE40B202}">
      <dsp:nvSpPr>
        <dsp:cNvPr id="0" name=""/>
        <dsp:cNvSpPr/>
      </dsp:nvSpPr>
      <dsp:spPr>
        <a:xfrm>
          <a:off x="0" y="1944711"/>
          <a:ext cx="5893942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435" tIns="249936" rIns="45743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Each </a:t>
          </a:r>
          <a:r>
            <a:rPr lang="en-US" sz="1200" b="1" kern="1200" dirty="0"/>
            <a:t>major page fault</a:t>
          </a:r>
          <a:r>
            <a:rPr lang="en-US" sz="1200" kern="1200" dirty="0"/>
            <a:t> triggers the hooked probes.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kern="1200" dirty="0"/>
            <a:t>Captured entry structure:</a:t>
          </a:r>
          <a:br>
            <a:rPr lang="en-IN" sz="1200" kern="1200" dirty="0"/>
          </a:br>
          <a:r>
            <a:rPr lang="en-IN" sz="1200" kern="1200" dirty="0"/>
            <a:t>[Virtual Address | PFN | PID | Latency | Folio | Fault Timestamp]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Data streamed to </a:t>
          </a:r>
          <a:r>
            <a:rPr lang="en-US" sz="1200" b="1" kern="1200" dirty="0"/>
            <a:t>user space</a:t>
          </a:r>
          <a:r>
            <a:rPr lang="en-US" sz="1200" kern="1200" dirty="0"/>
            <a:t> via kernel logs for preprocessing and AI training.</a:t>
          </a:r>
        </a:p>
      </dsp:txBody>
      <dsp:txXfrm>
        <a:off x="0" y="1944711"/>
        <a:ext cx="5893942" cy="1077300"/>
      </dsp:txXfrm>
    </dsp:sp>
    <dsp:sp modelId="{AEB24C8A-9D80-4E4E-A386-BC7DBAC7170E}">
      <dsp:nvSpPr>
        <dsp:cNvPr id="0" name=""/>
        <dsp:cNvSpPr/>
      </dsp:nvSpPr>
      <dsp:spPr>
        <a:xfrm>
          <a:off x="294697" y="1767591"/>
          <a:ext cx="4125759" cy="35424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944" tIns="0" rIns="155944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Data Abstraction process</a:t>
          </a:r>
        </a:p>
      </dsp:txBody>
      <dsp:txXfrm>
        <a:off x="311990" y="1784884"/>
        <a:ext cx="4091173" cy="319654"/>
      </dsp:txXfrm>
    </dsp:sp>
    <dsp:sp modelId="{2C3268FF-7CAF-4FDC-BF35-7E7C44DCFAB8}">
      <dsp:nvSpPr>
        <dsp:cNvPr id="0" name=""/>
        <dsp:cNvSpPr/>
      </dsp:nvSpPr>
      <dsp:spPr>
        <a:xfrm>
          <a:off x="0" y="3303260"/>
          <a:ext cx="5893942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435" tIns="249936" rIns="45743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  During I/O wait, the </a:t>
          </a:r>
          <a:r>
            <a:rPr lang="en-US" sz="1200" b="1" kern="1200" dirty="0"/>
            <a:t>AI Predictor</a:t>
          </a:r>
          <a:r>
            <a:rPr lang="en-US" sz="1200" kern="1200" dirty="0"/>
            <a:t> runs asynchronously to forecast future page demands.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/>
            <a:t>The </a:t>
          </a:r>
          <a:r>
            <a:rPr lang="en-US" sz="1200" b="1" kern="1200"/>
            <a:t>Trust Controller</a:t>
          </a:r>
          <a:r>
            <a:rPr lang="en-US" sz="1200" kern="1200"/>
            <a:t> validates AI recommendations before allowing victim eviction.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kern="1200" dirty="0"/>
            <a:t>Ensures </a:t>
          </a:r>
          <a:r>
            <a:rPr lang="en-IN" sz="1200" b="1" kern="1200" dirty="0"/>
            <a:t>no </a:t>
          </a:r>
          <a:r>
            <a:rPr lang="en-IN" sz="1200" kern="1200" dirty="0"/>
            <a:t>performance</a:t>
          </a:r>
          <a:r>
            <a:rPr lang="en-IN" sz="1200" b="1" kern="1200" dirty="0"/>
            <a:t> degradation</a:t>
          </a:r>
          <a:r>
            <a:rPr lang="en-IN" sz="1200" kern="1200" dirty="0"/>
            <a:t> and maintains OS stability.</a:t>
          </a:r>
        </a:p>
      </dsp:txBody>
      <dsp:txXfrm>
        <a:off x="0" y="3303260"/>
        <a:ext cx="5893942" cy="1247400"/>
      </dsp:txXfrm>
    </dsp:sp>
    <dsp:sp modelId="{90F378F3-BAF2-45A3-80CE-3010531EE0BA}">
      <dsp:nvSpPr>
        <dsp:cNvPr id="0" name=""/>
        <dsp:cNvSpPr/>
      </dsp:nvSpPr>
      <dsp:spPr>
        <a:xfrm>
          <a:off x="294697" y="3086811"/>
          <a:ext cx="4125759" cy="35424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944" tIns="0" rIns="155944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AI </a:t>
          </a:r>
          <a:r>
            <a:rPr lang="en-US" sz="1200" kern="1200"/>
            <a:t>integration layer</a:t>
          </a:r>
          <a:endParaRPr lang="en-US" sz="1200" kern="1200" dirty="0"/>
        </a:p>
      </dsp:txBody>
      <dsp:txXfrm>
        <a:off x="311990" y="3104104"/>
        <a:ext cx="4091173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A9AB27E-2CB3-0A38-B77A-FA844728B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03FDE7B-F0A0-A03B-444E-90F9B5E55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3B4F665-FC5C-B3AE-8D41-20F235CCA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584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39B80485-EDFD-17B8-EDF7-CE76E7BD1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>
            <a:extLst>
              <a:ext uri="{FF2B5EF4-FFF2-40B4-BE49-F238E27FC236}">
                <a16:creationId xmlns:a16="http://schemas.microsoft.com/office/drawing/2014/main" id="{3951305F-AC34-8CD7-71D3-D1449235A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>
            <a:extLst>
              <a:ext uri="{FF2B5EF4-FFF2-40B4-BE49-F238E27FC236}">
                <a16:creationId xmlns:a16="http://schemas.microsoft.com/office/drawing/2014/main" id="{167B3B81-BD95-00B2-E62E-3455B85CF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229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C3818977-9CC8-019F-1BF4-2F4FE597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>
            <a:extLst>
              <a:ext uri="{FF2B5EF4-FFF2-40B4-BE49-F238E27FC236}">
                <a16:creationId xmlns:a16="http://schemas.microsoft.com/office/drawing/2014/main" id="{15AF11AD-0849-FB5C-5A35-B86DA0667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>
            <a:extLst>
              <a:ext uri="{FF2B5EF4-FFF2-40B4-BE49-F238E27FC236}">
                <a16:creationId xmlns:a16="http://schemas.microsoft.com/office/drawing/2014/main" id="{7B4CC10A-F29B-846C-7F80-1B63BB5A4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911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94B20CF3-4ED2-6D7E-CC23-00C34FC1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>
            <a:extLst>
              <a:ext uri="{FF2B5EF4-FFF2-40B4-BE49-F238E27FC236}">
                <a16:creationId xmlns:a16="http://schemas.microsoft.com/office/drawing/2014/main" id="{97772622-1CE7-FF5E-C12E-52704A9188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>
            <a:extLst>
              <a:ext uri="{FF2B5EF4-FFF2-40B4-BE49-F238E27FC236}">
                <a16:creationId xmlns:a16="http://schemas.microsoft.com/office/drawing/2014/main" id="{45AE154A-5098-BD22-BD68-2ECD498B1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259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C8ED6914-484D-E911-8B94-CF8BAE81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>
            <a:extLst>
              <a:ext uri="{FF2B5EF4-FFF2-40B4-BE49-F238E27FC236}">
                <a16:creationId xmlns:a16="http://schemas.microsoft.com/office/drawing/2014/main" id="{07FA7B88-E5FB-DE21-53FA-919121072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>
            <a:extLst>
              <a:ext uri="{FF2B5EF4-FFF2-40B4-BE49-F238E27FC236}">
                <a16:creationId xmlns:a16="http://schemas.microsoft.com/office/drawing/2014/main" id="{9FDE2737-062E-E678-D9C4-CFEFD21F8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797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95A3CAA2-347B-D7A1-4410-783B46F2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>
            <a:extLst>
              <a:ext uri="{FF2B5EF4-FFF2-40B4-BE49-F238E27FC236}">
                <a16:creationId xmlns:a16="http://schemas.microsoft.com/office/drawing/2014/main" id="{2D7B732C-5ACC-3F3D-2D66-8B86123A19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3:notes">
            <a:extLst>
              <a:ext uri="{FF2B5EF4-FFF2-40B4-BE49-F238E27FC236}">
                <a16:creationId xmlns:a16="http://schemas.microsoft.com/office/drawing/2014/main" id="{C93370D8-BECD-B40D-F3EB-B0E6FEEFA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9314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01EAC066-42A7-6248-7AC5-D35643B6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>
            <a:extLst>
              <a:ext uri="{FF2B5EF4-FFF2-40B4-BE49-F238E27FC236}">
                <a16:creationId xmlns:a16="http://schemas.microsoft.com/office/drawing/2014/main" id="{C356919D-75A6-ADF4-9517-8FE2471E9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4:notes">
            <a:extLst>
              <a:ext uri="{FF2B5EF4-FFF2-40B4-BE49-F238E27FC236}">
                <a16:creationId xmlns:a16="http://schemas.microsoft.com/office/drawing/2014/main" id="{56F016C7-63BC-C5DD-54ED-9D46C69D2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0167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ADA9B617-92C6-DDA3-7100-CE9698A4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>
            <a:extLst>
              <a:ext uri="{FF2B5EF4-FFF2-40B4-BE49-F238E27FC236}">
                <a16:creationId xmlns:a16="http://schemas.microsoft.com/office/drawing/2014/main" id="{86302B35-BD8D-5C36-36B1-F0369CA38C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6:notes">
            <a:extLst>
              <a:ext uri="{FF2B5EF4-FFF2-40B4-BE49-F238E27FC236}">
                <a16:creationId xmlns:a16="http://schemas.microsoft.com/office/drawing/2014/main" id="{12988E18-3B69-51B2-85FE-5075B8A6B0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083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>
          <a:extLst>
            <a:ext uri="{FF2B5EF4-FFF2-40B4-BE49-F238E27FC236}">
              <a16:creationId xmlns:a16="http://schemas.microsoft.com/office/drawing/2014/main" id="{FFAFB2A3-814E-E7E4-D553-D0861F56E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>
            <a:extLst>
              <a:ext uri="{FF2B5EF4-FFF2-40B4-BE49-F238E27FC236}">
                <a16:creationId xmlns:a16="http://schemas.microsoft.com/office/drawing/2014/main" id="{5944885F-C447-1C04-18BD-AA15E7594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>
            <a:extLst>
              <a:ext uri="{FF2B5EF4-FFF2-40B4-BE49-F238E27FC236}">
                <a16:creationId xmlns:a16="http://schemas.microsoft.com/office/drawing/2014/main" id="{CF518992-703A-C2DA-308A-3FC7C704D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4066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>
          <a:extLst>
            <a:ext uri="{FF2B5EF4-FFF2-40B4-BE49-F238E27FC236}">
              <a16:creationId xmlns:a16="http://schemas.microsoft.com/office/drawing/2014/main" id="{1B0BFE35-876E-63BC-5D03-513F494D5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>
            <a:extLst>
              <a:ext uri="{FF2B5EF4-FFF2-40B4-BE49-F238E27FC236}">
                <a16:creationId xmlns:a16="http://schemas.microsoft.com/office/drawing/2014/main" id="{337AFEBF-E034-80ED-802B-82A641BA3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>
            <a:extLst>
              <a:ext uri="{FF2B5EF4-FFF2-40B4-BE49-F238E27FC236}">
                <a16:creationId xmlns:a16="http://schemas.microsoft.com/office/drawing/2014/main" id="{B5F80EA2-AE54-2802-127D-C7C50520EF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8321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>
          <a:extLst>
            <a:ext uri="{FF2B5EF4-FFF2-40B4-BE49-F238E27FC236}">
              <a16:creationId xmlns:a16="http://schemas.microsoft.com/office/drawing/2014/main" id="{E04E9079-F5E5-C862-C43B-44CFB6C1E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>
            <a:extLst>
              <a:ext uri="{FF2B5EF4-FFF2-40B4-BE49-F238E27FC236}">
                <a16:creationId xmlns:a16="http://schemas.microsoft.com/office/drawing/2014/main" id="{1F80A504-C354-8BE3-B1FE-C57D2D957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>
            <a:extLst>
              <a:ext uri="{FF2B5EF4-FFF2-40B4-BE49-F238E27FC236}">
                <a16:creationId xmlns:a16="http://schemas.microsoft.com/office/drawing/2014/main" id="{3E507C31-7E39-9AE8-8EA5-B06AD2DA6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8419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>
          <a:extLst>
            <a:ext uri="{FF2B5EF4-FFF2-40B4-BE49-F238E27FC236}">
              <a16:creationId xmlns:a16="http://schemas.microsoft.com/office/drawing/2014/main" id="{13A68BA5-8EC4-3B61-1FB1-568135AFC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>
            <a:extLst>
              <a:ext uri="{FF2B5EF4-FFF2-40B4-BE49-F238E27FC236}">
                <a16:creationId xmlns:a16="http://schemas.microsoft.com/office/drawing/2014/main" id="{48B020D9-D26E-887C-CB3F-F624FAA74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>
            <a:extLst>
              <a:ext uri="{FF2B5EF4-FFF2-40B4-BE49-F238E27FC236}">
                <a16:creationId xmlns:a16="http://schemas.microsoft.com/office/drawing/2014/main" id="{9DEF4236-7E2C-3EF5-0758-FE6C132110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2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46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747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0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464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873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496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531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0175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586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459196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427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05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874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0239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879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45FB1-0F44-2718-8168-8A57C0B1B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3821D-A361-9BEB-EABE-94D1E7031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7EA38-54CA-5BBE-5916-2D75A4D1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A3236-2A17-2972-7AB6-0ADDB109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8E3F5-EBEC-63F3-3BEB-DE272017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618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A541-FB14-9309-17E1-1D347E75E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AE680-F723-F1E2-F9B6-E43465680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BE97-0B49-B2DB-92F8-468C03CE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9CA46-931D-9D31-9F89-0F91D7256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6794-48A1-3A82-7DEE-73EDD557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0335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1E21-A3AD-E7EC-453C-7E9B48EC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162DF-2A6E-F1B2-F90E-35ED12C43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A8653-BCB0-064A-B387-BDDF7B82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6A25E-8080-4599-BB05-2029D2F5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A1549-051C-4242-5D23-BA28217B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516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9C0-A4E8-4DCC-73DE-EAD2A36B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5EF50-C710-765C-CEAF-3B0A28E94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12EDF-2638-F13B-FA81-559548041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7FCD9-2C04-A7E9-CFCB-DB975ECC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94D7E-2DEC-14B5-4EC7-952601D4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C2A69-4F60-F9EE-0003-0B69A099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5655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6AB07-B23C-CA4B-D703-BB341E64B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CCA64-5521-529A-238B-2A8AF564C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A49B9-42F9-7DC7-AB81-28CFC0420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FC58D-FE4E-2101-F836-DBA138238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B6BB8-D8B5-5DF4-D168-85DA41DE4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63B86F-AC84-A76B-9159-101E9DC1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2D52B-7C46-77A2-BFD3-5D2EF180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CA35B-3265-8E7D-2EA5-3EDBC42F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5774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E903-77B1-8A9E-2B2E-DE27EACB0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8A02C-7700-BC49-77E2-54656189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47738-0724-F731-8630-549D0E682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97D46-CEE5-3141-9C5A-77FC227D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098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F546F-0448-08EC-E80F-096F66AD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42657-5819-A729-12C6-1A3D9C702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23D41-6A9B-4FDF-B659-FD3D30DF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58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2572-5008-1586-A618-12BC9E79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90E22-6C4C-5A44-0E50-9DAEBCB41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0A786-9DC6-BD69-CE09-9DB389488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C8C79-192A-6120-0D60-2D94F610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CEB4C-2A24-DE24-2125-620B50B36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DC7DB-A214-EDBD-1B16-908044FD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1002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03B6-EC6D-1D5B-C473-462543960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D22766-BDC9-654C-045B-A8CB7E607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DCBCD-0257-5611-E825-53DDAB455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64302-10E4-5DC9-41F2-D65A687D3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A8D93-444F-20E2-380C-CD2A185F4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98448-CDEE-23AA-DD6C-E6645DFE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9610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9AA2-4F9B-C8F6-8CA3-63D8581D3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A6C36-CE27-F483-3F89-7D80AC4FA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99DCA-75C6-BB51-902C-B6DECDD51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8DA2B-DA97-9E28-4B65-AE787CFD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8998-AF24-03A3-51AB-E27E0E36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52790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FFE52E-6882-F5E4-2838-973B90F31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40DBC-AF26-5BA7-DBC0-4E1A2F2A2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CE115-9478-554B-788B-0DAFC2FD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BB72F-1F57-A912-0750-9A43B0E78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B34B6-E1E3-AA36-B5B6-5D80517E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2881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3BEE47-95A8-C9BF-8B4D-6EDECB4FE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6FDCC-7EBA-7E16-8984-2A2ECEF2A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DE353-22CA-B325-6CD4-76BF62DC5F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E1A8B-6036-A0CC-4B62-E9AE09AAC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4C5A3-C0E2-068F-0A90-9987FF7C9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6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26" Type="http://schemas.openxmlformats.org/officeDocument/2006/relationships/diagramColors" Target="../diagrams/colors5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5" Type="http://schemas.openxmlformats.org/officeDocument/2006/relationships/diagramQuickStyle" Target="../diagrams/quickStyle5.xml"/><Relationship Id="rId2" Type="http://schemas.openxmlformats.org/officeDocument/2006/relationships/notesSlide" Target="../notesSlides/notesSlide6.xml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29" Type="http://schemas.openxmlformats.org/officeDocument/2006/relationships/diagramLayout" Target="../diagrams/layout6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24" Type="http://schemas.openxmlformats.org/officeDocument/2006/relationships/diagramLayout" Target="../diagrams/layout5.xml"/><Relationship Id="rId32" Type="http://schemas.microsoft.com/office/2007/relationships/diagramDrawing" Target="../diagrams/drawing6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diagramData" Target="../diagrams/data5.xml"/><Relationship Id="rId28" Type="http://schemas.openxmlformats.org/officeDocument/2006/relationships/diagramData" Target="../diagrams/data6.xml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31" Type="http://schemas.openxmlformats.org/officeDocument/2006/relationships/diagramColors" Target="../diagrams/colors6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Relationship Id="rId27" Type="http://schemas.microsoft.com/office/2007/relationships/diagramDrawing" Target="../diagrams/drawing5.xml"/><Relationship Id="rId30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rgbClr val="FFC000"/>
            </a:gs>
            <a:gs pos="100000">
              <a:schemeClr val="accent1">
                <a:lumMod val="40000"/>
                <a:lumOff val="60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984601" y="3865831"/>
            <a:ext cx="6380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B050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Hybrid AI-Assisted Page Replacement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079247" y="4498867"/>
            <a:ext cx="3168323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Submitted by:-</a:t>
            </a:r>
          </a:p>
          <a:p>
            <a:pPr lvl="0"/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Hemant Singh Chouhan (22/420)</a:t>
            </a:r>
          </a:p>
          <a:p>
            <a:pPr lvl="0"/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Naman Sehra  (22/518)</a:t>
            </a:r>
          </a:p>
          <a:p>
            <a:pPr lvl="0"/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Naresh Parmar(22/519)</a:t>
            </a:r>
          </a:p>
          <a:p>
            <a:pPr lvl="0"/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Shubham Garg (23/776)</a:t>
            </a:r>
          </a:p>
        </p:txBody>
      </p:sp>
      <p:sp>
        <p:nvSpPr>
          <p:cNvPr id="87" name="Google Shape;87;p1"/>
          <p:cNvSpPr txBox="1"/>
          <p:nvPr/>
        </p:nvSpPr>
        <p:spPr>
          <a:xfrm>
            <a:off x="8388658" y="4800129"/>
            <a:ext cx="31683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Submitted to:-</a:t>
            </a:r>
            <a:endParaRPr lang="en-US" b="1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ea typeface="IBM Plex Sans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Mr.  Dinesh Soni Sir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BM Plex Sans"/>
              </a:rPr>
              <a:t>Ms. Nirmala Sharma Ma’am</a:t>
            </a:r>
            <a:endParaRPr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574916" y="488315"/>
            <a:ext cx="7042155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lgerian" panose="04020705040A02060702" pitchFamily="82" charset="0"/>
                <a:ea typeface="Libre Baskerville"/>
                <a:cs typeface="Times New Roman" panose="02020603050405020304" pitchFamily="18" charset="0"/>
                <a:sym typeface="Libre Baskerville"/>
              </a:rPr>
              <a:t>UNIVERSITY DEPARTMENT, </a:t>
            </a:r>
            <a:endParaRPr sz="20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lgerian" panose="04020705040A02060702" pitchFamily="82" charset="0"/>
                <a:ea typeface="Libre Baskerville"/>
                <a:cs typeface="Times New Roman" panose="02020603050405020304" pitchFamily="18" charset="0"/>
                <a:sym typeface="Libre Baskerville"/>
              </a:rPr>
              <a:t>RAJASTHAN TECHNICAL UNIVERITY, KOTA </a:t>
            </a:r>
            <a:endParaRPr lang="en-US" sz="2000" dirty="0">
              <a:latin typeface="Algerian" panose="04020705040A02060702" pitchFamily="82" charset="0"/>
              <a:ea typeface="Libre Baskerville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800" b="0" i="0" u="none" strike="noStrike" cap="none" dirty="0">
              <a:solidFill>
                <a:schemeClr val="dk1"/>
              </a:solidFill>
              <a:latin typeface="Algerian" panose="04020705040A02060702" pitchFamily="82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lgerian" panose="04020705040A02060702" pitchFamily="82" charset="0"/>
                <a:ea typeface="Libre Baskerville"/>
                <a:cs typeface="Times New Roman" panose="02020603050405020304" pitchFamily="18" charset="0"/>
                <a:sym typeface="Libre Baskerville"/>
              </a:rPr>
              <a:t> DEPARTMENT OF COMPUTER SCIENCE AND ENGINEERING</a:t>
            </a:r>
            <a:endParaRPr sz="20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3262" y="2069888"/>
            <a:ext cx="2245475" cy="1537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	Overview</a:t>
            </a:r>
            <a:endParaRPr lang="en-US" sz="280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7DDBA-113C-BD64-3ED7-B1EFEF24D0B3}"/>
              </a:ext>
            </a:extLst>
          </p:cNvPr>
          <p:cNvSpPr txBox="1"/>
          <p:nvPr/>
        </p:nvSpPr>
        <p:spPr>
          <a:xfrm>
            <a:off x="622106" y="1222140"/>
            <a:ext cx="103506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cs typeface="Times New Roman" panose="02020603050405020304" pitchFamily="18" charset="0"/>
              </a:rPr>
              <a:t>This presentation provides a comprehensive walkthrough of our </a:t>
            </a:r>
            <a:r>
              <a:rPr lang="en-IN" b="1" i="1" dirty="0">
                <a:solidFill>
                  <a:schemeClr val="bg1"/>
                </a:solidFill>
                <a:highlight>
                  <a:srgbClr val="800000"/>
                </a:highlight>
                <a:cs typeface="Times New Roman" panose="02020603050405020304" pitchFamily="18" charset="0"/>
              </a:rPr>
              <a:t>Hybrid AI-Assisted Page Replacement System</a:t>
            </a:r>
            <a:r>
              <a:rPr lang="en-IN" dirty="0">
                <a:cs typeface="Times New Roman" panose="02020603050405020304" pitchFamily="18" charset="0"/>
              </a:rPr>
              <a:t>, showcasing how machine learning can enhance traditional operating system memory management without altering core kernel algorithms. The work integrates </a:t>
            </a:r>
            <a:r>
              <a:rPr lang="en-IN" dirty="0">
                <a:highlight>
                  <a:srgbClr val="C0C0C0"/>
                </a:highlight>
                <a:cs typeface="Times New Roman" panose="02020603050405020304" pitchFamily="18" charset="0"/>
              </a:rPr>
              <a:t>OS internals, Linux kernel instrumentation, deep learning, real-time data analytics, and GUI-based</a:t>
            </a:r>
            <a:r>
              <a:rPr lang="en-IN" dirty="0">
                <a:cs typeface="Times New Roman" panose="02020603050405020304" pitchFamily="18" charset="0"/>
              </a:rPr>
              <a:t> visualization into a unified research prototype.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599B4-AE5A-CF1E-6DE1-42E70B950C1B}"/>
              </a:ext>
            </a:extLst>
          </p:cNvPr>
          <p:cNvSpPr txBox="1"/>
          <p:nvPr/>
        </p:nvSpPr>
        <p:spPr>
          <a:xfrm>
            <a:off x="720430" y="2980194"/>
            <a:ext cx="11225764" cy="2997424"/>
          </a:xfrm>
          <a:prstGeom prst="rect">
            <a:avLst/>
          </a:prstGeom>
          <a:noFill/>
        </p:spPr>
        <p:txBody>
          <a:bodyPr wrap="square" numCol="2" spcCol="7200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Background: OS memory challenges &amp; motivation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Project objectives and scope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Hybrid AI + OS concept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System architecture and workflow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Kernel data acquisition via </a:t>
            </a:r>
            <a:r>
              <a:rPr lang="en-IN" dirty="0" err="1">
                <a:cs typeface="Times New Roman" panose="02020603050405020304" pitchFamily="18" charset="0"/>
              </a:rPr>
              <a:t>kprobes</a:t>
            </a:r>
            <a:endParaRPr lang="en-IN" dirty="0"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Data preprocessing &amp; PFN slicing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GRU-based prediction model (Model V3)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Kernel middleware integration using </a:t>
            </a:r>
            <a:r>
              <a:rPr lang="en-IN" dirty="0" err="1">
                <a:cs typeface="Times New Roman" panose="02020603050405020304" pitchFamily="18" charset="0"/>
              </a:rPr>
              <a:t>netlink</a:t>
            </a:r>
            <a:endParaRPr lang="en-IN" dirty="0"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Prediction validation &amp; trust controller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GUI visualization and monitoring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Performance evaluation &amp;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Future enhancement (</a:t>
            </a:r>
            <a:r>
              <a:rPr lang="en-IN" dirty="0">
                <a:solidFill>
                  <a:srgbClr val="C00000"/>
                </a:solidFill>
                <a:cs typeface="Times New Roman" panose="02020603050405020304" pitchFamily="18" charset="0"/>
              </a:rPr>
              <a:t>Model V4 &amp; RESAT-X</a:t>
            </a:r>
            <a:r>
              <a:rPr lang="en-IN" dirty="0"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Conclusion and acknowledgements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FAA6E4-CC5A-9E2C-68E4-0E908E121B99}"/>
              </a:ext>
            </a:extLst>
          </p:cNvPr>
          <p:cNvSpPr txBox="1"/>
          <p:nvPr/>
        </p:nvSpPr>
        <p:spPr>
          <a:xfrm>
            <a:off x="720430" y="2422469"/>
            <a:ext cx="6100916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>
                <a:cs typeface="Times New Roman" panose="02020603050405020304" pitchFamily="18" charset="0"/>
              </a:rPr>
              <a:t>KEY </a:t>
            </a:r>
            <a:r>
              <a:rPr lang="en-IN" sz="2000" dirty="0">
                <a:cs typeface="Times New Roman" panose="02020603050405020304" pitchFamily="18" charset="0"/>
              </a:rPr>
              <a:t>COVERAGE </a:t>
            </a:r>
            <a:r>
              <a:rPr lang="en-IN" sz="2800" dirty="0">
                <a:cs typeface="Times New Roman" panose="02020603050405020304" pitchFamily="18" charset="0"/>
              </a:rPr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145256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Problem Statement</a:t>
            </a:r>
          </a:p>
        </p:txBody>
      </p:sp>
      <p:sp>
        <p:nvSpPr>
          <p:cNvPr id="103" name="Google Shape;103;p3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A49CC-A878-8C09-0B33-F807B5DF8F8C}"/>
              </a:ext>
            </a:extLst>
          </p:cNvPr>
          <p:cNvSpPr txBox="1"/>
          <p:nvPr/>
        </p:nvSpPr>
        <p:spPr>
          <a:xfrm>
            <a:off x="599769" y="1908833"/>
            <a:ext cx="10589342" cy="11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latin typeface="Aptos Display" panose="020B0004020202020204" pitchFamily="34" charset="0"/>
              </a:rPr>
              <a:t> </a:t>
            </a:r>
            <a:r>
              <a:rPr lang="en-US" sz="18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Background</a:t>
            </a:r>
            <a:r>
              <a:rPr lang="en-US" sz="1800" b="1" dirty="0">
                <a:latin typeface="Aptos Display" panose="020B0004020202020204" pitchFamily="34" charset="0"/>
              </a:rPr>
              <a:t> : </a:t>
            </a:r>
            <a:endParaRPr lang="en-US" b="1" dirty="0">
              <a:latin typeface="Aptos Display" panose="020B0004020202020204" pitchFamily="34" charset="0"/>
            </a:endParaRPr>
          </a:p>
          <a:p>
            <a:pPr lvl="0">
              <a:lnSpc>
                <a:spcPct val="150000"/>
              </a:lnSpc>
              <a:buSzPct val="100000"/>
            </a:pPr>
            <a:r>
              <a:rPr lang="en-US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Modern operating systems often suffer from </a:t>
            </a:r>
            <a:r>
              <a:rPr lang="en-US" sz="1400" b="1" dirty="0">
                <a:solidFill>
                  <a:srgbClr val="C00000"/>
                </a:solidFill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latency spikes</a:t>
            </a:r>
            <a:r>
              <a:rPr lang="en-US" sz="1400" b="1" dirty="0">
                <a:solidFill>
                  <a:srgbClr val="C00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when memory pressure is high. The root cause is </a:t>
            </a:r>
            <a:r>
              <a:rPr lang="en-US" sz="1400" b="1" dirty="0">
                <a:solidFill>
                  <a:srgbClr val="C00000"/>
                </a:solidFill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page faults</a:t>
            </a:r>
            <a:r>
              <a:rPr lang="en-US" sz="1400" dirty="0">
                <a:solidFill>
                  <a:srgbClr val="C00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— when the OS cannot find a required memory page in RAM and must fetch or replace it. This process is slow and directly contributes to  </a:t>
            </a:r>
            <a:r>
              <a:rPr lang="en-US" sz="1400" b="1" dirty="0">
                <a:solidFill>
                  <a:schemeClr val="bg1"/>
                </a:solidFill>
                <a:highlight>
                  <a:srgbClr val="00800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system lag</a:t>
            </a:r>
            <a:r>
              <a:rPr lang="en-US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5BFC81-9712-D0B8-4B11-91DDE010AE22}"/>
              </a:ext>
            </a:extLst>
          </p:cNvPr>
          <p:cNvSpPr txBox="1"/>
          <p:nvPr/>
        </p:nvSpPr>
        <p:spPr>
          <a:xfrm>
            <a:off x="6616235" y="3067490"/>
            <a:ext cx="4808849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Aptos Display" panose="020B0004020202020204" pitchFamily="34" charset="0"/>
                <a:cs typeface="Times New Roman" panose="02020603050405020304" pitchFamily="18" charset="0"/>
              </a:rPr>
              <a:t>Cause of Lagging :-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The lagging issue arises because:</a:t>
            </a:r>
            <a:endParaRPr lang="en-IN" sz="1400" b="1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C00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High memory pressure</a:t>
            </a:r>
            <a:r>
              <a:rPr lang="en-IN" sz="1400" dirty="0">
                <a:solidFill>
                  <a:srgbClr val="C00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→ triggers page faults</a:t>
            </a:r>
            <a:endParaRPr lang="en-IN" sz="1400" b="1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C00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Wrong victim page selection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→ forces extra disk fetches</a:t>
            </a:r>
            <a:endParaRPr lang="en-IN" sz="1400" b="1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C00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Disk I/O is far slower than RAM access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C00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Delays accumulate</a:t>
            </a:r>
            <a:r>
              <a:rPr lang="en-IN" sz="1400" dirty="0">
                <a:solidFill>
                  <a:srgbClr val="C00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→ noticeable system lag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0FA78-A63C-DE99-D2A9-930A10098332}"/>
              </a:ext>
            </a:extLst>
          </p:cNvPr>
          <p:cNvSpPr txBox="1"/>
          <p:nvPr/>
        </p:nvSpPr>
        <p:spPr>
          <a:xfrm>
            <a:off x="599769" y="1039936"/>
            <a:ext cx="10923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Aptos Display" panose="020B0004020202020204" pitchFamily="34" charset="0"/>
              </a:rPr>
              <a:t>“</a:t>
            </a:r>
            <a:r>
              <a:rPr lang="en-US" sz="2400" b="1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Aptos Display" panose="020B0004020202020204" pitchFamily="34" charset="0"/>
              </a:rPr>
              <a:t>How can we provide the operating system with future memory access insight so page replacement becomes smarter, faster, and more efficient?”</a:t>
            </a:r>
            <a:endParaRPr lang="en-IN" sz="2400" b="1" dirty="0">
              <a:solidFill>
                <a:schemeClr val="tx1"/>
              </a:solidFill>
              <a:highlight>
                <a:srgbClr val="FFFF00"/>
              </a:highlight>
              <a:latin typeface="Aptos Display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C74ED-5E77-D0F0-6969-BC813C097CEC}"/>
              </a:ext>
            </a:extLst>
          </p:cNvPr>
          <p:cNvSpPr txBox="1"/>
          <p:nvPr/>
        </p:nvSpPr>
        <p:spPr>
          <a:xfrm>
            <a:off x="688261" y="3014943"/>
            <a:ext cx="535858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Aptos Display" panose="020B0004020202020204" pitchFamily="34" charset="0"/>
                <a:cs typeface="Times New Roman" panose="02020603050405020304" pitchFamily="18" charset="0"/>
              </a:rPr>
              <a:t>Problem statement: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Traditional page replacement algorithms (</a:t>
            </a:r>
            <a:r>
              <a:rPr lang="en-IN" sz="1400" dirty="0">
                <a:solidFill>
                  <a:srgbClr val="0000FF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FIFO, LRU, NRU, CLOCK, etc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.) are limited because they: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Depend only on historical access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Use heuristics without foresight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Cannot predict future memory usage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In today’s workloads (</a:t>
            </a:r>
            <a:r>
              <a:rPr lang="en-IN" sz="1400" dirty="0">
                <a:solidFill>
                  <a:srgbClr val="00B05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cloud computing, machine learning, gaming, multitasking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Access patterns are dynamic and unpredictable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Kernel decisions often become sub‑optimal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This leads to poor victim page selection, extra page faults, and ultimately lagging performance. </a:t>
            </a:r>
          </a:p>
          <a:p>
            <a:endParaRPr lang="en-IN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CEBF3E7-F9AF-3B44-2969-05241EE2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7FDD1299-E2C4-F47C-7499-37358593C9AB}"/>
              </a:ext>
            </a:extLst>
          </p:cNvPr>
          <p:cNvSpPr/>
          <p:nvPr/>
        </p:nvSpPr>
        <p:spPr>
          <a:xfrm>
            <a:off x="0" y="145256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1600"/>
            </a:pPr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Vision &amp; Motivation</a:t>
            </a:r>
          </a:p>
        </p:txBody>
      </p:sp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7463C62D-4386-7CAA-A8E3-16A8FD8847B5}"/>
              </a:ext>
            </a:extLst>
          </p:cNvPr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7F8373-4DDE-2151-2B33-71E62DD1F17F}"/>
              </a:ext>
            </a:extLst>
          </p:cNvPr>
          <p:cNvSpPr txBox="1"/>
          <p:nvPr/>
        </p:nvSpPr>
        <p:spPr>
          <a:xfrm>
            <a:off x="589935" y="1164886"/>
            <a:ext cx="106680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b="1" dirty="0">
                <a:solidFill>
                  <a:schemeClr val="bg1"/>
                </a:solidFill>
                <a:highlight>
                  <a:srgbClr val="00FF0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“Enable the OS to look a few steps into the future, allowing smarter page‑fault handling and more stable performance.”</a:t>
            </a:r>
            <a:endParaRPr lang="en-IN" dirty="0">
              <a:solidFill>
                <a:schemeClr val="bg1"/>
              </a:solidFill>
              <a:highlight>
                <a:srgbClr val="00FF00"/>
              </a:highlight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en-US" dirty="0">
                <a:latin typeface="Aptos Display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en-US" sz="2800" dirty="0">
                <a:latin typeface="Aptos Display" panose="020B0004020202020204" pitchFamily="34" charset="0"/>
                <a:cs typeface="Times New Roman" panose="02020603050405020304" pitchFamily="18" charset="0"/>
              </a:rPr>
              <a:t>vision :- 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endParaRPr lang="en-US" sz="800" b="1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To design a </a:t>
            </a:r>
            <a:r>
              <a:rPr lang="en-US" sz="1600" b="1" dirty="0">
                <a:solidFill>
                  <a:srgbClr val="FFC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next‑generation, intelligent Page Replacement Support System</a:t>
            </a:r>
            <a:r>
              <a:rPr lang="en-US" sz="1600" dirty="0">
                <a:solidFill>
                  <a:srgbClr val="FFC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that strengthens traditional OS memory‑management techniques using AI‑based future prediction — without modifying or replacing the OS kernel’s native algorithms</a:t>
            </a:r>
          </a:p>
          <a:p>
            <a:pPr marL="228600" lvl="0" indent="-117475">
              <a:lnSpc>
                <a:spcPct val="150000"/>
              </a:lnSpc>
              <a:buSzPct val="100000"/>
              <a:buNone/>
            </a:pPr>
            <a:r>
              <a:rPr lang="en-IN" sz="2800" dirty="0">
                <a:latin typeface="Aptos Display" panose="020B0004020202020204" pitchFamily="34" charset="0"/>
                <a:cs typeface="Times New Roman" panose="02020603050405020304" pitchFamily="18" charset="0"/>
              </a:rPr>
              <a:t>Motivation:-</a:t>
            </a:r>
            <a:endParaRPr lang="en-IN" sz="800" b="1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Modern </a:t>
            </a: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operating systems experience performance drops due to </a:t>
            </a:r>
            <a:r>
              <a:rPr lang="en-IN" sz="1600" b="1" dirty="0">
                <a:solidFill>
                  <a:schemeClr val="bg1"/>
                </a:solidFill>
                <a:highlight>
                  <a:srgbClr val="80800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page faults</a:t>
            </a: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, particularly </a:t>
            </a:r>
            <a:r>
              <a:rPr lang="en-IN" sz="1600" b="1" dirty="0">
                <a:solidFill>
                  <a:schemeClr val="bg1"/>
                </a:solidFill>
                <a:highlight>
                  <a:srgbClr val="80800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major faults</a:t>
            </a: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, which cause disk access.</a:t>
            </a:r>
            <a:b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Traditional page replacement algorithms (LRU, FIFO, CLOCK, NRU, etc.) rely heavily on </a:t>
            </a:r>
            <a:r>
              <a:rPr lang="en-IN" sz="1600" i="1" dirty="0">
                <a:latin typeface="Aptos Display" panose="020B0004020202020204" pitchFamily="34" charset="0"/>
                <a:cs typeface="Times New Roman" panose="02020603050405020304" pitchFamily="18" charset="0"/>
              </a:rPr>
              <a:t>past</a:t>
            </a: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 access patterns and </a:t>
            </a:r>
            <a:r>
              <a:rPr lang="en-IN" sz="1600" b="1" dirty="0">
                <a:solidFill>
                  <a:srgbClr val="FFC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do not have visibility into future page demand</a:t>
            </a: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, leading to avoidable lag, inaccurate victim selection, and inefficient memory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AI excels in </a:t>
            </a:r>
            <a:r>
              <a:rPr lang="en-IN" sz="1600" b="1" dirty="0">
                <a:solidFill>
                  <a:srgbClr val="FFC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pattern recognition</a:t>
            </a:r>
            <a:r>
              <a:rPr lang="en-IN" sz="1600" dirty="0">
                <a:solidFill>
                  <a:srgbClr val="FFC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, </a:t>
            </a:r>
            <a:r>
              <a:rPr lang="en-IN" sz="1600" b="1" dirty="0">
                <a:solidFill>
                  <a:srgbClr val="FFC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sequential </a:t>
            </a:r>
            <a:r>
              <a:rPr lang="en-IN" sz="1600" b="1" dirty="0" err="1">
                <a:solidFill>
                  <a:srgbClr val="FFC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modeling</a:t>
            </a: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, and </a:t>
            </a:r>
            <a:r>
              <a:rPr lang="en-IN" sz="1600" b="1" dirty="0">
                <a:solidFill>
                  <a:srgbClr val="FFC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predictive inference</a:t>
            </a: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  <a:b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Where OS algorithms lack future 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insight, machine learning can </a:t>
            </a:r>
            <a:r>
              <a:rPr lang="en-IN" sz="1400" b="1" dirty="0">
                <a:solidFill>
                  <a:srgbClr val="FFC00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predict upcoming PFN sequences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 and act as an intelligent advisory layer.</a:t>
            </a:r>
            <a:endParaRPr lang="en-IN" sz="1400" b="1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138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Objective &amp; Scope</a:t>
            </a:r>
            <a:r>
              <a:rPr lang="en-US" sz="2800" b="1" dirty="0">
                <a:solidFill>
                  <a:schemeClr val="lt1"/>
                </a:solidFill>
                <a:latin typeface="Aptos Display" panose="020B0004020202020204" pitchFamily="34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2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F3DFF2-3A34-6E78-F66D-395C8230F969}"/>
              </a:ext>
            </a:extLst>
          </p:cNvPr>
          <p:cNvSpPr txBox="1"/>
          <p:nvPr/>
        </p:nvSpPr>
        <p:spPr>
          <a:xfrm>
            <a:off x="589934" y="1174536"/>
            <a:ext cx="5184141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Objective of the Project </a:t>
            </a:r>
            <a:r>
              <a:rPr lang="en-IN" sz="1600" b="1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:</a:t>
            </a:r>
            <a:endParaRPr lang="en-IN" sz="1600" b="0" i="0" dirty="0">
              <a:solidFill>
                <a:schemeClr val="tx1"/>
              </a:solidFill>
              <a:effectLst/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To design and implement a</a:t>
            </a:r>
            <a:r>
              <a:rPr lang="en-IN" sz="1400" b="0" i="0" dirty="0">
                <a:solidFill>
                  <a:srgbClr val="92D050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1400" b="1" i="0" dirty="0">
                <a:solidFill>
                  <a:srgbClr val="92D050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Hybrid AI‑Assisted Page Replacement System</a:t>
            </a: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 that enhances the Linux kernel’s ability to predict future page faults, minimize lag caused by inefficient victim selection, and support traditional page‑replacement algorithms with data‑driven intelligence — </a:t>
            </a:r>
            <a:r>
              <a:rPr lang="en-IN" sz="1400" b="0" i="1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without replacing the OS kernel’s existing mechanisms</a:t>
            </a: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1400" b="1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📌 Key Goals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Develop an </a:t>
            </a:r>
            <a:r>
              <a:rPr lang="en-IN" sz="1400" b="1" i="0" dirty="0">
                <a:solidFill>
                  <a:srgbClr val="002060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AI model</a:t>
            </a:r>
            <a:r>
              <a:rPr lang="en-IN" sz="1400" b="0" i="0" dirty="0">
                <a:solidFill>
                  <a:srgbClr val="002060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capable of predicting upcoming </a:t>
            </a:r>
            <a:r>
              <a:rPr lang="en-IN" sz="1400" b="0" i="1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major page-fault PFN sequences</a:t>
            </a: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 with high accuracy.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Integrate prediction intelligence into the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1400" b="1" i="0" dirty="0">
                <a:solidFill>
                  <a:schemeClr val="bg1"/>
                </a:solidFill>
                <a:effectLst/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Linux kernel workflow</a:t>
            </a:r>
            <a:r>
              <a:rPr lang="en-IN" sz="1400" b="0" i="0" dirty="0">
                <a:solidFill>
                  <a:schemeClr val="bg1"/>
                </a:solidFill>
                <a:effectLst/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 using </a:t>
            </a:r>
            <a:r>
              <a:rPr lang="en-IN" sz="1400" b="1" i="0" dirty="0">
                <a:solidFill>
                  <a:schemeClr val="bg1"/>
                </a:solidFill>
                <a:effectLst/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kprobes</a:t>
            </a:r>
            <a:r>
              <a:rPr lang="en-IN" sz="1400" b="1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Reduce </a:t>
            </a:r>
            <a:r>
              <a:rPr lang="en-IN" sz="1400" b="1" i="0" dirty="0">
                <a:solidFill>
                  <a:srgbClr val="92D050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false victim selection</a:t>
            </a: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 during memory pressure situations (</a:t>
            </a:r>
            <a:r>
              <a:rPr lang="en-IN" sz="1400" b="1" i="0" dirty="0">
                <a:solidFill>
                  <a:srgbClr val="0000FF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shrink_folio_list</a:t>
            </a: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Improve </a:t>
            </a:r>
            <a:r>
              <a:rPr lang="en-IN" sz="1400" b="1" i="0" dirty="0">
                <a:solidFill>
                  <a:srgbClr val="C00000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system responsiveness</a:t>
            </a: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 and provide a more efficient memory‑management pipeline.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Maintain compatibility with existing OS algorithms (LRU, CLOCK, FIFO, etc.).</a:t>
            </a:r>
          </a:p>
          <a:p>
            <a:pPr>
              <a:buNone/>
            </a:pPr>
            <a:b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endParaRPr lang="en-IN" sz="16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89E3A-EEB0-AE4F-D24D-85CF3AD34A87}"/>
              </a:ext>
            </a:extLst>
          </p:cNvPr>
          <p:cNvSpPr txBox="1"/>
          <p:nvPr/>
        </p:nvSpPr>
        <p:spPr>
          <a:xfrm>
            <a:off x="6012096" y="1256865"/>
            <a:ext cx="6179904" cy="3731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In Scope :-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1400" b="0" i="0" dirty="0">
              <a:solidFill>
                <a:srgbClr val="A8A6A4"/>
              </a:solidFill>
              <a:effectLst/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Designing end‑to‑end workflow combining:</a:t>
            </a:r>
          </a:p>
          <a:p>
            <a:pPr marL="742950" lvl="1" indent="-285750" algn="l">
              <a:buFont typeface="Wingdings" panose="05000000000000000000" pitchFamily="2" charset="2"/>
              <a:buChar char="§"/>
            </a:pPr>
            <a:endParaRPr lang="en-IN" sz="1400" b="0" i="0" dirty="0">
              <a:solidFill>
                <a:schemeClr val="tx1"/>
              </a:solidFill>
              <a:effectLst/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Linux kernel instrumentation via </a:t>
            </a:r>
            <a:r>
              <a:rPr lang="en-IN" sz="1400" b="1" i="0" dirty="0">
                <a:solidFill>
                  <a:schemeClr val="bg1"/>
                </a:solidFill>
                <a:effectLst/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kprobes</a:t>
            </a:r>
            <a:endParaRPr lang="en-IN" sz="1400" b="0" i="0" dirty="0">
              <a:solidFill>
                <a:schemeClr val="bg1"/>
              </a:solidFill>
              <a:effectLst/>
              <a:highlight>
                <a:srgbClr val="C0C0C0"/>
              </a:highlight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PFN major fault sequence extraction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ML-based PFN prediction using GRU, embeddings, and custom slice modelling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Integration with traditional page replacement logic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Data visualization, smoothing, and performance analysis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Developing a complete </a:t>
            </a:r>
            <a:r>
              <a:rPr lang="en-IN" sz="1400" b="1" i="0" dirty="0">
                <a:solidFill>
                  <a:schemeClr val="bg1"/>
                </a:solidFill>
                <a:effectLst/>
                <a:highlight>
                  <a:srgbClr val="80808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desktop UI + full web interface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for monitoring and demo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IN" sz="1400" b="0" i="0" dirty="0">
              <a:solidFill>
                <a:schemeClr val="tx1"/>
              </a:solidFill>
              <a:effectLst/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Building multiple model versions (V1 → V3) with incremental accuracy improvements.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Real‑time prediction of </a:t>
            </a:r>
            <a:r>
              <a:rPr lang="en-IN" sz="1400" b="1" i="0" dirty="0">
                <a:solidFill>
                  <a:srgbClr val="C00000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fixed‑length future PFNs</a:t>
            </a:r>
            <a:r>
              <a:rPr lang="en-IN" sz="1400" b="0" i="0" dirty="0">
                <a:solidFill>
                  <a:schemeClr val="tx1"/>
                </a:solidFill>
                <a:effectLst/>
                <a:latin typeface="Aptos Display" panose="020B0004020202020204" pitchFamily="34" charset="0"/>
                <a:cs typeface="Times New Roman" panose="02020603050405020304" pitchFamily="18" charset="0"/>
              </a:rPr>
              <a:t> inside kernel event triggers.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0" y="269280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30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Project Layout</a:t>
            </a:r>
            <a:endParaRPr sz="30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AC9F29A-FA5E-2933-6AD4-029C7F7DE3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9317078"/>
              </p:ext>
            </p:extLst>
          </p:nvPr>
        </p:nvGraphicFramePr>
        <p:xfrm>
          <a:off x="700502" y="1180704"/>
          <a:ext cx="3286583" cy="2439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457AEE9-50E9-2162-0F4A-692BDBAE2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4529410"/>
              </p:ext>
            </p:extLst>
          </p:nvPr>
        </p:nvGraphicFramePr>
        <p:xfrm>
          <a:off x="4131884" y="1153344"/>
          <a:ext cx="3043189" cy="2439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C172D01-0E1C-1C0F-B6BA-7A906DD497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64546"/>
              </p:ext>
            </p:extLst>
          </p:nvPr>
        </p:nvGraphicFramePr>
        <p:xfrm>
          <a:off x="7319872" y="894276"/>
          <a:ext cx="4075716" cy="2868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3B4D1D1-61BB-77FF-B5B4-FB44D47147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537598"/>
              </p:ext>
            </p:extLst>
          </p:nvPr>
        </p:nvGraphicFramePr>
        <p:xfrm>
          <a:off x="700502" y="3702951"/>
          <a:ext cx="3286582" cy="24852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6919F78-297E-4389-2424-35906404D3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9800925"/>
              </p:ext>
            </p:extLst>
          </p:nvPr>
        </p:nvGraphicFramePr>
        <p:xfrm>
          <a:off x="4131885" y="3715332"/>
          <a:ext cx="3043189" cy="2501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711C27E8-1424-7A26-745C-97A77E28D8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7170676"/>
              </p:ext>
            </p:extLst>
          </p:nvPr>
        </p:nvGraphicFramePr>
        <p:xfrm>
          <a:off x="7319872" y="3688183"/>
          <a:ext cx="3686070" cy="2452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165894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IN" sz="2800" b="1" dirty="0">
              <a:solidFill>
                <a:schemeClr val="bg1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Project Architecture</a:t>
            </a:r>
          </a:p>
          <a:p>
            <a:endParaRPr lang="en-IN" sz="28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B8EF87-1FC2-7B2E-3331-E75D0D1A8D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1884" y="1201647"/>
            <a:ext cx="10375510" cy="48255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48DAB2FB-80A8-9957-0B78-563A782B4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>
            <a:extLst>
              <a:ext uri="{FF2B5EF4-FFF2-40B4-BE49-F238E27FC236}">
                <a16:creationId xmlns:a16="http://schemas.microsoft.com/office/drawing/2014/main" id="{09058349-75C8-BE1E-24A0-579314EB1EA1}"/>
              </a:ext>
            </a:extLst>
          </p:cNvPr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Hybrid AI–LRU System</a:t>
            </a:r>
            <a:endParaRPr sz="28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3" name="Google Shape;123;p6">
            <a:extLst>
              <a:ext uri="{FF2B5EF4-FFF2-40B4-BE49-F238E27FC236}">
                <a16:creationId xmlns:a16="http://schemas.microsoft.com/office/drawing/2014/main" id="{90B14EE3-A482-245F-7D0B-EF7AA4A55937}"/>
              </a:ext>
            </a:extLst>
          </p:cNvPr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1B046-5EEC-E66E-2D8A-6B51374642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8194" y="1170039"/>
            <a:ext cx="9743767" cy="490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174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CB799E-0E00-2AE6-FCBB-77C80F387A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46606" y="1001977"/>
            <a:ext cx="5004620" cy="5272036"/>
          </a:xfrm>
          <a:prstGeom prst="rect">
            <a:avLst/>
          </a:prstGeom>
        </p:spPr>
      </p:pic>
      <p:sp>
        <p:nvSpPr>
          <p:cNvPr id="129" name="Google Shape;129;p7"/>
          <p:cNvSpPr/>
          <p:nvPr/>
        </p:nvSpPr>
        <p:spPr>
          <a:xfrm>
            <a:off x="0" y="230188"/>
            <a:ext cx="12192000" cy="77178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32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Architecture Overview &amp; Core Components (Polished Version)</a:t>
            </a:r>
            <a:endParaRPr sz="32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rPr>
              <a:t>   </a:t>
            </a: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>
            <a:spLocks noGrp="1"/>
          </p:cNvSpPr>
          <p:nvPr>
            <p:ph idx="1"/>
          </p:nvPr>
        </p:nvSpPr>
        <p:spPr>
          <a:xfrm>
            <a:off x="412955" y="1352774"/>
            <a:ext cx="7620000" cy="457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IN" sz="12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Main Components</a:t>
            </a:r>
          </a:p>
          <a:p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🔹 </a:t>
            </a:r>
            <a:r>
              <a:rPr lang="en-IN" sz="12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Memory Manager (LRU — Kernel Space)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Handles page replacement using standard LRU. AI does </a:t>
            </a:r>
            <a:r>
              <a:rPr lang="en-IN" sz="1200" i="1" dirty="0">
                <a:latin typeface="Aptos Display" panose="020B0004020202020204" pitchFamily="34" charset="0"/>
                <a:cs typeface="Times New Roman" panose="02020603050405020304" pitchFamily="18" charset="0"/>
              </a:rPr>
              <a:t>not</a:t>
            </a: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 replace LRU—only advises through validation.</a:t>
            </a:r>
          </a:p>
          <a:p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🔹 </a:t>
            </a:r>
            <a:r>
              <a:rPr lang="en-IN" sz="12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Event Encoder (Kernel Module)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Captures PFN major faults via </a:t>
            </a:r>
            <a:r>
              <a:rPr lang="en-IN" sz="12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kprobes</a:t>
            </a: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 and sends compact event packets (PID, VA, PFN, mapping, folio) to user space through </a:t>
            </a:r>
            <a:r>
              <a:rPr lang="en-IN" sz="12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Netlink</a:t>
            </a: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🔹 </a:t>
            </a:r>
            <a:r>
              <a:rPr lang="en-IN" sz="12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AI Daemon (User Space)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Receives kernel events → maintains per-PID buffer (30 steps) → runs V3 GRU model → predicts 5 future PFNs → applies trust filter → returns predicted chain + confidence to kernel.</a:t>
            </a:r>
          </a:p>
          <a:p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🔹 </a:t>
            </a:r>
            <a:r>
              <a:rPr lang="en-IN" sz="12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Trust Controller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Computes trust score </a:t>
            </a:r>
            <a:r>
              <a:rPr lang="en-IN" sz="1200" i="1" dirty="0">
                <a:latin typeface="Aptos Display" panose="020B0004020202020204" pitchFamily="34" charset="0"/>
                <a:cs typeface="Times New Roman" panose="02020603050405020304" pitchFamily="18" charset="0"/>
              </a:rPr>
              <a:t>(T = 0.3S + 0.4</a:t>
            </a:r>
            <a:r>
              <a:rPr lang="el-GR" sz="1200" i="1" dirty="0">
                <a:latin typeface="Aptos Display" panose="020B0004020202020204" pitchFamily="34" charset="0"/>
                <a:cs typeface="Times New Roman" panose="02020603050405020304" pitchFamily="18" charset="0"/>
              </a:rPr>
              <a:t>μ + 0.3</a:t>
            </a:r>
            <a:r>
              <a:rPr lang="en-IN" sz="1200" i="1" dirty="0">
                <a:latin typeface="Aptos Display" panose="020B0004020202020204" pitchFamily="34" charset="0"/>
                <a:cs typeface="Times New Roman" panose="02020603050405020304" pitchFamily="18" charset="0"/>
              </a:rPr>
              <a:t>W)</a:t>
            </a: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 and allows AI suggestions only when confidence is reliable.</a:t>
            </a:r>
          </a:p>
          <a:p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🔹 </a:t>
            </a:r>
            <a:r>
              <a:rPr lang="en-IN" sz="12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Kernel Victim Validation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When LRU selects a victim, kernel checks AI-predicted chain → protects page if needed → ensures safe, advisory-only enhancement.</a:t>
            </a:r>
          </a:p>
          <a:p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🔹 </a:t>
            </a:r>
            <a:r>
              <a:rPr lang="en-IN" sz="12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Reality Daemon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Continuously compares predictions vs actual outcomes → updates long-term trust (W) for adaptive learning.</a:t>
            </a:r>
          </a:p>
          <a:p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🔹 </a:t>
            </a:r>
            <a:r>
              <a:rPr lang="en-IN" sz="12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Hold Queue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Temporarily keeps pages predicted to be needed soon; avoids premature eviction.</a:t>
            </a:r>
          </a:p>
          <a:p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🔹 </a:t>
            </a:r>
            <a:r>
              <a:rPr lang="en-IN" sz="12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GUI Dashboard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Shows real-time kernel logs, prediction chains, trust scores, and memory activity.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32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Trust-Based Decision Logic</a:t>
            </a:r>
            <a:endParaRPr sz="32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Aptos Display" panose="020B0004020202020204" pitchFamily="34" charset="0"/>
                <a:ea typeface="Calibri"/>
                <a:cs typeface="Times New Roman" panose="02020603050405020304" pitchFamily="18" charset="0"/>
                <a:sym typeface="Calibri"/>
              </a:rPr>
              <a:t>                                         </a:t>
            </a: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Google Shape;145;p9"/>
              <p:cNvSpPr txBox="1">
                <a:spLocks noGrp="1"/>
              </p:cNvSpPr>
              <p:nvPr>
                <p:ph idx="1"/>
              </p:nvPr>
            </p:nvSpPr>
            <p:spPr>
              <a:xfrm>
                <a:off x="686063" y="1244086"/>
                <a:ext cx="4146190" cy="4918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indent="0">
                  <a:buNone/>
                </a:pPr>
                <a:r>
                  <a:rPr lang="en-IN" sz="16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Purpose:</a:t>
                </a:r>
              </a:p>
              <a:p>
                <a:r>
                  <a:rPr lang="en-IN" sz="14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Ensures safe AI integration without risking kernel stability.</a:t>
                </a:r>
              </a:p>
              <a:p>
                <a:r>
                  <a:rPr lang="en-IN" sz="14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AI suggestions are accepted only when Trust ≥ Threshold (e.g., 0.7).</a:t>
                </a:r>
              </a:p>
              <a:p>
                <a:r>
                  <a:rPr lang="en-IN" sz="14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When confidence is low, the system falls back to standard LRU.</a:t>
                </a:r>
              </a:p>
              <a:p>
                <a:pPr marL="114300" indent="0">
                  <a:buNone/>
                </a:pPr>
                <a:endParaRPr lang="en-US" sz="1400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Trust Score Formula: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400">
                        <a:latin typeface="Aptos Display" panose="020B0004020202020204" pitchFamily="34" charset="0"/>
                        <a:cs typeface="Times New Roman" panose="02020603050405020304" pitchFamily="18" charset="0"/>
                      </a:rPr>
                      <m:t>𝐓𝐫𝐮𝐬𝐭</m:t>
                    </m:r>
                    <m:r>
                      <a:rPr lang="en-IN" sz="14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400" b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14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400" b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sz="14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400" b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IN" sz="1400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IN" sz="14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Where:</a:t>
                </a:r>
              </a:p>
              <a:p>
                <a:pPr>
                  <a:lnSpc>
                    <a:spcPct val="100000"/>
                  </a:lnSpc>
                </a:pPr>
                <a:r>
                  <a:rPr lang="el-GR" sz="14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μ → </a:t>
                </a:r>
                <a:r>
                  <a:rPr lang="en-IN" sz="14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Current fuzzy confidence (prediction quality).</a:t>
                </a:r>
              </a:p>
              <a:p>
                <a:pPr>
                  <a:lnSpc>
                    <a:spcPct val="100000"/>
                  </a:lnSpc>
                </a:pPr>
                <a:r>
                  <a:rPr lang="en-IN" sz="14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S → Short-term stability (recent prediction performance).</a:t>
                </a:r>
              </a:p>
              <a:p>
                <a:pPr>
                  <a:lnSpc>
                    <a:spcPct val="100000"/>
                  </a:lnSpc>
                </a:pPr>
                <a:r>
                  <a:rPr lang="en-IN" sz="14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W → Long-term reliability (historical accuracy).</a:t>
                </a:r>
              </a:p>
              <a:p>
                <a:pPr marL="114300" indent="0">
                  <a:buNone/>
                </a:pPr>
                <a:endParaRPr lang="en-US" sz="1400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5" name="Google Shape;145;p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063" y="1244086"/>
                <a:ext cx="4146190" cy="4918229"/>
              </a:xfrm>
              <a:prstGeom prst="rect">
                <a:avLst/>
              </a:prstGeom>
              <a:blipFill>
                <a:blip r:embed="rId3"/>
                <a:stretch>
                  <a:fillRect l="-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2ACF8DB-D967-4B9C-FC92-4FF2AAFA1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619" y="3621796"/>
            <a:ext cx="6171284" cy="25405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090EDE-D8B0-F651-F8E0-FBB19FDE9474}"/>
              </a:ext>
            </a:extLst>
          </p:cNvPr>
          <p:cNvSpPr txBox="1"/>
          <p:nvPr/>
        </p:nvSpPr>
        <p:spPr>
          <a:xfrm>
            <a:off x="4832253" y="1244086"/>
            <a:ext cx="63436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Decision Flow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Trust ≥ Threshold → Kernel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honors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AI prediction and protects the predicted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Trust &lt; Threshold → Kernel uses normal LRU eviction.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Ensures AI influence grows only when it proves consistent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7DDFF-D577-244A-3204-C7D0B69C4A01}"/>
              </a:ext>
            </a:extLst>
          </p:cNvPr>
          <p:cNvSpPr txBox="1"/>
          <p:nvPr/>
        </p:nvSpPr>
        <p:spPr>
          <a:xfrm>
            <a:off x="4832253" y="2330789"/>
            <a:ext cx="610091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Outcome: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High Trust → Page is held (AI suggestion applied).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Low Trust → Page is evicted normally (LRU path).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Overall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remains stable, safe, and adaptive.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Performance Baseline Before Hybrid Integration — Detailed Explanation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FB055-4F11-C7A0-D603-C30AE2E6E512}"/>
              </a:ext>
            </a:extLst>
          </p:cNvPr>
          <p:cNvSpPr txBox="1"/>
          <p:nvPr/>
        </p:nvSpPr>
        <p:spPr>
          <a:xfrm>
            <a:off x="454742" y="1059974"/>
            <a:ext cx="110367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Before introducing the hybrid AI-assisted model, it was essential to measure the current system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under normal conditions. This baseline helped identify performance gaps, validate assumptions, and understand how memory behaves during various workloads.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B8A0B-E1C0-7081-157E-2EA4DCCC7C01}"/>
              </a:ext>
            </a:extLst>
          </p:cNvPr>
          <p:cNvSpPr txBox="1"/>
          <p:nvPr/>
        </p:nvSpPr>
        <p:spPr>
          <a:xfrm>
            <a:off x="454741" y="1652569"/>
            <a:ext cx="11036709" cy="3116625"/>
          </a:xfrm>
          <a:prstGeom prst="rect">
            <a:avLst/>
          </a:prstGeom>
          <a:noFill/>
        </p:spPr>
        <p:txBody>
          <a:bodyPr wrap="square" numCol="2" spcCol="18000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Setup Environment: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Testing was performed on Ubuntu (VirtualBox or any Linux environment works).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Two key tools were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vmstat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→ Tracks system-level memory statistics such as page faults, swap usage, and CPU wait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stress-ng → Generates controlled synthetic workloads to test system memory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under 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Focused parameters included: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Page faults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Swap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Memory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Latency</a:t>
            </a:r>
          </a:p>
          <a:p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Key 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Overall memory usage remained stable under controlled stress, indicating no abnormal system instability.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Major page faults were identified as the primary performance bottleneck, directly responsible for noticeable delays during heavy workloads.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Traditional tools (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vmstat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, top,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iostat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, etc.) only provide high-level memory statistics and cannot show page-level transitions—which are required for training an AI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This highlighted the need for deep kernel-level data abstraction (PFN-level logging, VA mapping, and per-process tracking) to generate meaningful training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E6959-E796-489E-EA62-A110C3940DEF}"/>
              </a:ext>
            </a:extLst>
          </p:cNvPr>
          <p:cNvSpPr txBox="1"/>
          <p:nvPr/>
        </p:nvSpPr>
        <p:spPr>
          <a:xfrm>
            <a:off x="454742" y="4699819"/>
            <a:ext cx="1114732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Takeaway: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The baseline study confirmed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The system behaves predictably,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Page faults have the highest runtime impact,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And crucially—the Linux kernel does not expose the fine-grained PFN data we need.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it-IT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Kernel Data Acquisition via kprobes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grpSp>
        <p:nvGrpSpPr>
          <p:cNvPr id="152" name="Google Shape;152;p10"/>
          <p:cNvGrpSpPr/>
          <p:nvPr/>
        </p:nvGrpSpPr>
        <p:grpSpPr>
          <a:xfrm>
            <a:off x="534140" y="3761916"/>
            <a:ext cx="11360116" cy="2458542"/>
            <a:chOff x="27862" y="2190096"/>
            <a:chExt cx="8695542" cy="2458542"/>
          </a:xfrm>
        </p:grpSpPr>
        <p:sp>
          <p:nvSpPr>
            <p:cNvPr id="153" name="Google Shape;153;p10"/>
            <p:cNvSpPr/>
            <p:nvPr/>
          </p:nvSpPr>
          <p:spPr>
            <a:xfrm>
              <a:off x="27862" y="2511742"/>
              <a:ext cx="1803569" cy="1478422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Display" panose="020B0004020202020204" pitchFamily="34" charset="0"/>
              </a:endParaRPr>
            </a:p>
          </p:txBody>
        </p:sp>
        <p:sp>
          <p:nvSpPr>
            <p:cNvPr id="154" name="Google Shape;154;p10"/>
            <p:cNvSpPr txBox="1"/>
            <p:nvPr/>
          </p:nvSpPr>
          <p:spPr>
            <a:xfrm>
              <a:off x="111242" y="2715618"/>
              <a:ext cx="1781481" cy="8301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25" tIns="13325" rIns="13325" bIns="13325" anchor="t" anchorCtr="0">
              <a:noAutofit/>
            </a:bodyPr>
            <a:lstStyle/>
            <a:p>
              <a:pPr marL="57150" lvl="1" indent="-57150">
                <a:lnSpc>
                  <a:spcPct val="90000"/>
                </a:lnSpc>
                <a:buClr>
                  <a:schemeClr val="dk1"/>
                </a:buClr>
                <a:buSzPts val="700"/>
                <a:buFont typeface="Calibri"/>
                <a:buChar char="•"/>
              </a:pPr>
              <a:r>
                <a:rPr lang="en-US" sz="1050" dirty="0">
                  <a:solidFill>
                    <a:schemeClr val="accent1">
                      <a:lumMod val="75000"/>
                    </a:schemeClr>
                  </a:solidFill>
                  <a:latin typeface="Aptos Display" panose="020B0004020202020204" pitchFamily="34" charset="0"/>
                </a:rPr>
                <a:t>Hooks in </a:t>
              </a:r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  <a:latin typeface="Aptos Display" panose="020B0004020202020204" pitchFamily="34" charset="0"/>
                </a:rPr>
                <a:t>do_swap_page() </a:t>
              </a:r>
              <a:r>
                <a:rPr lang="en-US" sz="1050" dirty="0">
                  <a:solidFill>
                    <a:schemeClr val="accent1">
                      <a:lumMod val="75000"/>
                    </a:schemeClr>
                  </a:solidFill>
                  <a:latin typeface="Aptos Display" panose="020B0004020202020204" pitchFamily="34" charset="0"/>
                </a:rPr>
                <a:t>and </a:t>
              </a:r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  <a:latin typeface="Aptos Display" panose="020B0004020202020204" pitchFamily="34" charset="0"/>
                </a:rPr>
                <a:t>finish_fault() </a:t>
              </a:r>
              <a:r>
                <a:rPr lang="en-US" sz="1050" dirty="0">
                  <a:solidFill>
                    <a:schemeClr val="accent1">
                      <a:lumMod val="75000"/>
                    </a:schemeClr>
                  </a:solidFill>
                  <a:latin typeface="Aptos Display" panose="020B0004020202020204" pitchFamily="34" charset="0"/>
                </a:rPr>
                <a:t>capture:</a:t>
              </a:r>
              <a:br>
                <a:rPr lang="en-US" sz="1050" dirty="0">
                  <a:solidFill>
                    <a:schemeClr val="accent1">
                      <a:lumMod val="75000"/>
                    </a:schemeClr>
                  </a:solidFill>
                  <a:latin typeface="Aptos Display" panose="020B0004020202020204" pitchFamily="34" charset="0"/>
                </a:rPr>
              </a:br>
              <a:r>
                <a:rPr lang="en-US" sz="1050" dirty="0">
                  <a:solidFill>
                    <a:schemeClr val="accent1">
                      <a:lumMod val="75000"/>
                    </a:schemeClr>
                  </a:solidFill>
                  <a:latin typeface="Aptos Display" panose="020B0004020202020204" pitchFamily="34" charset="0"/>
                </a:rPr>
                <a:t>→ Virtual Address, PFN, PID, Latency, Folio</a:t>
              </a:r>
            </a:p>
            <a:p>
              <a:pPr marL="57150" lvl="1" indent="-57150">
                <a:lnSpc>
                  <a:spcPct val="90000"/>
                </a:lnSpc>
                <a:buClr>
                  <a:schemeClr val="dk1"/>
                </a:buClr>
                <a:buSzPts val="700"/>
                <a:buFont typeface="Calibri"/>
                <a:buChar char="•"/>
              </a:pPr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  <a:latin typeface="Aptos Display" panose="020B0004020202020204" pitchFamily="34" charset="0"/>
                </a:rPr>
                <a:t>vmscan.c </a:t>
              </a:r>
              <a:r>
                <a:rPr lang="en-US" sz="1050" dirty="0">
                  <a:solidFill>
                    <a:schemeClr val="accent1">
                      <a:lumMod val="75000"/>
                    </a:schemeClr>
                  </a:solidFill>
                  <a:latin typeface="Aptos Display" panose="020B0004020202020204" pitchFamily="34" charset="0"/>
                </a:rPr>
                <a:t>probe tracks victim pages selected by LRU.</a:t>
              </a:r>
              <a:endParaRPr sz="1050" dirty="0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1004294" y="3087032"/>
              <a:ext cx="1561606" cy="156160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721" y="88553"/>
                  </a:moveTo>
                  <a:lnTo>
                    <a:pt x="12562" y="86940"/>
                  </a:lnTo>
                  <a:lnTo>
                    <a:pt x="12562" y="86940"/>
                  </a:lnTo>
                  <a:cubicBezTo>
                    <a:pt x="21778" y="103168"/>
                    <a:pt x="38650" y="113559"/>
                    <a:pt x="57290" y="114486"/>
                  </a:cubicBezTo>
                  <a:cubicBezTo>
                    <a:pt x="75930" y="115414"/>
                    <a:pt x="93750" y="106748"/>
                    <a:pt x="104531" y="91514"/>
                  </a:cubicBezTo>
                  <a:lnTo>
                    <a:pt x="102643" y="90442"/>
                  </a:lnTo>
                  <a:lnTo>
                    <a:pt x="108859" y="87746"/>
                  </a:lnTo>
                  <a:lnTo>
                    <a:pt x="109273" y="94207"/>
                  </a:lnTo>
                  <a:lnTo>
                    <a:pt x="107385" y="93135"/>
                  </a:lnTo>
                  <a:cubicBezTo>
                    <a:pt x="96017" y="109393"/>
                    <a:pt x="77107" y="118688"/>
                    <a:pt x="57290" y="117758"/>
                  </a:cubicBezTo>
                  <a:cubicBezTo>
                    <a:pt x="37474" y="116828"/>
                    <a:pt x="19517" y="105804"/>
                    <a:pt x="9721" y="88553"/>
                  </a:cubicBezTo>
                  <a:close/>
                </a:path>
              </a:pathLst>
            </a:custGeom>
            <a:solidFill>
              <a:srgbClr val="ABB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Display" panose="020B0004020202020204" pitchFamily="34" charset="0"/>
              </a:endParaRPr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541420" y="3749665"/>
              <a:ext cx="1209548" cy="480997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ptos Display" panose="020B0004020202020204" pitchFamily="34" charset="0"/>
              </a:endParaRPr>
            </a:p>
          </p:txBody>
        </p:sp>
        <p:sp>
          <p:nvSpPr>
            <p:cNvPr id="157" name="Google Shape;157;p10"/>
            <p:cNvSpPr txBox="1"/>
            <p:nvPr/>
          </p:nvSpPr>
          <p:spPr>
            <a:xfrm>
              <a:off x="555508" y="3763753"/>
              <a:ext cx="1181372" cy="452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650" tIns="17775" rIns="26650" bIns="177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lt1"/>
                </a:buClr>
                <a:buSzPts val="1400"/>
              </a:pPr>
              <a:r>
                <a:rPr lang="en-IN" sz="1200" dirty="0">
                  <a:solidFill>
                    <a:schemeClr val="bg1"/>
                  </a:solidFill>
                  <a:latin typeface="Aptos Display" panose="020B0004020202020204" pitchFamily="34" charset="0"/>
                  <a:cs typeface="Times New Roman" panose="02020603050405020304" pitchFamily="18" charset="0"/>
                </a:rPr>
                <a:t>Data Acquisition (Kernel Level)</a:t>
              </a:r>
              <a:endParaRPr sz="1200" dirty="0">
                <a:solidFill>
                  <a:schemeClr val="bg1"/>
                </a:solidFill>
                <a:latin typeface="Aptos Display" panose="020B0004020202020204" pitchFamily="34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58" name="Google Shape;158;p10"/>
            <p:cNvSpPr/>
            <p:nvPr/>
          </p:nvSpPr>
          <p:spPr>
            <a:xfrm>
              <a:off x="2038456" y="2867836"/>
              <a:ext cx="1360744" cy="13371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Display" panose="020B0004020202020204" pitchFamily="34" charset="0"/>
              </a:endParaRPr>
            </a:p>
          </p:txBody>
        </p:sp>
        <p:sp>
          <p:nvSpPr>
            <p:cNvPr id="159" name="Google Shape;159;p10"/>
            <p:cNvSpPr txBox="1"/>
            <p:nvPr/>
          </p:nvSpPr>
          <p:spPr>
            <a:xfrm>
              <a:off x="2064284" y="3134162"/>
              <a:ext cx="1309086" cy="8301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25" tIns="13325" rIns="13325" bIns="13325" anchor="t" anchorCtr="0">
              <a:noAutofit/>
            </a:bodyPr>
            <a:lstStyle/>
            <a:p>
              <a:pPr marL="57150" lvl="1" indent="-57150">
                <a:lnSpc>
                  <a:spcPct val="90000"/>
                </a:lnSpc>
                <a:buClr>
                  <a:schemeClr val="dk1"/>
                </a:buClr>
                <a:buSzPts val="700"/>
                <a:buFont typeface="Calibri"/>
                <a:buChar char="•"/>
              </a:pPr>
              <a:r>
                <a:rPr lang="en-IN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Normalize raw entries.</a:t>
              </a:r>
            </a:p>
            <a:p>
              <a:pPr marL="57150" lvl="1" indent="-57150">
                <a:lnSpc>
                  <a:spcPct val="90000"/>
                </a:lnSpc>
                <a:buClr>
                  <a:schemeClr val="dk1"/>
                </a:buClr>
                <a:buSzPts val="700"/>
                <a:buFont typeface="Calibri"/>
                <a:buChar char="•"/>
              </a:pPr>
              <a:r>
                <a:rPr lang="en-US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Remove duplicates and incomplete faults.</a:t>
              </a:r>
            </a:p>
            <a:p>
              <a:pPr marL="57150" lvl="1" indent="-57150">
                <a:lnSpc>
                  <a:spcPct val="90000"/>
                </a:lnSpc>
                <a:buClr>
                  <a:schemeClr val="dk1"/>
                </a:buClr>
                <a:buSzPts val="700"/>
                <a:buFont typeface="Calibri"/>
                <a:buChar char="•"/>
              </a:pPr>
              <a:r>
                <a:rPr lang="en-US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Align timestamps for sequential ordering.</a:t>
              </a:r>
              <a:endParaRPr sz="1050" dirty="0">
                <a:solidFill>
                  <a:srgbClr val="0000FF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2798753" y="2190096"/>
              <a:ext cx="1637724" cy="1637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632" y="31397"/>
                  </a:moveTo>
                  <a:lnTo>
                    <a:pt x="9632" y="31397"/>
                  </a:lnTo>
                  <a:cubicBezTo>
                    <a:pt x="19469" y="14075"/>
                    <a:pt x="37516" y="3024"/>
                    <a:pt x="57416" y="2135"/>
                  </a:cubicBezTo>
                  <a:cubicBezTo>
                    <a:pt x="77315" y="1246"/>
                    <a:pt x="96276" y="10645"/>
                    <a:pt x="107617" y="27021"/>
                  </a:cubicBezTo>
                  <a:lnTo>
                    <a:pt x="109418" y="25998"/>
                  </a:lnTo>
                  <a:lnTo>
                    <a:pt x="109013" y="32166"/>
                  </a:lnTo>
                  <a:lnTo>
                    <a:pt x="103097" y="29588"/>
                  </a:lnTo>
                  <a:lnTo>
                    <a:pt x="104897" y="28565"/>
                  </a:lnTo>
                  <a:lnTo>
                    <a:pt x="104897" y="28565"/>
                  </a:lnTo>
                  <a:cubicBezTo>
                    <a:pt x="94115" y="13166"/>
                    <a:pt x="76193" y="4367"/>
                    <a:pt x="57415" y="5253"/>
                  </a:cubicBezTo>
                  <a:cubicBezTo>
                    <a:pt x="38638" y="6140"/>
                    <a:pt x="21624" y="16588"/>
                    <a:pt x="12341" y="32935"/>
                  </a:cubicBezTo>
                  <a:close/>
                </a:path>
              </a:pathLst>
            </a:custGeom>
            <a:solidFill>
              <a:srgbClr val="ABB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ptos Display" panose="020B0004020202020204" pitchFamily="34" charset="0"/>
              </a:endParaRPr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2340844" y="2627337"/>
              <a:ext cx="1209548" cy="480997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ptos Display" panose="020B0004020202020204" pitchFamily="34" charset="0"/>
              </a:endParaRPr>
            </a:p>
          </p:txBody>
        </p:sp>
        <p:sp>
          <p:nvSpPr>
            <p:cNvPr id="162" name="Google Shape;162;p10"/>
            <p:cNvSpPr txBox="1"/>
            <p:nvPr/>
          </p:nvSpPr>
          <p:spPr>
            <a:xfrm>
              <a:off x="2354932" y="2641425"/>
              <a:ext cx="1181372" cy="452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650" tIns="17775" rIns="26650" bIns="177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lt1"/>
                </a:buClr>
                <a:buSzPts val="1400"/>
              </a:pPr>
              <a:r>
                <a:rPr lang="en-IN" sz="1200" dirty="0">
                  <a:solidFill>
                    <a:schemeClr val="bg1"/>
                  </a:solidFill>
                  <a:latin typeface="Aptos Display" panose="020B0004020202020204" pitchFamily="34" charset="0"/>
                  <a:cs typeface="Times New Roman" panose="02020603050405020304" pitchFamily="18" charset="0"/>
                </a:rPr>
                <a:t>Preprocessing &amp; Cleaning</a:t>
              </a:r>
              <a:endParaRPr sz="1200" dirty="0">
                <a:solidFill>
                  <a:schemeClr val="bg1"/>
                </a:solidFill>
                <a:latin typeface="Aptos Display" panose="020B0004020202020204" pitchFamily="34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3752876" y="2560048"/>
              <a:ext cx="1395514" cy="1430116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Display" panose="020B0004020202020204" pitchFamily="34" charset="0"/>
              </a:endParaRPr>
            </a:p>
          </p:txBody>
        </p:sp>
        <p:sp>
          <p:nvSpPr>
            <p:cNvPr id="164" name="Google Shape;164;p10"/>
            <p:cNvSpPr txBox="1"/>
            <p:nvPr/>
          </p:nvSpPr>
          <p:spPr>
            <a:xfrm>
              <a:off x="3864026" y="2759699"/>
              <a:ext cx="1309086" cy="8301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25" tIns="13325" rIns="13325" bIns="13325" anchor="t" anchorCtr="0">
              <a:noAutofit/>
            </a:bodyPr>
            <a:lstStyle/>
            <a:p>
              <a:pPr marL="57150" lvl="1" indent="-57150">
                <a:lnSpc>
                  <a:spcPct val="90000"/>
                </a:lnSpc>
                <a:buClr>
                  <a:schemeClr val="dk1"/>
                </a:buClr>
                <a:buSzPts val="700"/>
                <a:buFont typeface="Calibri"/>
                <a:buChar char="•"/>
              </a:pPr>
              <a:r>
                <a:rPr lang="en-IN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Derived metrics:</a:t>
              </a:r>
              <a:br>
                <a:rPr lang="en-IN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</a:br>
              <a:r>
                <a:rPr lang="en-IN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→ Page access frequency</a:t>
              </a:r>
              <a:br>
                <a:rPr lang="en-IN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</a:br>
              <a:r>
                <a:rPr lang="en-IN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→ Latency delta</a:t>
              </a:r>
              <a:br>
                <a:rPr lang="en-IN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</a:br>
              <a:r>
                <a:rPr lang="en-IN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→ Fault pattern sequence</a:t>
              </a:r>
            </a:p>
            <a:p>
              <a:pPr marL="57150" lvl="1" indent="-57150">
                <a:lnSpc>
                  <a:spcPct val="90000"/>
                </a:lnSpc>
                <a:buClr>
                  <a:schemeClr val="dk1"/>
                </a:buClr>
                <a:buSzPts val="700"/>
                <a:buFont typeface="Calibri"/>
                <a:buChar char="•"/>
              </a:pPr>
              <a:r>
                <a:rPr lang="en-US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Convert to </a:t>
              </a:r>
              <a:r>
                <a:rPr lang="en-US" sz="1050" b="1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fixed-length sequences</a:t>
              </a:r>
              <a:r>
                <a:rPr lang="en-US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 for LSTM/GRU input.</a:t>
              </a:r>
              <a:endParaRPr lang="da-DK" sz="1050" b="0" i="0" u="none" strike="noStrike" cap="none" dirty="0">
                <a:solidFill>
                  <a:srgbClr val="0000FF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4524512" y="3160046"/>
              <a:ext cx="1463851" cy="146385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847" y="88482"/>
                  </a:moveTo>
                  <a:lnTo>
                    <a:pt x="12878" y="86760"/>
                  </a:lnTo>
                  <a:lnTo>
                    <a:pt x="12878" y="86760"/>
                  </a:lnTo>
                  <a:cubicBezTo>
                    <a:pt x="21998" y="102819"/>
                    <a:pt x="38668" y="113128"/>
                    <a:pt x="57110" y="114113"/>
                  </a:cubicBezTo>
                  <a:cubicBezTo>
                    <a:pt x="75552" y="115098"/>
                    <a:pt x="93225" y="106623"/>
                    <a:pt x="104004" y="91627"/>
                  </a:cubicBezTo>
                  <a:lnTo>
                    <a:pt x="101991" y="90484"/>
                  </a:lnTo>
                  <a:lnTo>
                    <a:pt x="108638" y="87621"/>
                  </a:lnTo>
                  <a:lnTo>
                    <a:pt x="109064" y="94501"/>
                  </a:lnTo>
                  <a:lnTo>
                    <a:pt x="107051" y="93358"/>
                  </a:lnTo>
                  <a:lnTo>
                    <a:pt x="107051" y="93358"/>
                  </a:lnTo>
                  <a:cubicBezTo>
                    <a:pt x="95645" y="109447"/>
                    <a:pt x="76808" y="118592"/>
                    <a:pt x="57110" y="117604"/>
                  </a:cubicBezTo>
                  <a:cubicBezTo>
                    <a:pt x="37413" y="116616"/>
                    <a:pt x="19586" y="105631"/>
                    <a:pt x="9847" y="88482"/>
                  </a:cubicBezTo>
                  <a:close/>
                </a:path>
              </a:pathLst>
            </a:custGeom>
            <a:solidFill>
              <a:srgbClr val="ABB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ptos Display" panose="020B0004020202020204" pitchFamily="34" charset="0"/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4055263" y="3749665"/>
              <a:ext cx="1209548" cy="480997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ptos Display" panose="020B0004020202020204" pitchFamily="34" charset="0"/>
              </a:endParaRPr>
            </a:p>
          </p:txBody>
        </p:sp>
        <p:sp>
          <p:nvSpPr>
            <p:cNvPr id="167" name="Google Shape;167;p10"/>
            <p:cNvSpPr txBox="1"/>
            <p:nvPr/>
          </p:nvSpPr>
          <p:spPr>
            <a:xfrm>
              <a:off x="4055261" y="3749665"/>
              <a:ext cx="1166429" cy="48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650" tIns="17775" rIns="26650" bIns="177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lt1"/>
                </a:buClr>
                <a:buSzPts val="1400"/>
              </a:pPr>
              <a:r>
                <a:rPr lang="en-IN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Aptos Display" panose="020B0004020202020204" pitchFamily="34" charset="0"/>
                  <a:cs typeface="Times New Roman" panose="02020603050405020304" pitchFamily="18" charset="0"/>
                </a:rPr>
                <a:t>Feature Engineering</a:t>
              </a:r>
              <a:endParaRPr sz="1200" dirty="0">
                <a:solidFill>
                  <a:schemeClr val="bg2">
                    <a:lumMod val="20000"/>
                    <a:lumOff val="80000"/>
                  </a:schemeClr>
                </a:solidFill>
                <a:latin typeface="Aptos Display" panose="020B0004020202020204" pitchFamily="34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5497875" y="2841947"/>
              <a:ext cx="1379022" cy="1336594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Display" panose="020B0004020202020204" pitchFamily="34" charset="0"/>
              </a:endParaRPr>
            </a:p>
          </p:txBody>
        </p:sp>
        <p:sp>
          <p:nvSpPr>
            <p:cNvPr id="169" name="Google Shape;169;p10"/>
            <p:cNvSpPr txBox="1"/>
            <p:nvPr/>
          </p:nvSpPr>
          <p:spPr>
            <a:xfrm>
              <a:off x="5573048" y="3181182"/>
              <a:ext cx="1309086" cy="8301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25" tIns="13325" rIns="13325" bIns="13325" anchor="t" anchorCtr="0">
              <a:noAutofit/>
            </a:bodyPr>
            <a:lstStyle/>
            <a:p>
              <a:pPr marL="57150" lvl="1" indent="-57150">
                <a:lnSpc>
                  <a:spcPct val="90000"/>
                </a:lnSpc>
                <a:buClr>
                  <a:schemeClr val="dk1"/>
                </a:buClr>
                <a:buSzPts val="700"/>
                <a:buFont typeface="Calibri"/>
                <a:buChar char="•"/>
              </a:pPr>
              <a:r>
                <a:rPr lang="en-US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Generate additional training sequences (Sequential, Random, Locality, Mixed).</a:t>
              </a:r>
            </a:p>
            <a:p>
              <a:pPr marL="57150" lvl="1" indent="-57150">
                <a:lnSpc>
                  <a:spcPct val="90000"/>
                </a:lnSpc>
                <a:buClr>
                  <a:schemeClr val="dk1"/>
                </a:buClr>
                <a:buSzPts val="700"/>
                <a:buFont typeface="Calibri"/>
                <a:buChar char="•"/>
              </a:pPr>
              <a:r>
                <a:rPr lang="en-US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Balances training data distribution for robust model learning.</a:t>
              </a:r>
            </a:p>
            <a:p>
              <a:pPr marL="57150" lvl="1" indent="-57150">
                <a:lnSpc>
                  <a:spcPct val="90000"/>
                </a:lnSpc>
                <a:buClr>
                  <a:schemeClr val="dk1"/>
                </a:buClr>
                <a:buSzPts val="700"/>
                <a:buFont typeface="Calibri"/>
                <a:buChar char="•"/>
              </a:pPr>
              <a:endParaRPr sz="1050" dirty="0">
                <a:latin typeface="Aptos Display" panose="020B0004020202020204" pitchFamily="34" charset="0"/>
              </a:endParaRPr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6227592" y="2190096"/>
              <a:ext cx="1637724" cy="1637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632" y="31397"/>
                  </a:moveTo>
                  <a:lnTo>
                    <a:pt x="9632" y="31397"/>
                  </a:lnTo>
                  <a:cubicBezTo>
                    <a:pt x="19469" y="14075"/>
                    <a:pt x="37516" y="3024"/>
                    <a:pt x="57416" y="2135"/>
                  </a:cubicBezTo>
                  <a:cubicBezTo>
                    <a:pt x="77315" y="1246"/>
                    <a:pt x="96276" y="10645"/>
                    <a:pt x="107617" y="27021"/>
                  </a:cubicBezTo>
                  <a:lnTo>
                    <a:pt x="109418" y="25998"/>
                  </a:lnTo>
                  <a:lnTo>
                    <a:pt x="109013" y="32166"/>
                  </a:lnTo>
                  <a:lnTo>
                    <a:pt x="103097" y="29588"/>
                  </a:lnTo>
                  <a:lnTo>
                    <a:pt x="104897" y="28565"/>
                  </a:lnTo>
                  <a:lnTo>
                    <a:pt x="104897" y="28565"/>
                  </a:lnTo>
                  <a:cubicBezTo>
                    <a:pt x="94115" y="13166"/>
                    <a:pt x="76193" y="4367"/>
                    <a:pt x="57415" y="5253"/>
                  </a:cubicBezTo>
                  <a:cubicBezTo>
                    <a:pt x="38638" y="6140"/>
                    <a:pt x="21624" y="16588"/>
                    <a:pt x="12341" y="32935"/>
                  </a:cubicBezTo>
                  <a:close/>
                </a:path>
              </a:pathLst>
            </a:custGeom>
            <a:solidFill>
              <a:srgbClr val="ABB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ptos Display" panose="020B0004020202020204" pitchFamily="34" charset="0"/>
              </a:endParaRPr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5769682" y="2627337"/>
              <a:ext cx="1209548" cy="480997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ptos Display" panose="020B0004020202020204" pitchFamily="34" charset="0"/>
              </a:endParaRPr>
            </a:p>
          </p:txBody>
        </p:sp>
        <p:sp>
          <p:nvSpPr>
            <p:cNvPr id="172" name="Google Shape;172;p10"/>
            <p:cNvSpPr txBox="1"/>
            <p:nvPr/>
          </p:nvSpPr>
          <p:spPr>
            <a:xfrm>
              <a:off x="5783770" y="2641425"/>
              <a:ext cx="1181372" cy="452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650" tIns="17775" rIns="26650" bIns="177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lt1"/>
                </a:buClr>
                <a:buSzPts val="1400"/>
              </a:pPr>
              <a:r>
                <a:rPr lang="en-IN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Aptos Display" panose="020B0004020202020204" pitchFamily="34" charset="0"/>
                  <a:cs typeface="Times New Roman" panose="02020603050405020304" pitchFamily="18" charset="0"/>
                </a:rPr>
                <a:t>Synthetic Data Augmentation</a:t>
              </a:r>
              <a:endParaRPr sz="1200" dirty="0">
                <a:solidFill>
                  <a:schemeClr val="bg2">
                    <a:lumMod val="20000"/>
                    <a:lumOff val="80000"/>
                  </a:schemeClr>
                </a:solidFill>
                <a:latin typeface="Aptos Display" panose="020B0004020202020204" pitchFamily="34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7181714" y="2627338"/>
              <a:ext cx="1379022" cy="1362826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Display" panose="020B0004020202020204" pitchFamily="34" charset="0"/>
              </a:endParaRPr>
            </a:p>
          </p:txBody>
        </p:sp>
        <p:sp>
          <p:nvSpPr>
            <p:cNvPr id="174" name="Google Shape;174;p10"/>
            <p:cNvSpPr txBox="1"/>
            <p:nvPr/>
          </p:nvSpPr>
          <p:spPr>
            <a:xfrm>
              <a:off x="7235958" y="2802660"/>
              <a:ext cx="1359076" cy="10255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25" tIns="13325" rIns="13325" bIns="13325" anchor="t" anchorCtr="0">
              <a:noAutofit/>
            </a:bodyPr>
            <a:lstStyle/>
            <a:p>
              <a:pPr marL="57150" lvl="1" indent="-57150">
                <a:lnSpc>
                  <a:spcPct val="90000"/>
                </a:lnSpc>
                <a:buClr>
                  <a:schemeClr val="dk1"/>
                </a:buClr>
                <a:buSzPts val="700"/>
                <a:buFont typeface="Calibri"/>
                <a:buChar char="•"/>
              </a:pPr>
              <a:r>
                <a:rPr lang="en-IN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Final structured dataset:</a:t>
              </a:r>
            </a:p>
            <a:p>
              <a:pPr lvl="1">
                <a:lnSpc>
                  <a:spcPct val="90000"/>
                </a:lnSpc>
                <a:buClr>
                  <a:schemeClr val="dk1"/>
                </a:buClr>
                <a:buSzPts val="700"/>
              </a:pPr>
              <a:r>
                <a:rPr lang="en-IN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[</a:t>
              </a:r>
              <a:r>
                <a:rPr lang="en-IN" sz="1050" b="1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Virtual Addr | PFN | PID | Latency | FaultType | </a:t>
              </a:r>
              <a:r>
                <a:rPr lang="en-IN" sz="1050" b="1" dirty="0" err="1">
                  <a:solidFill>
                    <a:srgbClr val="0000FF"/>
                  </a:solidFill>
                  <a:latin typeface="Aptos Display" panose="020B0004020202020204" pitchFamily="34" charset="0"/>
                </a:rPr>
                <a:t>SequenceID</a:t>
              </a:r>
              <a:r>
                <a:rPr lang="en-IN" sz="1050" b="1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]</a:t>
              </a:r>
              <a:endParaRPr lang="en-US" sz="1050" dirty="0">
                <a:solidFill>
                  <a:srgbClr val="0000FF"/>
                </a:solidFill>
                <a:latin typeface="Aptos Display" panose="020B0004020202020204" pitchFamily="34" charset="0"/>
              </a:endParaRPr>
            </a:p>
            <a:p>
              <a:pPr lvl="1">
                <a:lnSpc>
                  <a:spcPct val="90000"/>
                </a:lnSpc>
                <a:buClr>
                  <a:schemeClr val="dk1"/>
                </a:buClr>
                <a:buSzPts val="700"/>
              </a:pPr>
              <a:r>
                <a:rPr lang="en-US" sz="1050" dirty="0">
                  <a:solidFill>
                    <a:srgbClr val="0000FF"/>
                  </a:solidFill>
                  <a:latin typeface="Aptos Display" panose="020B0004020202020204" pitchFamily="34" charset="0"/>
                </a:rPr>
                <a:t>Stored for AI training and simulation.</a:t>
              </a:r>
            </a:p>
            <a:p>
              <a:pPr lvl="1">
                <a:lnSpc>
                  <a:spcPct val="90000"/>
                </a:lnSpc>
                <a:buClr>
                  <a:schemeClr val="dk1"/>
                </a:buClr>
                <a:buSzPts val="700"/>
              </a:pPr>
              <a:endParaRPr sz="105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0"/>
            <p:cNvSpPr/>
            <p:nvPr/>
          </p:nvSpPr>
          <p:spPr>
            <a:xfrm>
              <a:off x="7491300" y="3886323"/>
              <a:ext cx="1209548" cy="480997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ptos Display" panose="020B0004020202020204" pitchFamily="34" charset="0"/>
              </a:endParaRPr>
            </a:p>
          </p:txBody>
        </p:sp>
        <p:sp>
          <p:nvSpPr>
            <p:cNvPr id="177" name="Google Shape;177;p10"/>
            <p:cNvSpPr txBox="1"/>
            <p:nvPr/>
          </p:nvSpPr>
          <p:spPr>
            <a:xfrm>
              <a:off x="7542032" y="3866325"/>
              <a:ext cx="1181372" cy="452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650" tIns="17775" rIns="26650" bIns="177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lt1"/>
                </a:buClr>
                <a:buSzPts val="1400"/>
              </a:pPr>
              <a:r>
                <a:rPr lang="en-IN" sz="1200" b="1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Aptos Display" panose="020B0004020202020204" pitchFamily="34" charset="0"/>
                  <a:cs typeface="Times New Roman" panose="02020603050405020304" pitchFamily="18" charset="0"/>
                </a:rPr>
                <a:t>Model Input Packaging</a:t>
              </a:r>
              <a:endParaRPr sz="12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Aptos Display" panose="020B0004020202020204" pitchFamily="34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58DC9E-4584-EBAC-5727-454529DC5AFB}"/>
              </a:ext>
            </a:extLst>
          </p:cNvPr>
          <p:cNvSpPr txBox="1"/>
          <p:nvPr/>
        </p:nvSpPr>
        <p:spPr>
          <a:xfrm>
            <a:off x="423574" y="1107639"/>
            <a:ext cx="11222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 Display" panose="020B0004020202020204" pitchFamily="34" charset="0"/>
              </a:rPr>
              <a:t>To enable AI-driven prediction, the system must capture low-level PFN transition data directly from the Linux kernel, which is not available through normal user-space tools.</a:t>
            </a:r>
            <a:br>
              <a:rPr lang="en-IN" sz="1400" dirty="0">
                <a:latin typeface="Aptos Display" panose="020B0004020202020204" pitchFamily="34" charset="0"/>
              </a:rPr>
            </a:br>
            <a:r>
              <a:rPr lang="en-IN" sz="1400" dirty="0">
                <a:latin typeface="Aptos Display" panose="020B0004020202020204" pitchFamily="34" charset="0"/>
              </a:rPr>
              <a:t>This is achieved using </a:t>
            </a:r>
            <a:r>
              <a:rPr lang="en-IN" sz="1400" b="1" dirty="0" err="1">
                <a:solidFill>
                  <a:srgbClr val="FF0000"/>
                </a:solidFill>
                <a:latin typeface="Aptos Display" panose="020B0004020202020204" pitchFamily="34" charset="0"/>
              </a:rPr>
              <a:t>kprobes</a:t>
            </a:r>
            <a:r>
              <a:rPr lang="en-IN" sz="1400" dirty="0">
                <a:latin typeface="Aptos Display" panose="020B0004020202020204" pitchFamily="34" charset="0"/>
              </a:rPr>
              <a:t>, a safe mechanism for intercepting kernel functions at runtime.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EA356-D888-9879-BABC-926CC58EA14D}"/>
              </a:ext>
            </a:extLst>
          </p:cNvPr>
          <p:cNvSpPr txBox="1"/>
          <p:nvPr/>
        </p:nvSpPr>
        <p:spPr>
          <a:xfrm>
            <a:off x="405169" y="1889428"/>
            <a:ext cx="4058265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Aptos Display" panose="020B0004020202020204" pitchFamily="34" charset="0"/>
              </a:rPr>
              <a:t>What We Capture: </a:t>
            </a:r>
          </a:p>
          <a:p>
            <a:pPr>
              <a:buNone/>
            </a:pPr>
            <a:r>
              <a:rPr lang="en-IN" sz="1400" dirty="0">
                <a:latin typeface="Aptos Display" panose="020B0004020202020204" pitchFamily="34" charset="0"/>
              </a:rPr>
              <a:t>Using hooks in </a:t>
            </a:r>
            <a:r>
              <a:rPr lang="en-IN" sz="1400" b="1" dirty="0" err="1">
                <a:solidFill>
                  <a:srgbClr val="FF0000"/>
                </a:solidFill>
                <a:latin typeface="Aptos Display" panose="020B0004020202020204" pitchFamily="34" charset="0"/>
              </a:rPr>
              <a:t>do_swap_page</a:t>
            </a:r>
            <a:r>
              <a:rPr lang="en-IN" sz="1400" b="1" dirty="0">
                <a:solidFill>
                  <a:srgbClr val="FF0000"/>
                </a:solidFill>
                <a:latin typeface="Aptos Display" panose="020B0004020202020204" pitchFamily="34" charset="0"/>
              </a:rPr>
              <a:t>()</a:t>
            </a:r>
            <a:r>
              <a:rPr lang="en-IN" sz="14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IN" sz="1400" dirty="0">
                <a:latin typeface="Aptos Display" panose="020B0004020202020204" pitchFamily="34" charset="0"/>
              </a:rPr>
              <a:t>and </a:t>
            </a:r>
            <a:r>
              <a:rPr lang="en-IN" sz="1400" b="1" dirty="0" err="1">
                <a:solidFill>
                  <a:srgbClr val="FF0000"/>
                </a:solidFill>
                <a:latin typeface="Aptos Display" panose="020B0004020202020204" pitchFamily="34" charset="0"/>
              </a:rPr>
              <a:t>finish_fault</a:t>
            </a:r>
            <a:r>
              <a:rPr lang="en-IN" sz="1400" b="1" dirty="0">
                <a:solidFill>
                  <a:srgbClr val="FF0000"/>
                </a:solidFill>
                <a:latin typeface="Aptos Display" panose="020B0004020202020204" pitchFamily="34" charset="0"/>
              </a:rPr>
              <a:t>()</a:t>
            </a:r>
            <a:r>
              <a:rPr lang="en-IN" sz="1400" dirty="0">
                <a:latin typeface="Aptos Display" panose="020B0004020202020204" pitchFamily="34" charset="0"/>
              </a:rPr>
              <a:t>, we collect: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Virtual Address (VA)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PFN (Page Frame Number)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PID &amp; process name (COMM)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Page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Mapping &amp; folio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Fault type (major fault)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A3849-A32B-AAB0-5CFA-F4F74F4F46C1}"/>
              </a:ext>
            </a:extLst>
          </p:cNvPr>
          <p:cNvSpPr txBox="1"/>
          <p:nvPr/>
        </p:nvSpPr>
        <p:spPr>
          <a:xfrm>
            <a:off x="4262852" y="1934578"/>
            <a:ext cx="4058265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Aptos Display" panose="020B0004020202020204" pitchFamily="34" charset="0"/>
              </a:rPr>
              <a:t>Why </a:t>
            </a:r>
            <a:r>
              <a:rPr lang="en-IN" sz="1600" dirty="0" err="1">
                <a:latin typeface="Aptos Display" panose="020B0004020202020204" pitchFamily="34" charset="0"/>
              </a:rPr>
              <a:t>kprobes</a:t>
            </a:r>
            <a:r>
              <a:rPr lang="en-IN" sz="1600" dirty="0">
                <a:latin typeface="Aptos Display" panose="020B0004020202020204" pitchFamily="34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Lightweight and safe for kernel instrumentation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No kernel recompilation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Works on live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Provides exact event timing needed for </a:t>
            </a:r>
            <a:r>
              <a:rPr lang="en-IN" sz="1400" dirty="0">
                <a:solidFill>
                  <a:srgbClr val="FF0000"/>
                </a:solidFill>
                <a:latin typeface="Aptos Display" panose="020B0004020202020204" pitchFamily="34" charset="0"/>
              </a:rPr>
              <a:t>sequence </a:t>
            </a:r>
            <a:r>
              <a:rPr lang="en-IN" sz="1400" dirty="0" err="1">
                <a:solidFill>
                  <a:srgbClr val="FF0000"/>
                </a:solidFill>
                <a:latin typeface="Aptos Display" panose="020B0004020202020204" pitchFamily="34" charset="0"/>
              </a:rPr>
              <a:t>modeling</a:t>
            </a:r>
            <a:endParaRPr lang="en-IN" sz="1400" dirty="0">
              <a:solidFill>
                <a:srgbClr val="FF0000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Allows collecting per-process, per-fault page transition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25EC0D-7681-9B5A-5467-E4A0E34129DB}"/>
              </a:ext>
            </a:extLst>
          </p:cNvPr>
          <p:cNvSpPr txBox="1"/>
          <p:nvPr/>
        </p:nvSpPr>
        <p:spPr>
          <a:xfrm>
            <a:off x="8369776" y="1935809"/>
            <a:ext cx="34095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Aptos Display" panose="020B0004020202020204" pitchFamily="34" charset="0"/>
              </a:rPr>
              <a:t>Where It Fits in the Pipeline</a:t>
            </a:r>
          </a:p>
          <a:p>
            <a:pPr>
              <a:buNone/>
            </a:pPr>
            <a:r>
              <a:rPr lang="en-IN" sz="1400" dirty="0">
                <a:latin typeface="Aptos Display" panose="020B0004020202020204" pitchFamily="34" charset="0"/>
              </a:rPr>
              <a:t>Kernel → </a:t>
            </a:r>
            <a:r>
              <a:rPr lang="en-IN" sz="1400" dirty="0" err="1">
                <a:solidFill>
                  <a:srgbClr val="FF0000"/>
                </a:solidFill>
                <a:latin typeface="Aptos Display" panose="020B0004020202020204" pitchFamily="34" charset="0"/>
              </a:rPr>
              <a:t>kprobe</a:t>
            </a:r>
            <a:r>
              <a:rPr lang="en-IN" sz="1400" dirty="0">
                <a:latin typeface="Aptos Display" panose="020B0004020202020204" pitchFamily="34" charset="0"/>
              </a:rPr>
              <a:t> hooks → Event Encoder → </a:t>
            </a:r>
            <a:r>
              <a:rPr lang="en-IN" sz="1400" dirty="0" err="1">
                <a:solidFill>
                  <a:srgbClr val="FF0000"/>
                </a:solidFill>
                <a:latin typeface="Aptos Display" panose="020B0004020202020204" pitchFamily="34" charset="0"/>
              </a:rPr>
              <a:t>Netlink</a:t>
            </a:r>
            <a:r>
              <a:rPr lang="en-IN" sz="1400" dirty="0">
                <a:latin typeface="Aptos Display" panose="020B0004020202020204" pitchFamily="34" charset="0"/>
              </a:rPr>
              <a:t> → User Space</a:t>
            </a:r>
            <a:br>
              <a:rPr lang="en-IN" sz="1400" dirty="0">
                <a:latin typeface="Aptos Display" panose="020B0004020202020204" pitchFamily="34" charset="0"/>
              </a:rPr>
            </a:br>
            <a:r>
              <a:rPr lang="en-IN" sz="1400" dirty="0">
                <a:latin typeface="Aptos Display" panose="020B0004020202020204" pitchFamily="34" charset="0"/>
              </a:rPr>
              <a:t>This is the first stage of the entire data processing pipeline that feeds into preprocessing, feature engineering, synthetic augmentation, and eventually the V3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Synthetic Data Generation (Early Phase Only)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84112-5B57-A17D-FC34-6EFFE453B8E0}"/>
              </a:ext>
            </a:extLst>
          </p:cNvPr>
          <p:cNvSpPr txBox="1"/>
          <p:nvPr/>
        </p:nvSpPr>
        <p:spPr>
          <a:xfrm>
            <a:off x="582560" y="1417651"/>
            <a:ext cx="5188975" cy="385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latin typeface="Aptos Display" panose="020B0004020202020204" pitchFamily="34" charset="0"/>
              </a:rPr>
              <a:t>Why Synthetic Data Was Created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Aptos Display" panose="020B0004020202020204" pitchFamily="34" charset="0"/>
              </a:rPr>
              <a:t>In the early stages of the project, no </a:t>
            </a:r>
            <a:r>
              <a:rPr lang="en-IN" sz="1400" b="1" dirty="0">
                <a:solidFill>
                  <a:srgbClr val="C00000"/>
                </a:solidFill>
                <a:latin typeface="Aptos Display" panose="020B0004020202020204" pitchFamily="34" charset="0"/>
              </a:rPr>
              <a:t>real kernel-level PFN fault data </a:t>
            </a:r>
            <a:r>
              <a:rPr lang="en-IN" sz="1400" dirty="0">
                <a:latin typeface="Aptos Display" panose="020B0004020202020204" pitchFamily="34" charset="0"/>
              </a:rPr>
              <a:t>was available.</a:t>
            </a:r>
            <a:br>
              <a:rPr lang="en-IN" sz="1400" dirty="0">
                <a:latin typeface="Aptos Display" panose="020B0004020202020204" pitchFamily="34" charset="0"/>
              </a:rPr>
            </a:br>
            <a:r>
              <a:rPr lang="en-IN" sz="1400" dirty="0">
                <a:latin typeface="Aptos Display" panose="020B0004020202020204" pitchFamily="34" charset="0"/>
              </a:rPr>
              <a:t>To begin experimenting with: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sequence </a:t>
            </a:r>
            <a:r>
              <a:rPr lang="en-IN" sz="1400" dirty="0" err="1">
                <a:latin typeface="Aptos Display" panose="020B0004020202020204" pitchFamily="34" charset="0"/>
              </a:rPr>
              <a:t>modeling</a:t>
            </a:r>
            <a:endParaRPr lang="en-IN" sz="1400" dirty="0">
              <a:latin typeface="Aptos Display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PFN-slicing logic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pattern recognition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latency/transition </a:t>
            </a:r>
            <a:r>
              <a:rPr lang="en-IN" sz="1400" dirty="0" err="1">
                <a:latin typeface="Aptos Display" panose="020B0004020202020204" pitchFamily="34" charset="0"/>
              </a:rPr>
              <a:t>behavior</a:t>
            </a:r>
            <a:endParaRPr lang="en-IN" sz="1400" dirty="0">
              <a:latin typeface="Aptos Display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memory load simulation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Aptos Display" panose="020B0004020202020204" pitchFamily="34" charset="0"/>
              </a:rPr>
              <a:t>we required approximate, placeholder data that resembled memory-access patterns.</a:t>
            </a:r>
            <a:br>
              <a:rPr lang="en-IN" sz="1400" dirty="0">
                <a:latin typeface="Aptos Display" panose="020B0004020202020204" pitchFamily="34" charset="0"/>
              </a:rPr>
            </a:br>
            <a:r>
              <a:rPr lang="en-IN" sz="1400" dirty="0">
                <a:latin typeface="Aptos Display" panose="020B0004020202020204" pitchFamily="34" charset="0"/>
              </a:rPr>
              <a:t>Thus, synthetic data was generated only to bootstrap the research.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52FA6-7BBB-BE4F-B85F-8328B8761A05}"/>
              </a:ext>
            </a:extLst>
          </p:cNvPr>
          <p:cNvSpPr txBox="1"/>
          <p:nvPr/>
        </p:nvSpPr>
        <p:spPr>
          <a:xfrm>
            <a:off x="6096000" y="1198045"/>
            <a:ext cx="6100916" cy="4954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Aptos Display" panose="020B0004020202020204" pitchFamily="34" charset="0"/>
              </a:rPr>
              <a:t>What Synthetic Data Represented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Aptos Display" panose="020B0004020202020204" pitchFamily="34" charset="0"/>
              </a:rPr>
              <a:t>The synthetic dataset was </a:t>
            </a:r>
            <a:r>
              <a:rPr lang="en-IN" sz="1400" b="1" dirty="0">
                <a:solidFill>
                  <a:srgbClr val="C00000"/>
                </a:solidFill>
                <a:latin typeface="Aptos Display" panose="020B0004020202020204" pitchFamily="34" charset="0"/>
              </a:rPr>
              <a:t>not real memory faults</a:t>
            </a:r>
            <a:r>
              <a:rPr lang="en-IN" sz="1400" dirty="0">
                <a:latin typeface="Aptos Display" panose="020B0004020202020204" pitchFamily="34" charset="0"/>
              </a:rPr>
              <a:t>.</a:t>
            </a:r>
            <a:br>
              <a:rPr lang="en-IN" sz="1400" dirty="0">
                <a:latin typeface="Aptos Display" panose="020B0004020202020204" pitchFamily="34" charset="0"/>
              </a:rPr>
            </a:br>
            <a:r>
              <a:rPr lang="en-IN" sz="1400" dirty="0">
                <a:latin typeface="Aptos Display" panose="020B0004020202020204" pitchFamily="34" charset="0"/>
              </a:rPr>
              <a:t>It was created by observing: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memory load </a:t>
            </a:r>
            <a:r>
              <a:rPr lang="en-IN" sz="1400" dirty="0" err="1">
                <a:latin typeface="Aptos Display" panose="020B0004020202020204" pitchFamily="34" charset="0"/>
              </a:rPr>
              <a:t>behavior</a:t>
            </a:r>
            <a:endParaRPr lang="en-IN" sz="1400" dirty="0">
              <a:latin typeface="Aptos Display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repetitive PFN jumps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burst patterns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common access loops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Aptos Display" panose="020B0004020202020204" pitchFamily="34" charset="0"/>
              </a:rPr>
              <a:t>but </a:t>
            </a:r>
            <a:r>
              <a:rPr lang="en-IN" sz="1400" b="1" dirty="0">
                <a:solidFill>
                  <a:srgbClr val="C00000"/>
                </a:solidFill>
                <a:latin typeface="Aptos Display" panose="020B0004020202020204" pitchFamily="34" charset="0"/>
              </a:rPr>
              <a:t>in a simulated / approximated manner</a:t>
            </a:r>
            <a:r>
              <a:rPr lang="en-IN" sz="1400" dirty="0">
                <a:latin typeface="Aptos Display" panose="020B0004020202020204" pitchFamily="34" charset="0"/>
              </a:rPr>
              <a:t>, not from the real kernel.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Aptos Display" panose="020B0004020202020204" pitchFamily="34" charset="0"/>
              </a:rPr>
              <a:t>It helped mimic: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sequential rises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random noise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locality clustering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periodic PFN resets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Aptos Display" panose="020B0004020202020204" pitchFamily="34" charset="0"/>
              </a:rPr>
              <a:t>This allowed us to test the </a:t>
            </a:r>
            <a:r>
              <a:rPr lang="en-IN" sz="1400" b="1" dirty="0">
                <a:solidFill>
                  <a:srgbClr val="C00000"/>
                </a:solidFill>
                <a:latin typeface="Aptos Display" panose="020B0004020202020204" pitchFamily="34" charset="0"/>
              </a:rPr>
              <a:t>LSTM/GRU</a:t>
            </a:r>
            <a:r>
              <a:rPr lang="en-IN" sz="1400" b="1" dirty="0">
                <a:latin typeface="Aptos Display" panose="020B0004020202020204" pitchFamily="34" charset="0"/>
              </a:rPr>
              <a:t> </a:t>
            </a:r>
            <a:r>
              <a:rPr lang="en-IN" sz="1400" dirty="0">
                <a:latin typeface="Aptos Display" panose="020B0004020202020204" pitchFamily="34" charset="0"/>
              </a:rPr>
              <a:t>pipelines without needing the kernel module.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1088977A-8039-9ADF-FEDF-BCB55B3F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>
            <a:extLst>
              <a:ext uri="{FF2B5EF4-FFF2-40B4-BE49-F238E27FC236}">
                <a16:creationId xmlns:a16="http://schemas.microsoft.com/office/drawing/2014/main" id="{59546BED-9C80-92BF-032F-FF0ADF7241CC}"/>
              </a:ext>
            </a:extLst>
          </p:cNvPr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Synthetic Data Generation (Early Phase Only)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2" name="Google Shape;192;p11">
            <a:extLst>
              <a:ext uri="{FF2B5EF4-FFF2-40B4-BE49-F238E27FC236}">
                <a16:creationId xmlns:a16="http://schemas.microsoft.com/office/drawing/2014/main" id="{7CD222B0-8E7F-FEA2-B74C-246A9D2A180B}"/>
              </a:ext>
            </a:extLst>
          </p:cNvPr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44C2C-2A29-A61E-51F2-09072DAE53FC}"/>
              </a:ext>
            </a:extLst>
          </p:cNvPr>
          <p:cNvSpPr txBox="1"/>
          <p:nvPr/>
        </p:nvSpPr>
        <p:spPr>
          <a:xfrm>
            <a:off x="848031" y="1280846"/>
            <a:ext cx="5395453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 Display" panose="020B0004020202020204" pitchFamily="34" charset="0"/>
              </a:rPr>
              <a:t>How Synthetic Data Helped (But Only Temporarily)</a:t>
            </a:r>
          </a:p>
          <a:p>
            <a:pPr>
              <a:buNone/>
            </a:pPr>
            <a:r>
              <a:rPr lang="en-IN" sz="1400" dirty="0">
                <a:latin typeface="Aptos Display" panose="020B0004020202020204" pitchFamily="34" charset="0"/>
              </a:rPr>
              <a:t>Synthetic data was used only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Validating the early sequence-learning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Testing windowing (sequence length = 30)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Debugging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Verifying that PFN slicing (Top, S4…S0)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Checking model stability during initial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Understanding how ML responds to recurring patterns</a:t>
            </a:r>
          </a:p>
          <a:p>
            <a:pPr>
              <a:buNone/>
            </a:pPr>
            <a:r>
              <a:rPr lang="en-IN" sz="1400" dirty="0">
                <a:latin typeface="Aptos Display" panose="020B0004020202020204" pitchFamily="34" charset="0"/>
              </a:rPr>
              <a:t>It provided a sandbox to check the feasibility of the idea.</a:t>
            </a:r>
          </a:p>
          <a:p>
            <a:r>
              <a:rPr lang="en-IN" sz="1400" dirty="0">
                <a:latin typeface="Aptos Display" panose="020B0004020202020204" pitchFamily="34" charset="0"/>
              </a:rPr>
              <a:t> It was NEVER used to train the final model.</a:t>
            </a:r>
          </a:p>
          <a:p>
            <a:r>
              <a:rPr lang="en-IN" sz="1400" dirty="0">
                <a:latin typeface="Aptos Display" panose="020B0004020202020204" pitchFamily="34" charset="0"/>
              </a:rPr>
              <a:t> It was replaced once actual kernel abstraction became available.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31D11-181B-782E-04BA-AB278E350DBF}"/>
              </a:ext>
            </a:extLst>
          </p:cNvPr>
          <p:cNvSpPr txBox="1"/>
          <p:nvPr/>
        </p:nvSpPr>
        <p:spPr>
          <a:xfrm>
            <a:off x="848031" y="3813976"/>
            <a:ext cx="61009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 Display" panose="020B0004020202020204" pitchFamily="34" charset="0"/>
              </a:rPr>
              <a:t>Why We Switched Away From Synthetic Data</a:t>
            </a:r>
          </a:p>
          <a:p>
            <a:pPr>
              <a:buNone/>
            </a:pPr>
            <a:r>
              <a:rPr lang="en-IN" sz="1400" dirty="0">
                <a:latin typeface="Aptos Display" panose="020B0004020202020204" pitchFamily="34" charset="0"/>
              </a:rPr>
              <a:t>When real kernel PFN-event collection (</a:t>
            </a:r>
            <a:r>
              <a:rPr lang="en-IN" sz="1400" dirty="0" err="1">
                <a:latin typeface="Aptos Display" panose="020B0004020202020204" pitchFamily="34" charset="0"/>
              </a:rPr>
              <a:t>kprobes</a:t>
            </a:r>
            <a:r>
              <a:rPr lang="en-IN" sz="1400" dirty="0">
                <a:latin typeface="Aptos Display" panose="020B0004020202020204" pitchFamily="34" charset="0"/>
              </a:rPr>
              <a:t> + </a:t>
            </a:r>
            <a:r>
              <a:rPr lang="en-IN" sz="1400" dirty="0" err="1">
                <a:latin typeface="Aptos Display" panose="020B0004020202020204" pitchFamily="34" charset="0"/>
              </a:rPr>
              <a:t>kprobe</a:t>
            </a:r>
            <a:r>
              <a:rPr lang="en-IN" sz="1400" dirty="0">
                <a:latin typeface="Aptos Display" panose="020B0004020202020204" pitchFamily="34" charset="0"/>
              </a:rPr>
              <a:t> hooks + </a:t>
            </a:r>
            <a:r>
              <a:rPr lang="en-IN" sz="1400" dirty="0" err="1">
                <a:latin typeface="Aptos Display" panose="020B0004020202020204" pitchFamily="34" charset="0"/>
              </a:rPr>
              <a:t>shrink_folio_list</a:t>
            </a:r>
            <a:r>
              <a:rPr lang="en-IN" sz="1400" dirty="0">
                <a:latin typeface="Aptos Display" panose="020B0004020202020204" pitchFamily="34" charset="0"/>
              </a:rPr>
              <a:t>) became operational, we realized: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Real kernel patterns were far more complex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Synthetic patterns lacked true OS </a:t>
            </a:r>
            <a:r>
              <a:rPr lang="en-IN" sz="1400" dirty="0" err="1">
                <a:latin typeface="Aptos Display" panose="020B0004020202020204" pitchFamily="34" charset="0"/>
              </a:rPr>
              <a:t>behaviors</a:t>
            </a:r>
            <a:endParaRPr lang="en-IN" sz="14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Mapping, latency, PID interactions are only visible in real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</a:rPr>
              <a:t>Synthetic data cannot reproduce unpredictable memory allocator </a:t>
            </a:r>
            <a:r>
              <a:rPr lang="en-IN" sz="1400" dirty="0" err="1">
                <a:latin typeface="Aptos Display" panose="020B0004020202020204" pitchFamily="34" charset="0"/>
              </a:rPr>
              <a:t>behavior</a:t>
            </a:r>
            <a:endParaRPr lang="en-IN" sz="1400" dirty="0">
              <a:latin typeface="Aptos Display" panose="020B0004020202020204" pitchFamily="34" charset="0"/>
            </a:endParaRPr>
          </a:p>
          <a:p>
            <a:pPr>
              <a:buNone/>
            </a:pPr>
            <a:r>
              <a:rPr lang="en-IN" sz="1400" dirty="0">
                <a:latin typeface="Aptos Display" panose="020B0004020202020204" pitchFamily="34" charset="0"/>
              </a:rPr>
              <a:t>Thus, synthetic data became obsolete and was retired.</a:t>
            </a:r>
          </a:p>
          <a:p>
            <a:pPr>
              <a:buNone/>
            </a:pPr>
            <a:r>
              <a:rPr lang="en-IN" sz="1400" dirty="0">
                <a:latin typeface="Aptos Display" panose="020B0004020202020204" pitchFamily="34" charset="0"/>
              </a:rPr>
              <a:t>The final V3 model is trained only on actual Linux kernel abstraction, not synthetic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A26C64-7A56-D1E8-5792-69F46E070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947" y="991065"/>
            <a:ext cx="5243053" cy="532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79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F12A4748-8D46-3276-F4A0-18E1F9B7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>
            <a:extLst>
              <a:ext uri="{FF2B5EF4-FFF2-40B4-BE49-F238E27FC236}">
                <a16:creationId xmlns:a16="http://schemas.microsoft.com/office/drawing/2014/main" id="{EE5698C8-05FE-93BC-F477-D70593EEBD4E}"/>
              </a:ext>
            </a:extLst>
          </p:cNvPr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Synthetic Data Generation (Early Phase Only)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visuals </a:t>
            </a:r>
            <a:endParaRPr sz="28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2" name="Google Shape;192;p11">
            <a:extLst>
              <a:ext uri="{FF2B5EF4-FFF2-40B4-BE49-F238E27FC236}">
                <a16:creationId xmlns:a16="http://schemas.microsoft.com/office/drawing/2014/main" id="{4A9528A1-D33D-E713-637B-5C2571FC5F7B}"/>
              </a:ext>
            </a:extLst>
          </p:cNvPr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45485D-26CD-CDC4-0D27-88E1C70A9D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8" t="2452"/>
          <a:stretch>
            <a:fillRect/>
          </a:stretch>
        </p:blipFill>
        <p:spPr>
          <a:xfrm>
            <a:off x="481781" y="1167579"/>
            <a:ext cx="11405420" cy="3128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1D7A3D-A468-9AEF-32C2-105CB3251D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9" t="1336" r="1109" b="56260"/>
          <a:stretch>
            <a:fillRect/>
          </a:stretch>
        </p:blipFill>
        <p:spPr>
          <a:xfrm>
            <a:off x="373626" y="3854245"/>
            <a:ext cx="4168877" cy="20790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DB8D70-79DF-F3A0-4282-1DC55AAA01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4" t="2151" r="644" b="1362"/>
          <a:stretch>
            <a:fillRect/>
          </a:stretch>
        </p:blipFill>
        <p:spPr>
          <a:xfrm>
            <a:off x="7934631" y="3603932"/>
            <a:ext cx="3952570" cy="2329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851615-DB28-5225-01BE-673781FE76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1247" r="36038" b="8677"/>
          <a:stretch>
            <a:fillRect/>
          </a:stretch>
        </p:blipFill>
        <p:spPr>
          <a:xfrm>
            <a:off x="4729084" y="3774016"/>
            <a:ext cx="3018965" cy="198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34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4AD81029-C966-4FF9-AE51-B667B7B3E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28B94D0-7AD7-962B-D8B6-02502E8CB318}"/>
              </a:ext>
            </a:extLst>
          </p:cNvPr>
          <p:cNvGrpSpPr/>
          <p:nvPr/>
        </p:nvGrpSpPr>
        <p:grpSpPr>
          <a:xfrm>
            <a:off x="592529" y="4534334"/>
            <a:ext cx="6545689" cy="1828538"/>
            <a:chOff x="0" y="4442157"/>
            <a:chExt cx="3606228" cy="1931298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AA74B91-87CF-DE6A-90FD-A5033D08B9A6}"/>
                </a:ext>
              </a:extLst>
            </p:cNvPr>
            <p:cNvSpPr/>
            <p:nvPr/>
          </p:nvSpPr>
          <p:spPr>
            <a:xfrm>
              <a:off x="838191" y="4635287"/>
              <a:ext cx="2768037" cy="1545038"/>
            </a:xfrm>
            <a:custGeom>
              <a:avLst/>
              <a:gdLst>
                <a:gd name="connsiteX0" fmla="*/ 257511 w 1545038"/>
                <a:gd name="connsiteY0" fmla="*/ 0 h 2307986"/>
                <a:gd name="connsiteX1" fmla="*/ 1287527 w 1545038"/>
                <a:gd name="connsiteY1" fmla="*/ 0 h 2307986"/>
                <a:gd name="connsiteX2" fmla="*/ 1545038 w 1545038"/>
                <a:gd name="connsiteY2" fmla="*/ 257511 h 2307986"/>
                <a:gd name="connsiteX3" fmla="*/ 1545038 w 1545038"/>
                <a:gd name="connsiteY3" fmla="*/ 2307986 h 2307986"/>
                <a:gd name="connsiteX4" fmla="*/ 1545038 w 1545038"/>
                <a:gd name="connsiteY4" fmla="*/ 2307986 h 2307986"/>
                <a:gd name="connsiteX5" fmla="*/ 0 w 1545038"/>
                <a:gd name="connsiteY5" fmla="*/ 2307986 h 2307986"/>
                <a:gd name="connsiteX6" fmla="*/ 0 w 1545038"/>
                <a:gd name="connsiteY6" fmla="*/ 2307986 h 2307986"/>
                <a:gd name="connsiteX7" fmla="*/ 0 w 1545038"/>
                <a:gd name="connsiteY7" fmla="*/ 257511 h 2307986"/>
                <a:gd name="connsiteX8" fmla="*/ 257511 w 1545038"/>
                <a:gd name="connsiteY8" fmla="*/ 0 h 230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5038" h="2307986">
                  <a:moveTo>
                    <a:pt x="1545038" y="384672"/>
                  </a:moveTo>
                  <a:lnTo>
                    <a:pt x="1545038" y="1923314"/>
                  </a:lnTo>
                  <a:cubicBezTo>
                    <a:pt x="1545038" y="2135762"/>
                    <a:pt x="1467858" y="2307985"/>
                    <a:pt x="1372652" y="2307985"/>
                  </a:cubicBezTo>
                  <a:lnTo>
                    <a:pt x="0" y="2307985"/>
                  </a:lnTo>
                  <a:lnTo>
                    <a:pt x="0" y="2307985"/>
                  </a:lnTo>
                  <a:lnTo>
                    <a:pt x="0" y="1"/>
                  </a:lnTo>
                  <a:lnTo>
                    <a:pt x="0" y="1"/>
                  </a:lnTo>
                  <a:lnTo>
                    <a:pt x="1372652" y="1"/>
                  </a:lnTo>
                  <a:cubicBezTo>
                    <a:pt x="1467858" y="1"/>
                    <a:pt x="1545038" y="172224"/>
                    <a:pt x="1545038" y="384672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1" tIns="94472" rIns="113522" bIns="94474" numCol="1" spcCol="1270" anchor="ctr" anchorCtr="0">
              <a:noAutofit/>
            </a:bodyPr>
            <a:lstStyle/>
            <a:p>
              <a:pPr marL="171450" lvl="1" indent="-1714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Group PFN slices into </a:t>
              </a:r>
              <a:r>
                <a:rPr lang="en-IN" sz="1050" b="1" i="0" kern="1200" dirty="0">
                  <a:latin typeface="Aptos Display" panose="020B0004020202020204" pitchFamily="34" charset="0"/>
                </a:rPr>
                <a:t>temporal clusters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171450" lvl="1" indent="-1714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Identify </a:t>
              </a:r>
              <a:r>
                <a:rPr lang="en-IN" sz="1050" b="0" i="0" kern="1200" dirty="0" err="1">
                  <a:latin typeface="Aptos Display" panose="020B0004020202020204" pitchFamily="34" charset="0"/>
                </a:rPr>
                <a:t>behavior</a:t>
              </a:r>
              <a:r>
                <a:rPr lang="en-IN" sz="1050" b="0" i="0" kern="1200" dirty="0">
                  <a:latin typeface="Aptos Display" panose="020B0004020202020204" pitchFamily="34" charset="0"/>
                </a:rPr>
                <a:t> signatures: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Recurrent PFN bursts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Hot‑page access patterns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Kernel memory recycling loops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171450" lvl="1" indent="-1714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Build feature‑rich sequences: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(Slices + Metadata + Latency patterns)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171450" lvl="1" indent="-1714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Output: </a:t>
              </a:r>
              <a:r>
                <a:rPr lang="en-IN" sz="1050" b="1" i="0" kern="1200" dirty="0">
                  <a:latin typeface="Aptos Display" panose="020B0004020202020204" pitchFamily="34" charset="0"/>
                </a:rPr>
                <a:t>Pattern‑aware training data</a:t>
              </a:r>
              <a:endParaRPr lang="en-IN" sz="1050" kern="1200" dirty="0">
                <a:latin typeface="Aptos Display" panose="020B00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4635910-9878-1163-4708-502D6BD04284}"/>
                </a:ext>
              </a:extLst>
            </p:cNvPr>
            <p:cNvSpPr/>
            <p:nvPr/>
          </p:nvSpPr>
          <p:spPr>
            <a:xfrm>
              <a:off x="0" y="4442157"/>
              <a:ext cx="838191" cy="1931298"/>
            </a:xfrm>
            <a:custGeom>
              <a:avLst/>
              <a:gdLst>
                <a:gd name="connsiteX0" fmla="*/ 0 w 1298242"/>
                <a:gd name="connsiteY0" fmla="*/ 216378 h 1931298"/>
                <a:gd name="connsiteX1" fmla="*/ 216378 w 1298242"/>
                <a:gd name="connsiteY1" fmla="*/ 0 h 1931298"/>
                <a:gd name="connsiteX2" fmla="*/ 1081864 w 1298242"/>
                <a:gd name="connsiteY2" fmla="*/ 0 h 1931298"/>
                <a:gd name="connsiteX3" fmla="*/ 1298242 w 1298242"/>
                <a:gd name="connsiteY3" fmla="*/ 216378 h 1931298"/>
                <a:gd name="connsiteX4" fmla="*/ 1298242 w 1298242"/>
                <a:gd name="connsiteY4" fmla="*/ 1714920 h 1931298"/>
                <a:gd name="connsiteX5" fmla="*/ 1081864 w 1298242"/>
                <a:gd name="connsiteY5" fmla="*/ 1931298 h 1931298"/>
                <a:gd name="connsiteX6" fmla="*/ 216378 w 1298242"/>
                <a:gd name="connsiteY6" fmla="*/ 1931298 h 1931298"/>
                <a:gd name="connsiteX7" fmla="*/ 0 w 1298242"/>
                <a:gd name="connsiteY7" fmla="*/ 1714920 h 1931298"/>
                <a:gd name="connsiteX8" fmla="*/ 0 w 1298242"/>
                <a:gd name="connsiteY8" fmla="*/ 216378 h 19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8242" h="1931298">
                  <a:moveTo>
                    <a:pt x="0" y="216378"/>
                  </a:moveTo>
                  <a:cubicBezTo>
                    <a:pt x="0" y="96876"/>
                    <a:pt x="96876" y="0"/>
                    <a:pt x="216378" y="0"/>
                  </a:cubicBezTo>
                  <a:lnTo>
                    <a:pt x="1081864" y="0"/>
                  </a:lnTo>
                  <a:cubicBezTo>
                    <a:pt x="1201366" y="0"/>
                    <a:pt x="1298242" y="96876"/>
                    <a:pt x="1298242" y="216378"/>
                  </a:cubicBezTo>
                  <a:lnTo>
                    <a:pt x="1298242" y="1714920"/>
                  </a:lnTo>
                  <a:cubicBezTo>
                    <a:pt x="1298242" y="1834422"/>
                    <a:pt x="1201366" y="1931298"/>
                    <a:pt x="1081864" y="1931298"/>
                  </a:cubicBezTo>
                  <a:lnTo>
                    <a:pt x="216378" y="1931298"/>
                  </a:lnTo>
                  <a:cubicBezTo>
                    <a:pt x="96876" y="1931298"/>
                    <a:pt x="0" y="1834422"/>
                    <a:pt x="0" y="1714920"/>
                  </a:cubicBezTo>
                  <a:lnTo>
                    <a:pt x="0" y="21637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955" tIns="97665" rIns="131955" bIns="97665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b="1" i="0" kern="1200" dirty="0">
                  <a:latin typeface="Aptos Display" panose="020B0004020202020204" pitchFamily="34" charset="0"/>
                </a:rPr>
                <a:t>Clustering &amp; Pattern Formation</a:t>
              </a:r>
              <a:endParaRPr lang="en-IN" sz="1800" kern="1200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191" name="Google Shape;191;p11">
            <a:extLst>
              <a:ext uri="{FF2B5EF4-FFF2-40B4-BE49-F238E27FC236}">
                <a16:creationId xmlns:a16="http://schemas.microsoft.com/office/drawing/2014/main" id="{F898DD8F-8292-956B-2C7C-376FDA7FC737}"/>
              </a:ext>
            </a:extLst>
          </p:cNvPr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Linux Kernel Data Capture &amp; Pattern Extraction Pipeline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2" name="Google Shape;192;p11">
            <a:extLst>
              <a:ext uri="{FF2B5EF4-FFF2-40B4-BE49-F238E27FC236}">
                <a16:creationId xmlns:a16="http://schemas.microsoft.com/office/drawing/2014/main" id="{422E14D9-92F4-A8EB-6D39-11E66BFA2150}"/>
              </a:ext>
            </a:extLst>
          </p:cNvPr>
          <p:cNvSpPr/>
          <p:nvPr/>
        </p:nvSpPr>
        <p:spPr>
          <a:xfrm>
            <a:off x="0" y="6471443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 descr="Output image">
            <a:extLst>
              <a:ext uri="{FF2B5EF4-FFF2-40B4-BE49-F238E27FC236}">
                <a16:creationId xmlns:a16="http://schemas.microsoft.com/office/drawing/2014/main" id="{CE33C2BE-F80F-0DBB-3E67-FDE749D07DFF}"/>
              </a:ext>
            </a:extLst>
          </p:cNvPr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B55B7A-1362-0F60-FF5C-387431F2A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231" y="1000431"/>
            <a:ext cx="4650769" cy="548084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66572F3-EFDC-E10F-9E98-62645F5CF675}"/>
              </a:ext>
            </a:extLst>
          </p:cNvPr>
          <p:cNvGrpSpPr/>
          <p:nvPr/>
        </p:nvGrpSpPr>
        <p:grpSpPr>
          <a:xfrm>
            <a:off x="445536" y="1164238"/>
            <a:ext cx="6717375" cy="1931298"/>
            <a:chOff x="167275" y="1022735"/>
            <a:chExt cx="4432658" cy="193129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13DA98A-0FCB-065D-1066-985C163097AA}"/>
                </a:ext>
              </a:extLst>
            </p:cNvPr>
            <p:cNvSpPr/>
            <p:nvPr/>
          </p:nvSpPr>
          <p:spPr>
            <a:xfrm>
              <a:off x="1284512" y="1237873"/>
              <a:ext cx="3315421" cy="1545039"/>
            </a:xfrm>
            <a:custGeom>
              <a:avLst/>
              <a:gdLst>
                <a:gd name="connsiteX0" fmla="*/ 257511 w 1545038"/>
                <a:gd name="connsiteY0" fmla="*/ 0 h 2823063"/>
                <a:gd name="connsiteX1" fmla="*/ 1287527 w 1545038"/>
                <a:gd name="connsiteY1" fmla="*/ 0 h 2823063"/>
                <a:gd name="connsiteX2" fmla="*/ 1545038 w 1545038"/>
                <a:gd name="connsiteY2" fmla="*/ 257511 h 2823063"/>
                <a:gd name="connsiteX3" fmla="*/ 1545038 w 1545038"/>
                <a:gd name="connsiteY3" fmla="*/ 2823063 h 2823063"/>
                <a:gd name="connsiteX4" fmla="*/ 1545038 w 1545038"/>
                <a:gd name="connsiteY4" fmla="*/ 2823063 h 2823063"/>
                <a:gd name="connsiteX5" fmla="*/ 0 w 1545038"/>
                <a:gd name="connsiteY5" fmla="*/ 2823063 h 2823063"/>
                <a:gd name="connsiteX6" fmla="*/ 0 w 1545038"/>
                <a:gd name="connsiteY6" fmla="*/ 2823063 h 2823063"/>
                <a:gd name="connsiteX7" fmla="*/ 0 w 1545038"/>
                <a:gd name="connsiteY7" fmla="*/ 257511 h 2823063"/>
                <a:gd name="connsiteX8" fmla="*/ 257511 w 1545038"/>
                <a:gd name="connsiteY8" fmla="*/ 0 h 2823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5038" h="2823063">
                  <a:moveTo>
                    <a:pt x="1545038" y="470520"/>
                  </a:moveTo>
                  <a:lnTo>
                    <a:pt x="1545038" y="2352543"/>
                  </a:lnTo>
                  <a:cubicBezTo>
                    <a:pt x="1545038" y="2612403"/>
                    <a:pt x="1481939" y="2823062"/>
                    <a:pt x="1404104" y="2823062"/>
                  </a:cubicBezTo>
                  <a:lnTo>
                    <a:pt x="0" y="2823062"/>
                  </a:lnTo>
                  <a:lnTo>
                    <a:pt x="0" y="282306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404104" y="1"/>
                  </a:lnTo>
                  <a:cubicBezTo>
                    <a:pt x="1481939" y="1"/>
                    <a:pt x="1545038" y="210660"/>
                    <a:pt x="1545038" y="470520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1" tIns="90663" rIns="105903" bIns="90664" numCol="1" spcCol="1270" anchor="ctr" anchorCtr="0">
              <a:noAutofit/>
            </a:bodyPr>
            <a:lstStyle/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Deploy </a:t>
              </a:r>
              <a:r>
                <a:rPr lang="en-IN" sz="1050" b="1" i="0" kern="1200" dirty="0">
                  <a:latin typeface="Aptos Display" panose="020B0004020202020204" pitchFamily="34" charset="0"/>
                </a:rPr>
                <a:t>custom Linux </a:t>
              </a:r>
              <a:r>
                <a:rPr lang="en-IN" sz="1050" b="1" i="0" kern="1200" dirty="0" err="1">
                  <a:latin typeface="Aptos Display" panose="020B0004020202020204" pitchFamily="34" charset="0"/>
                </a:rPr>
                <a:t>KProbes</a:t>
              </a:r>
              <a:r>
                <a:rPr lang="en-IN" sz="1050" b="0" i="0" kern="1200" dirty="0">
                  <a:latin typeface="Aptos Display" panose="020B0004020202020204" pitchFamily="34" charset="0"/>
                </a:rPr>
                <a:t> on: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 err="1">
                  <a:latin typeface="Aptos Display" panose="020B0004020202020204" pitchFamily="34" charset="0"/>
                </a:rPr>
                <a:t>do_swap_page</a:t>
              </a:r>
              <a:r>
                <a:rPr lang="en-IN" sz="1050" b="0" i="0" kern="1200" dirty="0">
                  <a:latin typeface="Aptos Display" panose="020B0004020202020204" pitchFamily="34" charset="0"/>
                </a:rPr>
                <a:t> / __</a:t>
              </a:r>
              <a:r>
                <a:rPr lang="en-IN" sz="1050" b="0" i="0" kern="1200" dirty="0" err="1">
                  <a:latin typeface="Aptos Display" panose="020B0004020202020204" pitchFamily="34" charset="0"/>
                </a:rPr>
                <a:t>do_swap_page</a:t>
              </a:r>
              <a:r>
                <a:rPr lang="en-IN" sz="1050" b="0" i="0" kern="1200" dirty="0">
                  <a:latin typeface="Aptos Display" panose="020B0004020202020204" pitchFamily="34" charset="0"/>
                </a:rPr>
                <a:t> (Major Fault Trigger)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 err="1">
                  <a:latin typeface="Aptos Display" panose="020B0004020202020204" pitchFamily="34" charset="0"/>
                </a:rPr>
                <a:t>finish_fault</a:t>
              </a:r>
              <a:r>
                <a:rPr lang="en-IN" sz="1050" b="0" i="0" kern="1200" dirty="0">
                  <a:latin typeface="Aptos Display" panose="020B0004020202020204" pitchFamily="34" charset="0"/>
                </a:rPr>
                <a:t> (PFN Resolution Point)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 err="1">
                  <a:latin typeface="Aptos Display" panose="020B0004020202020204" pitchFamily="34" charset="0"/>
                </a:rPr>
                <a:t>shrink_folio_list</a:t>
              </a:r>
              <a:r>
                <a:rPr lang="en-IN" sz="1050" b="0" i="0" kern="1200" dirty="0">
                  <a:latin typeface="Aptos Display" panose="020B0004020202020204" pitchFamily="34" charset="0"/>
                </a:rPr>
                <a:t> (Victim‑Selection Observation)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Capture raw attributes: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PFN (Page Frame Number)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PID, Virtual Address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Folio Index, Mapping, Latency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Output: </a:t>
              </a:r>
              <a:r>
                <a:rPr lang="en-IN" sz="1050" b="1" i="0" kern="1200" dirty="0">
                  <a:latin typeface="Aptos Display" panose="020B0004020202020204" pitchFamily="34" charset="0"/>
                </a:rPr>
                <a:t>Unstructured memory‑fault events</a:t>
              </a:r>
              <a:endParaRPr lang="en-IN" sz="1050" kern="1200" dirty="0">
                <a:latin typeface="Aptos Display" panose="020B00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B48D463-806E-E212-14F2-7DEB334D5E97}"/>
                </a:ext>
              </a:extLst>
            </p:cNvPr>
            <p:cNvSpPr/>
            <p:nvPr/>
          </p:nvSpPr>
          <p:spPr>
            <a:xfrm>
              <a:off x="167275" y="1022735"/>
              <a:ext cx="1151243" cy="1931298"/>
            </a:xfrm>
            <a:custGeom>
              <a:avLst/>
              <a:gdLst>
                <a:gd name="connsiteX0" fmla="*/ 0 w 1587973"/>
                <a:gd name="connsiteY0" fmla="*/ 264667 h 1931298"/>
                <a:gd name="connsiteX1" fmla="*/ 264667 w 1587973"/>
                <a:gd name="connsiteY1" fmla="*/ 0 h 1931298"/>
                <a:gd name="connsiteX2" fmla="*/ 1323306 w 1587973"/>
                <a:gd name="connsiteY2" fmla="*/ 0 h 1931298"/>
                <a:gd name="connsiteX3" fmla="*/ 1587973 w 1587973"/>
                <a:gd name="connsiteY3" fmla="*/ 264667 h 1931298"/>
                <a:gd name="connsiteX4" fmla="*/ 1587973 w 1587973"/>
                <a:gd name="connsiteY4" fmla="*/ 1666631 h 1931298"/>
                <a:gd name="connsiteX5" fmla="*/ 1323306 w 1587973"/>
                <a:gd name="connsiteY5" fmla="*/ 1931298 h 1931298"/>
                <a:gd name="connsiteX6" fmla="*/ 264667 w 1587973"/>
                <a:gd name="connsiteY6" fmla="*/ 1931298 h 1931298"/>
                <a:gd name="connsiteX7" fmla="*/ 0 w 1587973"/>
                <a:gd name="connsiteY7" fmla="*/ 1666631 h 1931298"/>
                <a:gd name="connsiteX8" fmla="*/ 0 w 1587973"/>
                <a:gd name="connsiteY8" fmla="*/ 264667 h 19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87973" h="1931298">
                  <a:moveTo>
                    <a:pt x="0" y="264667"/>
                  </a:moveTo>
                  <a:cubicBezTo>
                    <a:pt x="0" y="118495"/>
                    <a:pt x="118495" y="0"/>
                    <a:pt x="264667" y="0"/>
                  </a:cubicBezTo>
                  <a:lnTo>
                    <a:pt x="1323306" y="0"/>
                  </a:lnTo>
                  <a:cubicBezTo>
                    <a:pt x="1469478" y="0"/>
                    <a:pt x="1587973" y="118495"/>
                    <a:pt x="1587973" y="264667"/>
                  </a:cubicBezTo>
                  <a:lnTo>
                    <a:pt x="1587973" y="1666631"/>
                  </a:lnTo>
                  <a:cubicBezTo>
                    <a:pt x="1587973" y="1812803"/>
                    <a:pt x="1469478" y="1931298"/>
                    <a:pt x="1323306" y="1931298"/>
                  </a:cubicBezTo>
                  <a:lnTo>
                    <a:pt x="264667" y="1931298"/>
                  </a:lnTo>
                  <a:cubicBezTo>
                    <a:pt x="118495" y="1931298"/>
                    <a:pt x="0" y="1812803"/>
                    <a:pt x="0" y="1666631"/>
                  </a:cubicBezTo>
                  <a:lnTo>
                    <a:pt x="0" y="26466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9908" tIns="113713" rIns="149908" bIns="113713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900" b="1" i="0" kern="1200" dirty="0">
                  <a:latin typeface="Aptos Display" panose="020B0004020202020204" pitchFamily="34" charset="0"/>
                </a:rPr>
                <a:t>Kernel‑Level Event Capture</a:t>
              </a:r>
              <a:endParaRPr lang="en-IN" sz="1900" kern="1200" dirty="0">
                <a:latin typeface="Aptos Display" panose="020B0004020202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2C444C-39D9-3A38-AC12-C2CA5C327D3A}"/>
              </a:ext>
            </a:extLst>
          </p:cNvPr>
          <p:cNvGrpSpPr/>
          <p:nvPr/>
        </p:nvGrpSpPr>
        <p:grpSpPr>
          <a:xfrm>
            <a:off x="592529" y="3033017"/>
            <a:ext cx="6393876" cy="1592744"/>
            <a:chOff x="964496" y="2889474"/>
            <a:chExt cx="6094850" cy="1592744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8F4443F-8501-94EA-F946-C1842C580FC0}"/>
                </a:ext>
              </a:extLst>
            </p:cNvPr>
            <p:cNvSpPr/>
            <p:nvPr/>
          </p:nvSpPr>
          <p:spPr>
            <a:xfrm>
              <a:off x="964496" y="3060595"/>
              <a:ext cx="5052045" cy="1274195"/>
            </a:xfrm>
            <a:prstGeom prst="round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1" tIns="77440" rIns="92680" bIns="77442" numCol="1" spcCol="1270" anchor="ctr" anchorCtr="0">
              <a:noAutofit/>
            </a:bodyPr>
            <a:lstStyle/>
            <a:p>
              <a:pPr marL="171450" lvl="1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Remove incomplete or unstable kernel events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171450" lvl="1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Resolve PFN mapping inconsistencies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171450" lvl="1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Convert PFN → </a:t>
              </a:r>
              <a:r>
                <a:rPr lang="en-IN" sz="1050" b="1" i="0" kern="1200" dirty="0">
                  <a:latin typeface="Aptos Display" panose="020B0004020202020204" pitchFamily="34" charset="0"/>
                </a:rPr>
                <a:t>6‑slice nibble representation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171450" lvl="1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Normalize fields into model‑ready format: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Sequence windows of length 30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228600" lvl="2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Encoded categories: PID, folio index, mapping, LAT cluster</a:t>
              </a:r>
              <a:endParaRPr lang="en-IN" sz="1050" kern="1200" dirty="0">
                <a:latin typeface="Aptos Display" panose="020B0004020202020204" pitchFamily="34" charset="0"/>
              </a:endParaRPr>
            </a:p>
            <a:p>
              <a:pPr marL="171450" lvl="1" indent="-1714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050" b="0" i="0" kern="1200" dirty="0">
                  <a:latin typeface="Aptos Display" panose="020B0004020202020204" pitchFamily="34" charset="0"/>
                </a:rPr>
                <a:t>Output: </a:t>
              </a:r>
              <a:r>
                <a:rPr lang="en-IN" sz="1050" b="1" i="0" kern="1200" dirty="0">
                  <a:latin typeface="Aptos Display" panose="020B0004020202020204" pitchFamily="34" charset="0"/>
                </a:rPr>
                <a:t>Consistent structured sequences</a:t>
              </a:r>
              <a:endParaRPr lang="en-IN" sz="1050" kern="1200" dirty="0">
                <a:latin typeface="Aptos Display" panose="020B00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875CA59-EB3A-D9E4-94E5-849F5DAB8541}"/>
                </a:ext>
              </a:extLst>
            </p:cNvPr>
            <p:cNvSpPr/>
            <p:nvPr/>
          </p:nvSpPr>
          <p:spPr>
            <a:xfrm>
              <a:off x="5583335" y="2889474"/>
              <a:ext cx="1476011" cy="1592744"/>
            </a:xfrm>
            <a:custGeom>
              <a:avLst/>
              <a:gdLst>
                <a:gd name="connsiteX0" fmla="*/ 0 w 1476011"/>
                <a:gd name="connsiteY0" fmla="*/ 246007 h 1592744"/>
                <a:gd name="connsiteX1" fmla="*/ 246007 w 1476011"/>
                <a:gd name="connsiteY1" fmla="*/ 0 h 1592744"/>
                <a:gd name="connsiteX2" fmla="*/ 1230004 w 1476011"/>
                <a:gd name="connsiteY2" fmla="*/ 0 h 1592744"/>
                <a:gd name="connsiteX3" fmla="*/ 1476011 w 1476011"/>
                <a:gd name="connsiteY3" fmla="*/ 246007 h 1592744"/>
                <a:gd name="connsiteX4" fmla="*/ 1476011 w 1476011"/>
                <a:gd name="connsiteY4" fmla="*/ 1346737 h 1592744"/>
                <a:gd name="connsiteX5" fmla="*/ 1230004 w 1476011"/>
                <a:gd name="connsiteY5" fmla="*/ 1592744 h 1592744"/>
                <a:gd name="connsiteX6" fmla="*/ 246007 w 1476011"/>
                <a:gd name="connsiteY6" fmla="*/ 1592744 h 1592744"/>
                <a:gd name="connsiteX7" fmla="*/ 0 w 1476011"/>
                <a:gd name="connsiteY7" fmla="*/ 1346737 h 1592744"/>
                <a:gd name="connsiteX8" fmla="*/ 0 w 1476011"/>
                <a:gd name="connsiteY8" fmla="*/ 246007 h 159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6011" h="1592744">
                  <a:moveTo>
                    <a:pt x="0" y="246007"/>
                  </a:moveTo>
                  <a:cubicBezTo>
                    <a:pt x="0" y="110141"/>
                    <a:pt x="110141" y="0"/>
                    <a:pt x="246007" y="0"/>
                  </a:cubicBezTo>
                  <a:lnTo>
                    <a:pt x="1230004" y="0"/>
                  </a:lnTo>
                  <a:cubicBezTo>
                    <a:pt x="1365870" y="0"/>
                    <a:pt x="1476011" y="110141"/>
                    <a:pt x="1476011" y="246007"/>
                  </a:cubicBezTo>
                  <a:lnTo>
                    <a:pt x="1476011" y="1346737"/>
                  </a:lnTo>
                  <a:cubicBezTo>
                    <a:pt x="1476011" y="1482603"/>
                    <a:pt x="1365870" y="1592744"/>
                    <a:pt x="1230004" y="1592744"/>
                  </a:cubicBezTo>
                  <a:lnTo>
                    <a:pt x="246007" y="1592744"/>
                  </a:lnTo>
                  <a:cubicBezTo>
                    <a:pt x="110141" y="1592744"/>
                    <a:pt x="0" y="1482603"/>
                    <a:pt x="0" y="1346737"/>
                  </a:cubicBezTo>
                  <a:lnTo>
                    <a:pt x="0" y="24600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3013" tIns="102533" rIns="133013" bIns="102533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b="1" i="0" kern="1200" dirty="0">
                  <a:latin typeface="Aptos Display" panose="020B0004020202020204" pitchFamily="34" charset="0"/>
                </a:rPr>
                <a:t>Data Cleaning &amp; Normalization</a:t>
              </a:r>
              <a:endParaRPr lang="en-IN" sz="1600" kern="1200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386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Data Preprocessing Framework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A72EC57-E272-1A7B-04C9-15BB688F6F0C}"/>
              </a:ext>
            </a:extLst>
          </p:cNvPr>
          <p:cNvGrpSpPr/>
          <p:nvPr/>
        </p:nvGrpSpPr>
        <p:grpSpPr>
          <a:xfrm>
            <a:off x="868254" y="2628252"/>
            <a:ext cx="10730797" cy="2805676"/>
            <a:chOff x="858422" y="2146471"/>
            <a:chExt cx="10730797" cy="280567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B6C759D-D1A5-46FF-C969-F5F47F56A569}"/>
                </a:ext>
              </a:extLst>
            </p:cNvPr>
            <p:cNvSpPr/>
            <p:nvPr/>
          </p:nvSpPr>
          <p:spPr>
            <a:xfrm>
              <a:off x="858422" y="2146471"/>
              <a:ext cx="1601611" cy="507082"/>
            </a:xfrm>
            <a:custGeom>
              <a:avLst/>
              <a:gdLst>
                <a:gd name="connsiteX0" fmla="*/ 0 w 1601611"/>
                <a:gd name="connsiteY0" fmla="*/ 0 h 507082"/>
                <a:gd name="connsiteX1" fmla="*/ 1601611 w 1601611"/>
                <a:gd name="connsiteY1" fmla="*/ 0 h 507082"/>
                <a:gd name="connsiteX2" fmla="*/ 1601611 w 1601611"/>
                <a:gd name="connsiteY2" fmla="*/ 507082 h 507082"/>
                <a:gd name="connsiteX3" fmla="*/ 0 w 1601611"/>
                <a:gd name="connsiteY3" fmla="*/ 507082 h 507082"/>
                <a:gd name="connsiteX4" fmla="*/ 0 w 1601611"/>
                <a:gd name="connsiteY4" fmla="*/ 0 h 507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507082">
                  <a:moveTo>
                    <a:pt x="0" y="0"/>
                  </a:moveTo>
                  <a:lnTo>
                    <a:pt x="1601611" y="0"/>
                  </a:lnTo>
                  <a:lnTo>
                    <a:pt x="1601611" y="507082"/>
                  </a:lnTo>
                  <a:lnTo>
                    <a:pt x="0" y="507082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568" tIns="56896" rIns="99568" bIns="56896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kern="1200">
                  <a:latin typeface="Aptos Display" panose="020B0004020202020204" pitchFamily="34" charset="0"/>
                </a:rPr>
                <a:t>1. Input Encoding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0AD542-26CF-80BD-4BF2-7D77FE12B4E5}"/>
                </a:ext>
              </a:extLst>
            </p:cNvPr>
            <p:cNvSpPr/>
            <p:nvPr/>
          </p:nvSpPr>
          <p:spPr>
            <a:xfrm>
              <a:off x="858422" y="2653553"/>
              <a:ext cx="1601611" cy="2298594"/>
            </a:xfrm>
            <a:custGeom>
              <a:avLst/>
              <a:gdLst>
                <a:gd name="connsiteX0" fmla="*/ 0 w 1601611"/>
                <a:gd name="connsiteY0" fmla="*/ 0 h 2298594"/>
                <a:gd name="connsiteX1" fmla="*/ 1601611 w 1601611"/>
                <a:gd name="connsiteY1" fmla="*/ 0 h 2298594"/>
                <a:gd name="connsiteX2" fmla="*/ 1601611 w 1601611"/>
                <a:gd name="connsiteY2" fmla="*/ 2298594 h 2298594"/>
                <a:gd name="connsiteX3" fmla="*/ 0 w 1601611"/>
                <a:gd name="connsiteY3" fmla="*/ 2298594 h 2298594"/>
                <a:gd name="connsiteX4" fmla="*/ 0 w 1601611"/>
                <a:gd name="connsiteY4" fmla="*/ 0 h 229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2298594">
                  <a:moveTo>
                    <a:pt x="0" y="0"/>
                  </a:moveTo>
                  <a:lnTo>
                    <a:pt x="1601611" y="0"/>
                  </a:lnTo>
                  <a:lnTo>
                    <a:pt x="1601611" y="2298594"/>
                  </a:lnTo>
                  <a:lnTo>
                    <a:pt x="0" y="2298594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4676" tIns="74676" rIns="99568" bIns="112014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Raw kernel PFN events converted into embeddings.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Each time-step includes VA, PFN slices, folio index, PID, latency.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Produces a structured vector for every event.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F9C5F31-F7B6-6F81-9696-FEEFB1FDD952}"/>
                </a:ext>
              </a:extLst>
            </p:cNvPr>
            <p:cNvSpPr/>
            <p:nvPr/>
          </p:nvSpPr>
          <p:spPr>
            <a:xfrm>
              <a:off x="2684259" y="2146471"/>
              <a:ext cx="1601611" cy="507082"/>
            </a:xfrm>
            <a:custGeom>
              <a:avLst/>
              <a:gdLst>
                <a:gd name="connsiteX0" fmla="*/ 0 w 1601611"/>
                <a:gd name="connsiteY0" fmla="*/ 0 h 507082"/>
                <a:gd name="connsiteX1" fmla="*/ 1601611 w 1601611"/>
                <a:gd name="connsiteY1" fmla="*/ 0 h 507082"/>
                <a:gd name="connsiteX2" fmla="*/ 1601611 w 1601611"/>
                <a:gd name="connsiteY2" fmla="*/ 507082 h 507082"/>
                <a:gd name="connsiteX3" fmla="*/ 0 w 1601611"/>
                <a:gd name="connsiteY3" fmla="*/ 507082 h 507082"/>
                <a:gd name="connsiteX4" fmla="*/ 0 w 1601611"/>
                <a:gd name="connsiteY4" fmla="*/ 0 h 507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507082">
                  <a:moveTo>
                    <a:pt x="0" y="0"/>
                  </a:moveTo>
                  <a:lnTo>
                    <a:pt x="1601611" y="0"/>
                  </a:lnTo>
                  <a:lnTo>
                    <a:pt x="1601611" y="507082"/>
                  </a:lnTo>
                  <a:lnTo>
                    <a:pt x="0" y="507082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568" tIns="56896" rIns="99568" bIns="56896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kern="1200" dirty="0">
                  <a:latin typeface="Aptos Display" panose="020B0004020202020204" pitchFamily="34" charset="0"/>
                </a:rPr>
                <a:t>2. Temporal Sequence Encoder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780B70B-305B-CB65-F463-1C42891D1E3D}"/>
                </a:ext>
              </a:extLst>
            </p:cNvPr>
            <p:cNvSpPr/>
            <p:nvPr/>
          </p:nvSpPr>
          <p:spPr>
            <a:xfrm>
              <a:off x="2684259" y="2653553"/>
              <a:ext cx="1601611" cy="2298594"/>
            </a:xfrm>
            <a:custGeom>
              <a:avLst/>
              <a:gdLst>
                <a:gd name="connsiteX0" fmla="*/ 0 w 1601611"/>
                <a:gd name="connsiteY0" fmla="*/ 0 h 2298594"/>
                <a:gd name="connsiteX1" fmla="*/ 1601611 w 1601611"/>
                <a:gd name="connsiteY1" fmla="*/ 0 h 2298594"/>
                <a:gd name="connsiteX2" fmla="*/ 1601611 w 1601611"/>
                <a:gd name="connsiteY2" fmla="*/ 2298594 h 2298594"/>
                <a:gd name="connsiteX3" fmla="*/ 0 w 1601611"/>
                <a:gd name="connsiteY3" fmla="*/ 2298594 h 2298594"/>
                <a:gd name="connsiteX4" fmla="*/ 0 w 1601611"/>
                <a:gd name="connsiteY4" fmla="*/ 0 h 229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2298594">
                  <a:moveTo>
                    <a:pt x="0" y="0"/>
                  </a:moveTo>
                  <a:lnTo>
                    <a:pt x="1601611" y="0"/>
                  </a:lnTo>
                  <a:lnTo>
                    <a:pt x="1601611" y="2298594"/>
                  </a:lnTo>
                  <a:lnTo>
                    <a:pt x="0" y="2298594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4676" tIns="74676" rIns="99568" bIns="112014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Two-stage Bi-GRU (256 + 128 units).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Learns patterns like bursts, locality, and irregular spikes.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Captures how PFN </a:t>
              </a:r>
              <a:r>
                <a:rPr lang="en-IN" sz="1400" kern="1200" dirty="0" err="1">
                  <a:latin typeface="Aptos Display" panose="020B0004020202020204" pitchFamily="34" charset="0"/>
                </a:rPr>
                <a:t>behavior</a:t>
              </a:r>
              <a:r>
                <a:rPr lang="en-IN" sz="1400" kern="1200" dirty="0">
                  <a:latin typeface="Aptos Display" panose="020B0004020202020204" pitchFamily="34" charset="0"/>
                </a:rPr>
                <a:t> changes over time.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C4103E2-36D6-0457-A50B-EF526991B47A}"/>
                </a:ext>
              </a:extLst>
            </p:cNvPr>
            <p:cNvSpPr/>
            <p:nvPr/>
          </p:nvSpPr>
          <p:spPr>
            <a:xfrm>
              <a:off x="4510096" y="2146471"/>
              <a:ext cx="1601611" cy="507082"/>
            </a:xfrm>
            <a:custGeom>
              <a:avLst/>
              <a:gdLst>
                <a:gd name="connsiteX0" fmla="*/ 0 w 1601611"/>
                <a:gd name="connsiteY0" fmla="*/ 0 h 507082"/>
                <a:gd name="connsiteX1" fmla="*/ 1601611 w 1601611"/>
                <a:gd name="connsiteY1" fmla="*/ 0 h 507082"/>
                <a:gd name="connsiteX2" fmla="*/ 1601611 w 1601611"/>
                <a:gd name="connsiteY2" fmla="*/ 507082 h 507082"/>
                <a:gd name="connsiteX3" fmla="*/ 0 w 1601611"/>
                <a:gd name="connsiteY3" fmla="*/ 507082 h 507082"/>
                <a:gd name="connsiteX4" fmla="*/ 0 w 1601611"/>
                <a:gd name="connsiteY4" fmla="*/ 0 h 507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507082">
                  <a:moveTo>
                    <a:pt x="0" y="0"/>
                  </a:moveTo>
                  <a:lnTo>
                    <a:pt x="1601611" y="0"/>
                  </a:lnTo>
                  <a:lnTo>
                    <a:pt x="1601611" y="507082"/>
                  </a:lnTo>
                  <a:lnTo>
                    <a:pt x="0" y="507082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568" tIns="56896" rIns="99568" bIns="56896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200" kern="1200" dirty="0">
                  <a:latin typeface="Aptos Display" panose="020B0004020202020204" pitchFamily="34" charset="0"/>
                </a:rPr>
                <a:t>3. Auxiliary Context Embeddings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B0A9B08-93A3-1571-F14C-BC3B264F2F49}"/>
                </a:ext>
              </a:extLst>
            </p:cNvPr>
            <p:cNvSpPr/>
            <p:nvPr/>
          </p:nvSpPr>
          <p:spPr>
            <a:xfrm>
              <a:off x="4510096" y="2653553"/>
              <a:ext cx="1601611" cy="2298594"/>
            </a:xfrm>
            <a:custGeom>
              <a:avLst/>
              <a:gdLst>
                <a:gd name="connsiteX0" fmla="*/ 0 w 1601611"/>
                <a:gd name="connsiteY0" fmla="*/ 0 h 2298594"/>
                <a:gd name="connsiteX1" fmla="*/ 1601611 w 1601611"/>
                <a:gd name="connsiteY1" fmla="*/ 0 h 2298594"/>
                <a:gd name="connsiteX2" fmla="*/ 1601611 w 1601611"/>
                <a:gd name="connsiteY2" fmla="*/ 2298594 h 2298594"/>
                <a:gd name="connsiteX3" fmla="*/ 0 w 1601611"/>
                <a:gd name="connsiteY3" fmla="*/ 2298594 h 2298594"/>
                <a:gd name="connsiteX4" fmla="*/ 0 w 1601611"/>
                <a:gd name="connsiteY4" fmla="*/ 0 h 229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2298594">
                  <a:moveTo>
                    <a:pt x="0" y="0"/>
                  </a:moveTo>
                  <a:lnTo>
                    <a:pt x="1601611" y="0"/>
                  </a:lnTo>
                  <a:lnTo>
                    <a:pt x="1601611" y="2298594"/>
                  </a:lnTo>
                  <a:lnTo>
                    <a:pt x="0" y="2298594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4676" tIns="74676" rIns="99568" bIns="112014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Extra metadata (PID, mapping ID, folio index, latency clusters).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Merged with GRU output for richer context.</a:t>
              </a: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0751EDA-BFDC-4859-007E-45A3DA67C95B}"/>
                </a:ext>
              </a:extLst>
            </p:cNvPr>
            <p:cNvSpPr/>
            <p:nvPr/>
          </p:nvSpPr>
          <p:spPr>
            <a:xfrm>
              <a:off x="6335933" y="2146471"/>
              <a:ext cx="1601611" cy="507082"/>
            </a:xfrm>
            <a:custGeom>
              <a:avLst/>
              <a:gdLst>
                <a:gd name="connsiteX0" fmla="*/ 0 w 1601611"/>
                <a:gd name="connsiteY0" fmla="*/ 0 h 507082"/>
                <a:gd name="connsiteX1" fmla="*/ 1601611 w 1601611"/>
                <a:gd name="connsiteY1" fmla="*/ 0 h 507082"/>
                <a:gd name="connsiteX2" fmla="*/ 1601611 w 1601611"/>
                <a:gd name="connsiteY2" fmla="*/ 507082 h 507082"/>
                <a:gd name="connsiteX3" fmla="*/ 0 w 1601611"/>
                <a:gd name="connsiteY3" fmla="*/ 507082 h 507082"/>
                <a:gd name="connsiteX4" fmla="*/ 0 w 1601611"/>
                <a:gd name="connsiteY4" fmla="*/ 0 h 507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507082">
                  <a:moveTo>
                    <a:pt x="0" y="0"/>
                  </a:moveTo>
                  <a:lnTo>
                    <a:pt x="1601611" y="0"/>
                  </a:lnTo>
                  <a:lnTo>
                    <a:pt x="1601611" y="507082"/>
                  </a:lnTo>
                  <a:lnTo>
                    <a:pt x="0" y="507082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568" tIns="56896" rIns="99568" bIns="56896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kern="1200">
                  <a:latin typeface="Aptos Display" panose="020B0004020202020204" pitchFamily="34" charset="0"/>
                </a:rPr>
                <a:t>4. Multi-Slice Prediction Heads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0950458-32FF-E69C-B557-6951ADFCE432}"/>
                </a:ext>
              </a:extLst>
            </p:cNvPr>
            <p:cNvSpPr/>
            <p:nvPr/>
          </p:nvSpPr>
          <p:spPr>
            <a:xfrm>
              <a:off x="6335933" y="2653553"/>
              <a:ext cx="1601611" cy="2298594"/>
            </a:xfrm>
            <a:custGeom>
              <a:avLst/>
              <a:gdLst>
                <a:gd name="connsiteX0" fmla="*/ 0 w 1601611"/>
                <a:gd name="connsiteY0" fmla="*/ 0 h 2298594"/>
                <a:gd name="connsiteX1" fmla="*/ 1601611 w 1601611"/>
                <a:gd name="connsiteY1" fmla="*/ 0 h 2298594"/>
                <a:gd name="connsiteX2" fmla="*/ 1601611 w 1601611"/>
                <a:gd name="connsiteY2" fmla="*/ 2298594 h 2298594"/>
                <a:gd name="connsiteX3" fmla="*/ 0 w 1601611"/>
                <a:gd name="connsiteY3" fmla="*/ 2298594 h 2298594"/>
                <a:gd name="connsiteX4" fmla="*/ 0 w 1601611"/>
                <a:gd name="connsiteY4" fmla="*/ 0 h 229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2298594">
                  <a:moveTo>
                    <a:pt x="0" y="0"/>
                  </a:moveTo>
                  <a:lnTo>
                    <a:pt x="1601611" y="0"/>
                  </a:lnTo>
                  <a:lnTo>
                    <a:pt x="1601611" y="2298594"/>
                  </a:lnTo>
                  <a:lnTo>
                    <a:pt x="0" y="2298594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4676" tIns="74676" rIns="99568" bIns="112014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PFN split into 6 outputs (TOP, S4, S3, S2, S1, S0).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Parallel heads improve stability vs predicting full PFN at once.</a:t>
              </a: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FC609E5-112F-C94D-B28C-C7592A9EA574}"/>
                </a:ext>
              </a:extLst>
            </p:cNvPr>
            <p:cNvSpPr/>
            <p:nvPr/>
          </p:nvSpPr>
          <p:spPr>
            <a:xfrm>
              <a:off x="8161770" y="2146471"/>
              <a:ext cx="1601611" cy="507082"/>
            </a:xfrm>
            <a:custGeom>
              <a:avLst/>
              <a:gdLst>
                <a:gd name="connsiteX0" fmla="*/ 0 w 1601611"/>
                <a:gd name="connsiteY0" fmla="*/ 0 h 507082"/>
                <a:gd name="connsiteX1" fmla="*/ 1601611 w 1601611"/>
                <a:gd name="connsiteY1" fmla="*/ 0 h 507082"/>
                <a:gd name="connsiteX2" fmla="*/ 1601611 w 1601611"/>
                <a:gd name="connsiteY2" fmla="*/ 507082 h 507082"/>
                <a:gd name="connsiteX3" fmla="*/ 0 w 1601611"/>
                <a:gd name="connsiteY3" fmla="*/ 507082 h 507082"/>
                <a:gd name="connsiteX4" fmla="*/ 0 w 1601611"/>
                <a:gd name="connsiteY4" fmla="*/ 0 h 507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507082">
                  <a:moveTo>
                    <a:pt x="0" y="0"/>
                  </a:moveTo>
                  <a:lnTo>
                    <a:pt x="1601611" y="0"/>
                  </a:lnTo>
                  <a:lnTo>
                    <a:pt x="1601611" y="507082"/>
                  </a:lnTo>
                  <a:lnTo>
                    <a:pt x="0" y="507082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568" tIns="56896" rIns="99568" bIns="56896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kern="1200">
                  <a:latin typeface="Aptos Display" panose="020B0004020202020204" pitchFamily="34" charset="0"/>
                </a:rPr>
                <a:t>5. KL-Consistency Module</a:t>
              </a: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E38C544-B2FA-440C-C564-42269EEB21F6}"/>
                </a:ext>
              </a:extLst>
            </p:cNvPr>
            <p:cNvSpPr/>
            <p:nvPr/>
          </p:nvSpPr>
          <p:spPr>
            <a:xfrm>
              <a:off x="8161770" y="2653553"/>
              <a:ext cx="1601611" cy="2298594"/>
            </a:xfrm>
            <a:custGeom>
              <a:avLst/>
              <a:gdLst>
                <a:gd name="connsiteX0" fmla="*/ 0 w 1601611"/>
                <a:gd name="connsiteY0" fmla="*/ 0 h 2298594"/>
                <a:gd name="connsiteX1" fmla="*/ 1601611 w 1601611"/>
                <a:gd name="connsiteY1" fmla="*/ 0 h 2298594"/>
                <a:gd name="connsiteX2" fmla="*/ 1601611 w 1601611"/>
                <a:gd name="connsiteY2" fmla="*/ 2298594 h 2298594"/>
                <a:gd name="connsiteX3" fmla="*/ 0 w 1601611"/>
                <a:gd name="connsiteY3" fmla="*/ 2298594 h 2298594"/>
                <a:gd name="connsiteX4" fmla="*/ 0 w 1601611"/>
                <a:gd name="connsiteY4" fmla="*/ 0 h 229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2298594">
                  <a:moveTo>
                    <a:pt x="0" y="0"/>
                  </a:moveTo>
                  <a:lnTo>
                    <a:pt x="1601611" y="0"/>
                  </a:lnTo>
                  <a:lnTo>
                    <a:pt x="1601611" y="2298594"/>
                  </a:lnTo>
                  <a:lnTo>
                    <a:pt x="0" y="2298594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4676" tIns="74676" rIns="99568" bIns="112014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Ensures all slice predictions remain mathematically aligned.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Makes outputs realistic and structurally correct.</a:t>
              </a: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A573CC1-0F3A-2585-CF47-6FE7FEE87130}"/>
                </a:ext>
              </a:extLst>
            </p:cNvPr>
            <p:cNvSpPr/>
            <p:nvPr/>
          </p:nvSpPr>
          <p:spPr>
            <a:xfrm>
              <a:off x="9987608" y="2146471"/>
              <a:ext cx="1601611" cy="507082"/>
            </a:xfrm>
            <a:custGeom>
              <a:avLst/>
              <a:gdLst>
                <a:gd name="connsiteX0" fmla="*/ 0 w 1601611"/>
                <a:gd name="connsiteY0" fmla="*/ 0 h 507082"/>
                <a:gd name="connsiteX1" fmla="*/ 1601611 w 1601611"/>
                <a:gd name="connsiteY1" fmla="*/ 0 h 507082"/>
                <a:gd name="connsiteX2" fmla="*/ 1601611 w 1601611"/>
                <a:gd name="connsiteY2" fmla="*/ 507082 h 507082"/>
                <a:gd name="connsiteX3" fmla="*/ 0 w 1601611"/>
                <a:gd name="connsiteY3" fmla="*/ 507082 h 507082"/>
                <a:gd name="connsiteX4" fmla="*/ 0 w 1601611"/>
                <a:gd name="connsiteY4" fmla="*/ 0 h 507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507082">
                  <a:moveTo>
                    <a:pt x="0" y="0"/>
                  </a:moveTo>
                  <a:lnTo>
                    <a:pt x="1601611" y="0"/>
                  </a:lnTo>
                  <a:lnTo>
                    <a:pt x="1601611" y="507082"/>
                  </a:lnTo>
                  <a:lnTo>
                    <a:pt x="0" y="507082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568" tIns="56896" rIns="99568" bIns="56896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kern="1200">
                  <a:latin typeface="Aptos Display" panose="020B0004020202020204" pitchFamily="34" charset="0"/>
                </a:rPr>
                <a:t>6. Training Strategy</a:t>
              </a: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4B3FCC9-2660-0988-296F-29221BED0FAD}"/>
                </a:ext>
              </a:extLst>
            </p:cNvPr>
            <p:cNvSpPr/>
            <p:nvPr/>
          </p:nvSpPr>
          <p:spPr>
            <a:xfrm>
              <a:off x="9987608" y="2653553"/>
              <a:ext cx="1601611" cy="2298594"/>
            </a:xfrm>
            <a:custGeom>
              <a:avLst/>
              <a:gdLst>
                <a:gd name="connsiteX0" fmla="*/ 0 w 1601611"/>
                <a:gd name="connsiteY0" fmla="*/ 0 h 2298594"/>
                <a:gd name="connsiteX1" fmla="*/ 1601611 w 1601611"/>
                <a:gd name="connsiteY1" fmla="*/ 0 h 2298594"/>
                <a:gd name="connsiteX2" fmla="*/ 1601611 w 1601611"/>
                <a:gd name="connsiteY2" fmla="*/ 2298594 h 2298594"/>
                <a:gd name="connsiteX3" fmla="*/ 0 w 1601611"/>
                <a:gd name="connsiteY3" fmla="*/ 2298594 h 2298594"/>
                <a:gd name="connsiteX4" fmla="*/ 0 w 1601611"/>
                <a:gd name="connsiteY4" fmla="*/ 0 h 229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611" h="2298594">
                  <a:moveTo>
                    <a:pt x="0" y="0"/>
                  </a:moveTo>
                  <a:lnTo>
                    <a:pt x="1601611" y="0"/>
                  </a:lnTo>
                  <a:lnTo>
                    <a:pt x="1601611" y="2298594"/>
                  </a:lnTo>
                  <a:lnTo>
                    <a:pt x="0" y="2298594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4676" tIns="74676" rIns="99568" bIns="112014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Multi-loss training (slice losses + KL loss).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Adam optimizer, early stopping, LR scheduler.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1400" kern="1200" dirty="0">
                  <a:latin typeface="Aptos Display" panose="020B0004020202020204" pitchFamily="34" charset="0"/>
                </a:rPr>
                <a:t>Produces stable learning across all PFN patterns.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IN" sz="1400" kern="1200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161104C-540E-88B5-36D9-A8425B729D27}"/>
              </a:ext>
            </a:extLst>
          </p:cNvPr>
          <p:cNvSpPr txBox="1"/>
          <p:nvPr/>
        </p:nvSpPr>
        <p:spPr>
          <a:xfrm>
            <a:off x="816349" y="1347760"/>
            <a:ext cx="10782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 Display" panose="020B0004020202020204" pitchFamily="34" charset="0"/>
                <a:cs typeface="Times New Roman" panose="02020603050405020304" pitchFamily="18" charset="0"/>
              </a:rPr>
              <a:t>This slide explains the </a:t>
            </a: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complete data preprocessing pipeline</a:t>
            </a:r>
            <a:r>
              <a:rPr lang="en-IN" dirty="0">
                <a:latin typeface="Aptos Display" panose="020B0004020202020204" pitchFamily="34" charset="0"/>
                <a:cs typeface="Times New Roman" panose="02020603050405020304" pitchFamily="18" charset="0"/>
              </a:rPr>
              <a:t> used before training the Hybrid GRU model.</a:t>
            </a:r>
            <a:br>
              <a:rPr lang="en-IN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dirty="0">
                <a:latin typeface="Aptos Display" panose="020B0004020202020204" pitchFamily="34" charset="0"/>
                <a:cs typeface="Times New Roman" panose="02020603050405020304" pitchFamily="18" charset="0"/>
              </a:rPr>
              <a:t>Each module transforms raw PFN major-fault features into stable, ML-ready structured sequences that the model can learn from.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Prediction Validation and Trust Update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 txBox="1">
            <a:spLocks noGrp="1"/>
          </p:cNvSpPr>
          <p:nvPr>
            <p:ph idx="1"/>
          </p:nvPr>
        </p:nvSpPr>
        <p:spPr>
          <a:xfrm>
            <a:off x="826572" y="1278933"/>
            <a:ext cx="9575958" cy="117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Aptos Display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n-IN" sz="140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Ensure AI predictions are always verified against real kernel events before influencing system </a:t>
            </a:r>
            <a:r>
              <a:rPr lang="en-IN" sz="140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behavior</a:t>
            </a:r>
            <a:r>
              <a:rPr lang="en-IN" sz="140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n-IN" sz="140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Maintain a closed feedback loop between AI Model, Trust Controller, and LRU to keep the system stable.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n-IN" sz="140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Guarantee safe integration: AI suggestions are applied only when they meet required confidence levels.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832282-72C1-E730-015B-C589C90E265B}"/>
              </a:ext>
            </a:extLst>
          </p:cNvPr>
          <p:cNvSpPr txBox="1"/>
          <p:nvPr/>
        </p:nvSpPr>
        <p:spPr>
          <a:xfrm>
            <a:off x="826572" y="2591213"/>
            <a:ext cx="4473016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ptos Display" panose="020B0004020202020204" pitchFamily="34" charset="0"/>
                <a:cs typeface="Times New Roman" panose="02020603050405020304" pitchFamily="18" charset="0"/>
              </a:rPr>
              <a:t>Validation Workflow </a:t>
            </a: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AI Predictor generates a future PFN prediction chain: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𝑝=[𝑝1,𝑝2,…,𝑝𝑛] p=[p1	​,p2,…,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pn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Kernel (via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kprobes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) logs actual major-fault PFNs: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𝑞=[𝑞1,𝑞2,…,𝑞𝑛]     q = [q1	,q2	,…,qn	​]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Compare p vs q for correctness and timing alignment.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Update Trust Factors (</a:t>
            </a:r>
            <a:r>
              <a:rPr lang="el-GR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μ, 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S, W) based on match results:</a:t>
            </a:r>
          </a:p>
          <a:p>
            <a:r>
              <a:rPr lang="el-GR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μ → 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current prediction accuracy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S → recent stability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W → long-term reliability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Final trust score: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𝑇= 0.3𝑆+0.4𝜇 + 0.3𝑊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T=0.3S+0.4</a:t>
            </a:r>
            <a:r>
              <a:rPr lang="el-GR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μ+0.3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CF4027-09D2-E07B-FBAB-AEAB6A302516}"/>
              </a:ext>
            </a:extLst>
          </p:cNvPr>
          <p:cNvSpPr txBox="1"/>
          <p:nvPr/>
        </p:nvSpPr>
        <p:spPr>
          <a:xfrm>
            <a:off x="6012426" y="2868901"/>
            <a:ext cx="4783393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ptos Display" panose="020B0004020202020204" pitchFamily="34" charset="0"/>
                <a:cs typeface="Times New Roman" panose="02020603050405020304" pitchFamily="18" charset="0"/>
              </a:rPr>
              <a:t>Decision Logic</a:t>
            </a: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If Trust ≥ Threshold (≈ 0.7):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→ Accept AI prediction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→ Protect predicted pages using the Hold Queue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→ Delay eviction for high-value PFNs</a:t>
            </a:r>
          </a:p>
          <a:p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If Trust &lt; Threshold: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→ Ignore AI suggestion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→ Default to standard LRU replacement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Kernel-Level Integration and Data Abstraction Framework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 txBox="1">
            <a:spLocks noGrp="1"/>
          </p:cNvSpPr>
          <p:nvPr>
            <p:ph idx="1"/>
          </p:nvPr>
        </p:nvSpPr>
        <p:spPr>
          <a:xfrm>
            <a:off x="609287" y="1198657"/>
            <a:ext cx="5158142" cy="160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14300" indent="0">
              <a:buNone/>
            </a:pPr>
            <a:r>
              <a:rPr lang="en-IN" sz="16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Environment Setup:-</a:t>
            </a:r>
          </a:p>
          <a:p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Platform: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Ubuntu (Custom-compiled Linux kernel on VirtualBox)</a:t>
            </a:r>
          </a:p>
          <a:p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Tools Used: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kprobes,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tracepoints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, perf, and custom kernel logs</a:t>
            </a:r>
          </a:p>
          <a:p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Goal: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Capture low-level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page fault and victim selection events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for real-time analysis.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6B5E6E7-93A1-2A4E-AF0E-1B0626F67F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7729763"/>
              </p:ext>
            </p:extLst>
          </p:nvPr>
        </p:nvGraphicFramePr>
        <p:xfrm>
          <a:off x="5993259" y="1228141"/>
          <a:ext cx="5893942" cy="4638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6DFBF62-D362-EB9C-9B43-63C6D367BC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202" y="3046565"/>
            <a:ext cx="5158142" cy="281997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D68A8483-52AB-4D61-907C-C9695EE8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>
            <a:extLst>
              <a:ext uri="{FF2B5EF4-FFF2-40B4-BE49-F238E27FC236}">
                <a16:creationId xmlns:a16="http://schemas.microsoft.com/office/drawing/2014/main" id="{757E131F-4FAE-43CF-F459-0096BF165B8B}"/>
              </a:ext>
            </a:extLst>
          </p:cNvPr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Kernel-Level Integration and Data Abstraction Framework</a:t>
            </a:r>
            <a:endParaRPr sz="28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0" name="Google Shape;210;p13">
            <a:extLst>
              <a:ext uri="{FF2B5EF4-FFF2-40B4-BE49-F238E27FC236}">
                <a16:creationId xmlns:a16="http://schemas.microsoft.com/office/drawing/2014/main" id="{9EA61E3F-0234-8BEC-FF25-C50B79FFC84B}"/>
              </a:ext>
            </a:extLst>
          </p:cNvPr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A9E591-2AE6-5811-6850-1C76060CF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787" y="1189065"/>
            <a:ext cx="4921788" cy="4602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53096C-1F40-F3E8-63A1-CC91EDBEC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74" y="1228996"/>
            <a:ext cx="5250426" cy="4602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AF1A56-5F7F-325F-69E3-5C38C0C3CFA5}"/>
              </a:ext>
            </a:extLst>
          </p:cNvPr>
          <p:cNvSpPr txBox="1"/>
          <p:nvPr/>
        </p:nvSpPr>
        <p:spPr>
          <a:xfrm>
            <a:off x="1917291" y="5913023"/>
            <a:ext cx="2493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 . Victims page entry capture hook</a:t>
            </a:r>
            <a:endParaRPr lang="en-IN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400BD7-4548-F5B7-3799-6DF2F6D71089}"/>
              </a:ext>
            </a:extLst>
          </p:cNvPr>
          <p:cNvSpPr txBox="1"/>
          <p:nvPr/>
        </p:nvSpPr>
        <p:spPr>
          <a:xfrm>
            <a:off x="7956757" y="5851111"/>
            <a:ext cx="26129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 .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Swap entry capture point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3092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59BE1D17-6888-947F-391A-112429EC5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>
            <a:extLst>
              <a:ext uri="{FF2B5EF4-FFF2-40B4-BE49-F238E27FC236}">
                <a16:creationId xmlns:a16="http://schemas.microsoft.com/office/drawing/2014/main" id="{39B56AB6-1514-57CD-EF08-C328731B3BFC}"/>
              </a:ext>
            </a:extLst>
          </p:cNvPr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Sample Page Fault Entries Extracted from Kernel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20" name="Google Shape;220;p14">
            <a:extLst>
              <a:ext uri="{FF2B5EF4-FFF2-40B4-BE49-F238E27FC236}">
                <a16:creationId xmlns:a16="http://schemas.microsoft.com/office/drawing/2014/main" id="{D4B0D57B-1AFF-BCC2-0965-0A1ECE6661BD}"/>
              </a:ext>
            </a:extLst>
          </p:cNvPr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2" name="Google Shape;222;p14">
            <a:extLst>
              <a:ext uri="{FF2B5EF4-FFF2-40B4-BE49-F238E27FC236}">
                <a16:creationId xmlns:a16="http://schemas.microsoft.com/office/drawing/2014/main" id="{5B7BF301-FEC5-26DA-CF9F-C6240BDA2512}"/>
              </a:ext>
            </a:extLst>
          </p:cNvPr>
          <p:cNvSpPr txBox="1"/>
          <p:nvPr/>
        </p:nvSpPr>
        <p:spPr>
          <a:xfrm>
            <a:off x="5879690" y="1263343"/>
            <a:ext cx="5470741" cy="252372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buClr>
                <a:schemeClr val="dk1"/>
              </a:buClr>
              <a:buSzPts val="2000"/>
            </a:pPr>
            <a:r>
              <a:rPr lang="en-IN" b="1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How This Data Is Used</a:t>
            </a:r>
          </a:p>
          <a:p>
            <a:pPr marL="285750" lvl="0" indent="-28575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Training &amp; validation of the AI predictor (GRU/LSTM).</a:t>
            </a:r>
          </a:p>
          <a:p>
            <a:pPr marL="285750" lvl="0" indent="-28575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Forms sequence-based learning windows for temporal pattern </a:t>
            </a:r>
            <a:r>
              <a:rPr lang="en-IN" sz="1400" dirty="0" err="1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modeling</a:t>
            </a:r>
            <a:r>
              <a:rPr lang="en-IN" sz="1400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</a:p>
          <a:p>
            <a:pPr marL="285750" lvl="0" indent="-28575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Helps </a:t>
            </a:r>
            <a:r>
              <a:rPr lang="en-IN" sz="1400" dirty="0" err="1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analyze</a:t>
            </a:r>
            <a:r>
              <a:rPr lang="en-IN" sz="1400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:</a:t>
            </a:r>
          </a:p>
          <a:p>
            <a:pPr marL="285750" lvl="0" indent="-28575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PFN access trends</a:t>
            </a:r>
          </a:p>
          <a:p>
            <a:pPr marL="285750" lvl="0" indent="-28575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Latency </a:t>
            </a:r>
            <a:r>
              <a:rPr lang="en-IN" sz="1400" dirty="0" err="1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behavior</a:t>
            </a:r>
            <a:endParaRPr lang="en-IN" sz="1400" dirty="0">
              <a:solidFill>
                <a:schemeClr val="dk1"/>
              </a:solidFill>
              <a:latin typeface="Aptos Display" panose="020B0004020202020204" pitchFamily="34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85750" lvl="0" indent="-28575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Prediction correctness</a:t>
            </a:r>
          </a:p>
          <a:p>
            <a:pPr marL="285750" lvl="0" indent="-28575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Trust-score evolution over time</a:t>
            </a:r>
          </a:p>
          <a:p>
            <a:pPr marL="285750" lvl="0" indent="-28575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Times New Roman" panose="02020603050405020304" pitchFamily="18" charset="0"/>
                <a:sym typeface="Arial"/>
              </a:rPr>
              <a:t>Provides real-world ground truth for evaluating the hybrid memory management system.</a:t>
            </a:r>
            <a:endParaRPr sz="1400" dirty="0">
              <a:solidFill>
                <a:schemeClr val="dk1"/>
              </a:solidFill>
              <a:latin typeface="Aptos Display" panose="020B0004020202020204" pitchFamily="34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6C775-BF40-481D-D8F4-50123D794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32" r="6568" b="40162"/>
          <a:stretch>
            <a:fillRect/>
          </a:stretch>
        </p:blipFill>
        <p:spPr>
          <a:xfrm>
            <a:off x="5879690" y="3844412"/>
            <a:ext cx="5865680" cy="23842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2D1C60-3A30-8A43-B4BB-AB3E82866FD8}"/>
              </a:ext>
            </a:extLst>
          </p:cNvPr>
          <p:cNvSpPr txBox="1"/>
          <p:nvPr/>
        </p:nvSpPr>
        <p:spPr>
          <a:xfrm>
            <a:off x="512471" y="1263343"/>
            <a:ext cx="53070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Captured Data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Virtual Address (VA): Logical memory location that triggered the 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Page Frame Number (PFN): Physical memory frame mapped to the 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Process ID (PID): Process responsible for the 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Latency (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ms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): Time taken by the kernel to resolve the 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Folio: Linux memory-manager structure containing metadata about the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Timestamp: Precise moment the major page fault occurred.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4E2438-D2D7-03F0-1AFF-8FD302BBD4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472"/>
          <a:stretch>
            <a:fillRect/>
          </a:stretch>
        </p:blipFill>
        <p:spPr>
          <a:xfrm>
            <a:off x="589935" y="3844411"/>
            <a:ext cx="5152104" cy="230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74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Model Training (V3 Architecture)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0" y="6374639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79131-1173-49AB-72EE-0CCDFDF084A0}"/>
              </a:ext>
            </a:extLst>
          </p:cNvPr>
          <p:cNvSpPr txBox="1"/>
          <p:nvPr/>
        </p:nvSpPr>
        <p:spPr>
          <a:xfrm>
            <a:off x="612057" y="1307800"/>
            <a:ext cx="3635478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Training Dataset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Data Sources: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Early-phase synthetic PFN sequences for warm-start experimentation.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Full real kernel major-fault logs captured via </a:t>
            </a:r>
            <a:r>
              <a:rPr lang="en-IN" sz="12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kprobes</a:t>
            </a: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 (production dataset).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Input Features (per timestep):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Virtual Address (VA)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Page Frame Number (PFN, 6-slice representation)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PID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Latency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Folio Index + Mapping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Training Size: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~1,000–2,000 PFN sequences (each 20–60 steps long).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Train/Validation Split: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80% Training, 20% Validation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3BB6DB-CB90-1439-3DA9-DAFC22D830FD}"/>
              </a:ext>
            </a:extLst>
          </p:cNvPr>
          <p:cNvSpPr txBox="1"/>
          <p:nvPr/>
        </p:nvSpPr>
        <p:spPr>
          <a:xfrm>
            <a:off x="4247535" y="1242311"/>
            <a:ext cx="3578942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Model Configuration (Version-3)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Architecture: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2-layer GRU temporal encoder (256 → 128 units).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Auxiliary embedding layers for PID, folio index, mapping, and cluster ID.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Parallel multi-slice output heads: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Top Region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S4, S3, S2, S1, S0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Outputs structured PFN-slice predictions instead of raw integers.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Optimizer &amp; Loss: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Optimizer: Adam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Loss: Multi-head MSE + Slice Consistency Regularization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KL Consistency module aligns slice outputs to maintain PFN structure.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Training Strategy: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Batch Size: 64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Epochs: 50 (with early stopping)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Learning Rate: 1e-4 with decay schedule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Weighted loss to reduce lower-slice noise amplification.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B1EDE-D79A-61AD-37BA-16497B4BFBEC}"/>
              </a:ext>
            </a:extLst>
          </p:cNvPr>
          <p:cNvSpPr txBox="1"/>
          <p:nvPr/>
        </p:nvSpPr>
        <p:spPr>
          <a:xfrm>
            <a:off x="8192726" y="1242311"/>
            <a:ext cx="3212691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Performance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Sequential (Linear) Access: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~85% accuracy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→ V3 learns ordered PFN patterns strongly.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Locality (Hot-Page) Patterns: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~75% accuracy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→ Indicates solid temporal memory capture.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Mixed/Interleaved Access: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~65% accuracy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→ Variability due to sudden PID changes and high entropy.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Random Access: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V3 intentionally falls back to baseline LRU,</a:t>
            </a:r>
            <a:b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since prediction confidence drops below threshold.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Latency Prediction (Smoothing Applied):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Future fault latency predictions remain within a narrow tolerance band.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ptos Display" panose="020B0004020202020204" pitchFamily="34" charset="0"/>
                <a:cs typeface="Times New Roman" panose="02020603050405020304" pitchFamily="18" charset="0"/>
              </a:rPr>
              <a:t>Enables trust controller to detect unstable conditions.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8D7F2C75-744D-67F6-D4C1-EA72F424E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>
            <a:extLst>
              <a:ext uri="{FF2B5EF4-FFF2-40B4-BE49-F238E27FC236}">
                <a16:creationId xmlns:a16="http://schemas.microsoft.com/office/drawing/2014/main" id="{6B9EFF7B-8470-8265-D976-AF91D35DE4AD}"/>
              </a:ext>
            </a:extLst>
          </p:cNvPr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Model Training (V3 Architecture)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16">
            <a:extLst>
              <a:ext uri="{FF2B5EF4-FFF2-40B4-BE49-F238E27FC236}">
                <a16:creationId xmlns:a16="http://schemas.microsoft.com/office/drawing/2014/main" id="{E9B335E8-C068-C6E2-CE79-5917FC67AA45}"/>
              </a:ext>
            </a:extLst>
          </p:cNvPr>
          <p:cNvSpPr/>
          <p:nvPr/>
        </p:nvSpPr>
        <p:spPr>
          <a:xfrm>
            <a:off x="0" y="6374639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13768C-3D17-9D63-AA50-20BAE032A1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6" t="2439" r="2256" b="2351"/>
          <a:stretch>
            <a:fillRect/>
          </a:stretch>
        </p:blipFill>
        <p:spPr>
          <a:xfrm>
            <a:off x="6400800" y="1220787"/>
            <a:ext cx="5135222" cy="2336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8858A5-D7C5-83AB-971E-B36190295C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84" t="2018" r="2536" b="2018"/>
          <a:stretch>
            <a:fillRect/>
          </a:stretch>
        </p:blipFill>
        <p:spPr>
          <a:xfrm>
            <a:off x="1083289" y="3839420"/>
            <a:ext cx="5135223" cy="20393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EC47C5-BC2E-BC83-DC02-6DBCCABAFE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9" t="994" r="1199" b="3979"/>
          <a:stretch>
            <a:fillRect/>
          </a:stretch>
        </p:blipFill>
        <p:spPr>
          <a:xfrm>
            <a:off x="6400800" y="3787304"/>
            <a:ext cx="5135222" cy="21436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B460EF-47C8-3BB2-8790-4732DB3475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60" t="1959" r="3112" b="2916"/>
          <a:stretch>
            <a:fillRect/>
          </a:stretch>
        </p:blipFill>
        <p:spPr>
          <a:xfrm>
            <a:off x="1205802" y="1220787"/>
            <a:ext cx="4890199" cy="233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52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 txBox="1">
            <a:spLocks noGrp="1"/>
          </p:cNvSpPr>
          <p:nvPr>
            <p:ph idx="1"/>
          </p:nvPr>
        </p:nvSpPr>
        <p:spPr>
          <a:xfrm>
            <a:off x="609599" y="1068512"/>
            <a:ext cx="4671317" cy="2845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en-IN" sz="21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UI Features:</a:t>
            </a:r>
          </a:p>
          <a:p>
            <a:r>
              <a:rPr lang="en-IN" sz="1700" dirty="0">
                <a:latin typeface="Aptos Display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Live</a:t>
            </a:r>
            <a: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  <a:t> Page Fault Stream:</a:t>
            </a:r>
            <a:b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  <a:t>Displays current faults with VA, PFN, PID, and latency.</a:t>
            </a:r>
          </a:p>
          <a:p>
            <a: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  <a:t>Prediction Chain Panel:</a:t>
            </a:r>
            <a:b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  <a:t>Shows AI-predicted future pages and confidence scores.</a:t>
            </a:r>
          </a:p>
          <a:p>
            <a: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Trust Meter:</a:t>
            </a:r>
            <a:b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  <a:t>Graphically indicates trust level (green = high, red = low).</a:t>
            </a:r>
          </a:p>
          <a:p>
            <a: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  <a:t>Victim Validation View:</a:t>
            </a:r>
            <a:b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  <a:t>Marks if predicted pages appeared later (✔ = correct, ✖ = missed).</a:t>
            </a:r>
          </a:p>
          <a:p>
            <a: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  <a:t>Global Queue Summary:</a:t>
            </a:r>
            <a:b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7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Tracks total predictions, validation accuracy, and resolved faults.</a:t>
            </a:r>
          </a:p>
          <a:p>
            <a:pPr marL="228600" lvl="0" indent="-17081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Visualization &amp; UI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1EFF5-38DE-A62A-8505-94D3472A22B4}"/>
              </a:ext>
            </a:extLst>
          </p:cNvPr>
          <p:cNvSpPr txBox="1"/>
          <p:nvPr/>
        </p:nvSpPr>
        <p:spPr>
          <a:xfrm>
            <a:off x="609599" y="4078841"/>
            <a:ext cx="440419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Integration:</a:t>
            </a:r>
          </a:p>
          <a:p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UI fetches data logs directly from kernel → user-space via socket or buffer.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Built for simulation and demonstration (visual proof of system logic).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F22BCA-77F2-660E-F318-9B1745CA6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374" y="3531955"/>
            <a:ext cx="6493267" cy="26942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7FA68F-98DE-FC50-7CCC-C60BA2DAF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374" y="1076334"/>
            <a:ext cx="6493267" cy="236988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Performance Evaluation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BBAC5-921D-3E22-3944-BAE69B2006E2}"/>
              </a:ext>
            </a:extLst>
          </p:cNvPr>
          <p:cNvSpPr txBox="1"/>
          <p:nvPr/>
        </p:nvSpPr>
        <p:spPr>
          <a:xfrm>
            <a:off x="7934632" y="1161163"/>
            <a:ext cx="3438969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Best Performance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Achieved in sequential and locality-dominant workloads where patterns are predictable.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Safe </a:t>
            </a:r>
            <a:r>
              <a:rPr lang="en-IN" sz="1400" b="1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Behavior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 Under Random Access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Trust drops → system automatically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reverts to pure LRU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ensuring correctness.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No Performance Degradation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Dynamic trust tuning prevents AI from interfering during unpredictable or unstable memory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7F87D-D696-6C09-89B9-05E30B889741}"/>
              </a:ext>
            </a:extLst>
          </p:cNvPr>
          <p:cNvSpPr txBox="1"/>
          <p:nvPr/>
        </p:nvSpPr>
        <p:spPr>
          <a:xfrm>
            <a:off x="639097" y="1262030"/>
            <a:ext cx="289068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Evaluation Setup: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Environment: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Ubuntu custom kernel (VirtualBox), 4 GB RAM, 2 cores.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Workload Patterns Tested: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Sequential, Locality-Based, Mixed, and Random access workloads.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Baseline: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Native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LRU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page replacement.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Comparison Model: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Hybrid AI-LRU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(AI Predictor + Trust Controller + LRU safety-fallback).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3BD74-AC3E-A778-1195-425EE1CB379E}"/>
              </a:ext>
            </a:extLst>
          </p:cNvPr>
          <p:cNvSpPr txBox="1"/>
          <p:nvPr/>
        </p:nvSpPr>
        <p:spPr>
          <a:xfrm>
            <a:off x="3893573" y="1161163"/>
            <a:ext cx="4041059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Key 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Page Fault Rate ↓ 25–40%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Significant reduction vs. standard LRU under structured workloads.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Average Fault Latency ↓ 15–20%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Faster resolution due to proactive fault anticipation.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Prediction Accuracy ≥ 80%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Achieved on stable sequential/locality workloads using V3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Trust Stabilization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Trust metrics converge after ~100 prediction–validation iterations.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Minimal System Overhead (&lt;5%)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Because AI model runs asynchronously and only advises LRU.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Project Milestones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B3CB3C-5D6D-0DE6-8090-DFD9F5C5954A}"/>
              </a:ext>
            </a:extLst>
          </p:cNvPr>
          <p:cNvSpPr txBox="1"/>
          <p:nvPr/>
        </p:nvSpPr>
        <p:spPr>
          <a:xfrm>
            <a:off x="629265" y="1427572"/>
            <a:ext cx="11051457" cy="4227871"/>
          </a:xfrm>
          <a:prstGeom prst="rect">
            <a:avLst/>
          </a:prstGeom>
          <a:noFill/>
        </p:spPr>
        <p:txBody>
          <a:bodyPr wrap="square" numCol="2" spcCol="28800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Concept &amp; Problem Definition: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Identified major page faults as a bottleneck and proposed an AI-assisted hybrid LRU solution.</a:t>
            </a:r>
          </a:p>
          <a:p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Synthetic Data Phase (Early Stage):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Created artificial memory-access patterns to validate sequence-based PFN prediction feasibility.</a:t>
            </a:r>
          </a:p>
          <a:p>
            <a:endParaRPr lang="en-IN" sz="1400" b="1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Kernel Data Abstraction Setup: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Implemented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kprobes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to extract real PFN, VA, PID, mapping, and latency events from the Linux kernel.</a:t>
            </a:r>
          </a:p>
          <a:p>
            <a:endParaRPr lang="en-IN" sz="1400" b="1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Model V3 Development: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Built a multi-head GRU model with 6-slice PFN encoding, auxiliary embeddings, and a trust controller.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Training &amp; Validation: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Trained on 1,000+ sequences; achieved 80%+ accuracy and 15–20% reduced fault latency with stable trust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Real-Time Kernel Integration: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Connected model via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Netlink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; added hold-queue, prediction validation loop, and safe fallback to LRU.</a:t>
            </a:r>
          </a:p>
          <a:p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GUI &amp; Monitoring Tools: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Developed a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PySide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dashboard for real-time PFN graphs, trust metrics, and kernel logs.</a:t>
            </a:r>
          </a:p>
          <a:p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Final Testing &amp; Stabilization: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Verified performance across workloads with &lt;5% overhead and ensured complete system safety and stability.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>
          <a:extLst>
            <a:ext uri="{FF2B5EF4-FFF2-40B4-BE49-F238E27FC236}">
              <a16:creationId xmlns:a16="http://schemas.microsoft.com/office/drawing/2014/main" id="{EF6F839F-C0C6-957B-F1B1-5CFC15FF6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>
            <a:extLst>
              <a:ext uri="{FF2B5EF4-FFF2-40B4-BE49-F238E27FC236}">
                <a16:creationId xmlns:a16="http://schemas.microsoft.com/office/drawing/2014/main" id="{94DE7606-0870-1AE2-D931-3A120B6ACD5E}"/>
              </a:ext>
            </a:extLst>
          </p:cNvPr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Future Work and Research Vision</a:t>
            </a:r>
            <a:endParaRPr sz="2800" b="1" dirty="0">
              <a:solidFill>
                <a:schemeClr val="bg1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0" name="Google Shape;270;p20">
            <a:extLst>
              <a:ext uri="{FF2B5EF4-FFF2-40B4-BE49-F238E27FC236}">
                <a16:creationId xmlns:a16="http://schemas.microsoft.com/office/drawing/2014/main" id="{4295A706-62F7-6694-A87C-5641078A65E2}"/>
              </a:ext>
            </a:extLst>
          </p:cNvPr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671E5A-B4D8-D8DB-629B-6A6E83AE6524}"/>
              </a:ext>
            </a:extLst>
          </p:cNvPr>
          <p:cNvSpPr txBox="1"/>
          <p:nvPr/>
        </p:nvSpPr>
        <p:spPr>
          <a:xfrm>
            <a:off x="556751" y="1617201"/>
            <a:ext cx="11078497" cy="3770878"/>
          </a:xfrm>
          <a:prstGeom prst="rect">
            <a:avLst/>
          </a:prstGeom>
          <a:noFill/>
        </p:spPr>
        <p:txBody>
          <a:bodyPr wrap="square" numCol="2" spcCol="18000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1. Advanced Model Enhancements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Integrate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RESAT-X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smoothing for stable PFN delta patterns (Planned V4).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Introduce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lightweight Transformer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models for long-range temporal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Expand auxiliary embeddings (NUMA node, memory zone, allocation type).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2. Deeper Kernel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Transition from advisory mode →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partial decision influence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on LRU.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Add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dynamic prefetching &amp; page-migration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support using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Evaluate impact on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real eviction metrics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under multi-process workloads.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3. System-Level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Build predictive OS </a:t>
            </a:r>
            <a:r>
              <a:rPr lang="en-IN" sz="14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behaviors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memory-aware scheduling,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smart caching,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NUMA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Apply model in virtualization (KVM, Xen) to optimize VM memory flow.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4. Large-Scale Training &amp; Benchmarking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Collect diverse workloads from real systems to train a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generalized model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Benchmark against CLOCK, LFU, ARC, and other modern page-replacement algorithms.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Deploy long-term trust analytics for continuous learning.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5. Platform Expansion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Implement for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mobile, embedded, and low-resource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Linux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Investigate predictive paging for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edge computing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and IoT devices.</a:t>
            </a:r>
          </a:p>
        </p:txBody>
      </p:sp>
    </p:spTree>
    <p:extLst>
      <p:ext uri="{BB962C8B-B14F-4D97-AF65-F5344CB8AC3E}">
        <p14:creationId xmlns:p14="http://schemas.microsoft.com/office/powerpoint/2010/main" val="446852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>
          <a:extLst>
            <a:ext uri="{FF2B5EF4-FFF2-40B4-BE49-F238E27FC236}">
              <a16:creationId xmlns:a16="http://schemas.microsoft.com/office/drawing/2014/main" id="{D1CEC638-959D-B0AE-500E-41B56F8E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>
            <a:extLst>
              <a:ext uri="{FF2B5EF4-FFF2-40B4-BE49-F238E27FC236}">
                <a16:creationId xmlns:a16="http://schemas.microsoft.com/office/drawing/2014/main" id="{3AA788CB-0BB1-2537-E74A-B302AC74B8F8}"/>
              </a:ext>
            </a:extLst>
          </p:cNvPr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Acknowledgement &amp; Conclusion</a:t>
            </a:r>
            <a:endParaRPr b="1" dirty="0">
              <a:solidFill>
                <a:schemeClr val="bg1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0" name="Google Shape;270;p20">
            <a:extLst>
              <a:ext uri="{FF2B5EF4-FFF2-40B4-BE49-F238E27FC236}">
                <a16:creationId xmlns:a16="http://schemas.microsoft.com/office/drawing/2014/main" id="{FD6A29A4-1821-213E-8C46-33FBAB0C7F76}"/>
              </a:ext>
            </a:extLst>
          </p:cNvPr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8DE56-FF6A-8F8F-D3BA-B72B6B0F18AE}"/>
              </a:ext>
            </a:extLst>
          </p:cNvPr>
          <p:cNvSpPr txBox="1"/>
          <p:nvPr/>
        </p:nvSpPr>
        <p:spPr>
          <a:xfrm>
            <a:off x="671050" y="1357467"/>
            <a:ext cx="925952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Acknowledgement:</a:t>
            </a:r>
          </a:p>
          <a:p>
            <a:pPr>
              <a:buNone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Faculty Guides:</a:t>
            </a: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Mr. R.S. Sharma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— </a:t>
            </a:r>
            <a:r>
              <a:rPr lang="en-IN" sz="1400" i="1" dirty="0">
                <a:latin typeface="Aptos Display" panose="020B0004020202020204" pitchFamily="34" charset="0"/>
                <a:cs typeface="Times New Roman" panose="02020603050405020304" pitchFamily="18" charset="0"/>
              </a:rPr>
              <a:t>Head of Department &amp; Project Supervisor</a:t>
            </a: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Ms. Mithilesh Sharma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— </a:t>
            </a:r>
            <a:r>
              <a:rPr lang="en-IN" sz="1400" i="1" dirty="0">
                <a:latin typeface="Aptos Display" panose="020B0004020202020204" pitchFamily="34" charset="0"/>
                <a:cs typeface="Times New Roman" panose="02020603050405020304" pitchFamily="18" charset="0"/>
              </a:rPr>
              <a:t>Co-Supervisor</a:t>
            </a: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Department: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Computer Science &amp; Engineering</a:t>
            </a:r>
            <a:b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Institution: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Rajasthan Technical University, Kota</a:t>
            </a:r>
          </a:p>
          <a:p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Gratitude is extended to our respected guides, the department, and peers for their constant support, technical insights, and encouragement throughout this industrial training project.</a:t>
            </a:r>
          </a:p>
          <a:p>
            <a:pPr>
              <a:buNone/>
            </a:pPr>
            <a:endParaRPr lang="en-IN" sz="1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Conclusion: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Successfully developed a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Hybrid AI–LRU Page Replacement System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integrating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AI prediction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with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trust-based validation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Achieved: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≈40% reduction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in major page faults.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≈20% improvement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in average fault latency.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Stable and adaptive hybrid operation under diverse workloads.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Demonstrated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real kernel-level integration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using </a:t>
            </a:r>
            <a:r>
              <a:rPr lang="en-IN" sz="1400" i="1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kprobes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1400" i="1" dirty="0">
                <a:latin typeface="Aptos Display" panose="020B0004020202020204" pitchFamily="34" charset="0"/>
                <a:cs typeface="Times New Roman" panose="02020603050405020304" pitchFamily="18" charset="0"/>
              </a:rPr>
              <a:t>custom hooks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, and </a:t>
            </a:r>
            <a:r>
              <a:rPr lang="en-IN" sz="1400" i="1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Netlink</a:t>
            </a:r>
            <a:r>
              <a:rPr lang="en-IN" sz="1400" i="1" dirty="0">
                <a:latin typeface="Aptos Display" panose="020B0004020202020204" pitchFamily="34" charset="0"/>
                <a:cs typeface="Times New Roman" panose="02020603050405020304" pitchFamily="18" charset="0"/>
              </a:rPr>
              <a:t> communication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Validated performance using both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synthetic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real kernel-acquired data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, ensuring system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Established a foundation for </a:t>
            </a:r>
            <a:r>
              <a:rPr lang="en-IN" sz="1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intelligent, self-learning OS memory management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, enabling future enhancements like </a:t>
            </a:r>
            <a:r>
              <a:rPr lang="en-IN" sz="1400" i="1" dirty="0">
                <a:latin typeface="Aptos Display" panose="020B0004020202020204" pitchFamily="34" charset="0"/>
                <a:cs typeface="Times New Roman" panose="02020603050405020304" pitchFamily="18" charset="0"/>
              </a:rPr>
              <a:t>RESAT-X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IN" sz="1400" i="1" dirty="0">
                <a:latin typeface="Aptos Display" panose="020B0004020202020204" pitchFamily="34" charset="0"/>
                <a:cs typeface="Times New Roman" panose="02020603050405020304" pitchFamily="18" charset="0"/>
              </a:rPr>
              <a:t>predictive prefetching models</a:t>
            </a:r>
            <a:r>
              <a:rPr lang="en-IN" sz="1400" dirty="0"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7751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>
          <a:extLst>
            <a:ext uri="{FF2B5EF4-FFF2-40B4-BE49-F238E27FC236}">
              <a16:creationId xmlns:a16="http://schemas.microsoft.com/office/drawing/2014/main" id="{F8A84CE7-B447-EA91-1670-934E8121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>
            <a:extLst>
              <a:ext uri="{FF2B5EF4-FFF2-40B4-BE49-F238E27FC236}">
                <a16:creationId xmlns:a16="http://schemas.microsoft.com/office/drawing/2014/main" id="{52994D5F-C6F7-C093-06A0-2FADAA90839F}"/>
              </a:ext>
            </a:extLst>
          </p:cNvPr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</a:rPr>
              <a:t>References</a:t>
            </a:r>
          </a:p>
        </p:txBody>
      </p:sp>
      <p:sp>
        <p:nvSpPr>
          <p:cNvPr id="270" name="Google Shape;270;p20">
            <a:extLst>
              <a:ext uri="{FF2B5EF4-FFF2-40B4-BE49-F238E27FC236}">
                <a16:creationId xmlns:a16="http://schemas.microsoft.com/office/drawing/2014/main" id="{30865E46-777B-0FAF-816C-6889059CE904}"/>
              </a:ext>
            </a:extLst>
          </p:cNvPr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CDC26-D435-2BA8-C4B5-6B66702DA912}"/>
              </a:ext>
            </a:extLst>
          </p:cNvPr>
          <p:cNvSpPr txBox="1"/>
          <p:nvPr/>
        </p:nvSpPr>
        <p:spPr>
          <a:xfrm>
            <a:off x="533399" y="1413478"/>
            <a:ext cx="9593827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Aptos Display" panose="020B0004020202020204" pitchFamily="34" charset="0"/>
              </a:rPr>
              <a:t>A. S. Tanenbaum &amp; H. Bos</a:t>
            </a:r>
            <a:r>
              <a:rPr lang="en-IN" dirty="0">
                <a:latin typeface="Aptos Display" panose="020B0004020202020204" pitchFamily="34" charset="0"/>
              </a:rPr>
              <a:t>, </a:t>
            </a:r>
            <a:r>
              <a:rPr lang="en-IN" i="1" dirty="0">
                <a:latin typeface="Aptos Display" panose="020B0004020202020204" pitchFamily="34" charset="0"/>
              </a:rPr>
              <a:t>Modern Operating Systems</a:t>
            </a:r>
            <a:r>
              <a:rPr lang="en-IN" dirty="0">
                <a:latin typeface="Aptos Display" panose="020B0004020202020204" pitchFamily="34" charset="0"/>
              </a:rPr>
              <a:t>, 4th Edition, Pearson, 2015.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Aptos Display" panose="020B0004020202020204" pitchFamily="34" charset="0"/>
              </a:rPr>
              <a:t>A. Silberschatz, P. Galvin, G. Gagne</a:t>
            </a:r>
            <a:r>
              <a:rPr lang="en-IN" dirty="0">
                <a:latin typeface="Aptos Display" panose="020B0004020202020204" pitchFamily="34" charset="0"/>
              </a:rPr>
              <a:t>, </a:t>
            </a:r>
            <a:r>
              <a:rPr lang="en-IN" i="1" dirty="0">
                <a:latin typeface="Aptos Display" panose="020B0004020202020204" pitchFamily="34" charset="0"/>
              </a:rPr>
              <a:t>Operating System Concepts</a:t>
            </a:r>
            <a:r>
              <a:rPr lang="en-IN" dirty="0">
                <a:latin typeface="Aptos Display" panose="020B0004020202020204" pitchFamily="34" charset="0"/>
              </a:rPr>
              <a:t>, 10th Edition, Wiley, 2018.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Aptos Display" panose="020B0004020202020204" pitchFamily="34" charset="0"/>
              </a:rPr>
              <a:t>Mel Gorman</a:t>
            </a:r>
            <a:r>
              <a:rPr lang="en-IN" dirty="0">
                <a:latin typeface="Aptos Display" panose="020B0004020202020204" pitchFamily="34" charset="0"/>
              </a:rPr>
              <a:t>, </a:t>
            </a:r>
            <a:r>
              <a:rPr lang="en-IN" i="1" dirty="0">
                <a:latin typeface="Aptos Display" panose="020B0004020202020204" pitchFamily="34" charset="0"/>
              </a:rPr>
              <a:t>Understanding the Linux Virtual Memory Manager</a:t>
            </a:r>
            <a:r>
              <a:rPr lang="en-IN" dirty="0">
                <a:latin typeface="Aptos Display" panose="020B0004020202020204" pitchFamily="34" charset="0"/>
              </a:rPr>
              <a:t>, Prentice Hall, 2004.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Aptos Display" panose="020B0004020202020204" pitchFamily="34" charset="0"/>
              </a:rPr>
              <a:t>Linux Kernel Documentation</a:t>
            </a:r>
            <a:r>
              <a:rPr lang="en-IN" dirty="0">
                <a:latin typeface="Aptos Display" panose="020B0004020202020204" pitchFamily="34" charset="0"/>
              </a:rPr>
              <a:t>, Memory Management &amp; </a:t>
            </a:r>
            <a:r>
              <a:rPr lang="en-IN" dirty="0" err="1">
                <a:latin typeface="Aptos Display" panose="020B0004020202020204" pitchFamily="34" charset="0"/>
              </a:rPr>
              <a:t>kprobes</a:t>
            </a:r>
            <a:r>
              <a:rPr lang="en-IN" dirty="0">
                <a:latin typeface="Aptos Display" panose="020B0004020202020204" pitchFamily="34" charset="0"/>
              </a:rPr>
              <a:t> subsystem (kernel.org).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Aptos Display" panose="020B0004020202020204" pitchFamily="34" charset="0"/>
              </a:rPr>
              <a:t>J. </a:t>
            </a:r>
            <a:r>
              <a:rPr lang="en-IN" b="1" dirty="0" err="1">
                <a:latin typeface="Aptos Display" panose="020B0004020202020204" pitchFamily="34" charset="0"/>
              </a:rPr>
              <a:t>Kerrisk</a:t>
            </a:r>
            <a:r>
              <a:rPr lang="en-IN" dirty="0">
                <a:latin typeface="Aptos Display" panose="020B0004020202020204" pitchFamily="34" charset="0"/>
              </a:rPr>
              <a:t>, </a:t>
            </a:r>
            <a:r>
              <a:rPr lang="en-IN" i="1" dirty="0">
                <a:latin typeface="Aptos Display" panose="020B0004020202020204" pitchFamily="34" charset="0"/>
              </a:rPr>
              <a:t>The Linux Programming Interface</a:t>
            </a:r>
            <a:r>
              <a:rPr lang="en-IN" dirty="0">
                <a:latin typeface="Aptos Display" panose="020B0004020202020204" pitchFamily="34" charset="0"/>
              </a:rPr>
              <a:t>, No Starch Press, 2010.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Aptos Display" panose="020B0004020202020204" pitchFamily="34" charset="0"/>
              </a:rPr>
              <a:t>K. Cho et al.</a:t>
            </a:r>
            <a:r>
              <a:rPr lang="en-IN" dirty="0">
                <a:latin typeface="Aptos Display" panose="020B0004020202020204" pitchFamily="34" charset="0"/>
              </a:rPr>
              <a:t>, “Learning Phrase Representations using RNN Encoder–Decoder,” </a:t>
            </a:r>
            <a:r>
              <a:rPr lang="en-IN" i="1" dirty="0">
                <a:latin typeface="Aptos Display" panose="020B0004020202020204" pitchFamily="34" charset="0"/>
              </a:rPr>
              <a:t>arXiv:1406.1078</a:t>
            </a:r>
            <a:r>
              <a:rPr lang="en-IN" dirty="0">
                <a:latin typeface="Aptos Display" panose="020B0004020202020204" pitchFamily="34" charset="0"/>
              </a:rPr>
              <a:t>, 2014.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Aptos Display" panose="020B0004020202020204" pitchFamily="34" charset="0"/>
              </a:rPr>
              <a:t>S. Hochreiter &amp; J. </a:t>
            </a:r>
            <a:r>
              <a:rPr lang="en-IN" b="1" dirty="0" err="1">
                <a:latin typeface="Aptos Display" panose="020B0004020202020204" pitchFamily="34" charset="0"/>
              </a:rPr>
              <a:t>Schmidhuber</a:t>
            </a:r>
            <a:r>
              <a:rPr lang="en-IN" dirty="0">
                <a:latin typeface="Aptos Display" panose="020B0004020202020204" pitchFamily="34" charset="0"/>
              </a:rPr>
              <a:t>, “Long Short-Term Memory,” </a:t>
            </a:r>
            <a:r>
              <a:rPr lang="en-IN" i="1" dirty="0">
                <a:latin typeface="Aptos Display" panose="020B0004020202020204" pitchFamily="34" charset="0"/>
              </a:rPr>
              <a:t>Neural Computation</a:t>
            </a:r>
            <a:r>
              <a:rPr lang="en-IN" dirty="0">
                <a:latin typeface="Aptos Display" panose="020B0004020202020204" pitchFamily="34" charset="0"/>
              </a:rPr>
              <a:t>, 1997.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Aptos Display" panose="020B0004020202020204" pitchFamily="34" charset="0"/>
              </a:rPr>
              <a:t>Research Annex — RESAT-X V4 Pipeline (Internal Technical Note)*, 2025.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Aptos Display" panose="020B0004020202020204" pitchFamily="34" charset="0"/>
              </a:rPr>
              <a:t>Project Experiments &amp; Kernel Logs</a:t>
            </a:r>
            <a:r>
              <a:rPr lang="en-IN" dirty="0">
                <a:latin typeface="Aptos Display" panose="020B0004020202020204" pitchFamily="34" charset="0"/>
              </a:rPr>
              <a:t>, Custom Linux Kernel Build (2025).</a:t>
            </a:r>
          </a:p>
        </p:txBody>
      </p:sp>
    </p:spTree>
    <p:extLst>
      <p:ext uri="{BB962C8B-B14F-4D97-AF65-F5344CB8AC3E}">
        <p14:creationId xmlns:p14="http://schemas.microsoft.com/office/powerpoint/2010/main" val="47280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>
          <a:extLst>
            <a:ext uri="{FF2B5EF4-FFF2-40B4-BE49-F238E27FC236}">
              <a16:creationId xmlns:a16="http://schemas.microsoft.com/office/drawing/2014/main" id="{E19619F2-63ED-6CB8-79F6-E116C2B71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>
            <a:extLst>
              <a:ext uri="{FF2B5EF4-FFF2-40B4-BE49-F238E27FC236}">
                <a16:creationId xmlns:a16="http://schemas.microsoft.com/office/drawing/2014/main" id="{2A2216B7-C16B-7439-50F9-0380362EE44A}"/>
              </a:ext>
            </a:extLst>
          </p:cNvPr>
          <p:cNvSpPr/>
          <p:nvPr/>
        </p:nvSpPr>
        <p:spPr>
          <a:xfrm>
            <a:off x="0" y="230188"/>
            <a:ext cx="12192000" cy="76041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</a:rPr>
              <a:t>Thank You </a:t>
            </a:r>
          </a:p>
        </p:txBody>
      </p:sp>
      <p:sp>
        <p:nvSpPr>
          <p:cNvPr id="270" name="Google Shape;270;p20">
            <a:extLst>
              <a:ext uri="{FF2B5EF4-FFF2-40B4-BE49-F238E27FC236}">
                <a16:creationId xmlns:a16="http://schemas.microsoft.com/office/drawing/2014/main" id="{9DE8B887-2FEC-9F0D-1EAA-CC79065CAE8B}"/>
              </a:ext>
            </a:extLst>
          </p:cNvPr>
          <p:cNvSpPr/>
          <p:nvPr/>
        </p:nvSpPr>
        <p:spPr>
          <a:xfrm>
            <a:off x="0" y="6311900"/>
            <a:ext cx="12192000" cy="3127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ptos Display" panose="020B00040202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F5717-F2B5-70DD-4AF8-E28E2E9893D6}"/>
              </a:ext>
            </a:extLst>
          </p:cNvPr>
          <p:cNvSpPr txBox="1"/>
          <p:nvPr/>
        </p:nvSpPr>
        <p:spPr>
          <a:xfrm>
            <a:off x="1919748" y="1335686"/>
            <a:ext cx="914154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400" b="1" dirty="0">
                <a:latin typeface="Algerian" panose="04020705040A02060702" pitchFamily="82" charset="0"/>
              </a:rPr>
              <a:t>THANK YOU</a:t>
            </a:r>
          </a:p>
          <a:p>
            <a:pPr>
              <a:buNone/>
            </a:pPr>
            <a:r>
              <a:rPr lang="en-IN" sz="1400" b="1" dirty="0">
                <a:latin typeface="Aptos Display" panose="020B0004020202020204" pitchFamily="34" charset="0"/>
              </a:rPr>
              <a:t>We sincerely appreciate your time and attention.</a:t>
            </a:r>
            <a:br>
              <a:rPr lang="en-IN" sz="1400" dirty="0">
                <a:latin typeface="Aptos Display" panose="020B0004020202020204" pitchFamily="34" charset="0"/>
              </a:rPr>
            </a:br>
            <a:r>
              <a:rPr lang="en-IN" sz="1400" dirty="0">
                <a:latin typeface="Aptos Display" panose="020B0004020202020204" pitchFamily="34" charset="0"/>
              </a:rPr>
              <a:t>Your guidance, feedback, and support have been invaluable to the success of this project.</a:t>
            </a:r>
          </a:p>
          <a:p>
            <a:pPr>
              <a:buNone/>
            </a:pPr>
            <a:endParaRPr lang="en-IN" dirty="0"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Aptos Display" panose="020B0004020202020204" pitchFamily="34" charset="0"/>
              </a:rPr>
              <a:t>Presented By: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Aptos Display" panose="020B0004020202020204" pitchFamily="34" charset="0"/>
              </a:rPr>
              <a:t>Hemant Singh Chouhan</a:t>
            </a:r>
            <a:br>
              <a:rPr lang="en-IN" sz="1400" dirty="0">
                <a:latin typeface="Aptos Display" panose="020B0004020202020204" pitchFamily="34" charset="0"/>
              </a:rPr>
            </a:br>
            <a:r>
              <a:rPr lang="en-IN" sz="1400" b="1" dirty="0">
                <a:latin typeface="Aptos Display" panose="020B0004020202020204" pitchFamily="34" charset="0"/>
              </a:rPr>
              <a:t>Naresh Parmar</a:t>
            </a:r>
            <a:br>
              <a:rPr lang="en-IN" sz="1400" dirty="0">
                <a:latin typeface="Aptos Display" panose="020B0004020202020204" pitchFamily="34" charset="0"/>
              </a:rPr>
            </a:br>
            <a:r>
              <a:rPr lang="en-IN" sz="1400" b="1" dirty="0">
                <a:latin typeface="Aptos Display" panose="020B0004020202020204" pitchFamily="34" charset="0"/>
              </a:rPr>
              <a:t>Naman Sehra</a:t>
            </a:r>
            <a:br>
              <a:rPr lang="en-IN" sz="1400" dirty="0">
                <a:latin typeface="Aptos Display" panose="020B0004020202020204" pitchFamily="34" charset="0"/>
              </a:rPr>
            </a:br>
            <a:r>
              <a:rPr lang="en-IN" sz="1400" b="1" dirty="0">
                <a:latin typeface="Aptos Display" panose="020B0004020202020204" pitchFamily="34" charset="0"/>
              </a:rPr>
              <a:t>Shubham Garg</a:t>
            </a:r>
          </a:p>
          <a:p>
            <a:pPr>
              <a:lnSpc>
                <a:spcPct val="150000"/>
              </a:lnSpc>
              <a:buNone/>
            </a:pPr>
            <a:endParaRPr lang="en-IN" sz="1400" dirty="0">
              <a:latin typeface="Aptos Display" panose="020B0004020202020204" pitchFamily="34" charset="0"/>
            </a:endParaRPr>
          </a:p>
          <a:p>
            <a:pPr>
              <a:buNone/>
            </a:pPr>
            <a:r>
              <a:rPr lang="en-IN" sz="1400" b="1" dirty="0">
                <a:latin typeface="Aptos Display" panose="020B0004020202020204" pitchFamily="34" charset="0"/>
              </a:rPr>
              <a:t>Under the Guidance of:</a:t>
            </a:r>
          </a:p>
          <a:p>
            <a:pPr>
              <a:buNone/>
            </a:pPr>
            <a:endParaRPr lang="en-IN" sz="1400" b="1" dirty="0">
              <a:latin typeface="Aptos Display" panose="020B0004020202020204" pitchFamily="34" charset="0"/>
            </a:endParaRPr>
          </a:p>
          <a:p>
            <a:pPr>
              <a:buNone/>
            </a:pPr>
            <a:r>
              <a:rPr lang="en-IN" sz="1400" b="1" dirty="0">
                <a:latin typeface="Aptos Display" panose="020B0004020202020204" pitchFamily="34" charset="0"/>
              </a:rPr>
              <a:t>Mr. R. S. Sharma</a:t>
            </a:r>
            <a:r>
              <a:rPr lang="en-IN" sz="1400" dirty="0">
                <a:latin typeface="Aptos Display" panose="020B0004020202020204" pitchFamily="34" charset="0"/>
              </a:rPr>
              <a:t> — </a:t>
            </a:r>
            <a:r>
              <a:rPr lang="en-IN" sz="1400" i="1" dirty="0">
                <a:latin typeface="Aptos Display" panose="020B0004020202020204" pitchFamily="34" charset="0"/>
              </a:rPr>
              <a:t>Head of Department &amp; Supervisor</a:t>
            </a:r>
            <a:br>
              <a:rPr lang="en-IN" sz="1400" dirty="0">
                <a:latin typeface="Aptos Display" panose="020B0004020202020204" pitchFamily="34" charset="0"/>
              </a:rPr>
            </a:br>
            <a:r>
              <a:rPr lang="en-IN" sz="1400" b="1" dirty="0">
                <a:latin typeface="Aptos Display" panose="020B0004020202020204" pitchFamily="34" charset="0"/>
              </a:rPr>
              <a:t>Ms. Mithilesh Sharma</a:t>
            </a:r>
            <a:r>
              <a:rPr lang="en-IN" sz="1400" dirty="0">
                <a:latin typeface="Aptos Display" panose="020B0004020202020204" pitchFamily="34" charset="0"/>
              </a:rPr>
              <a:t> — </a:t>
            </a:r>
            <a:r>
              <a:rPr lang="en-IN" sz="1400" i="1" dirty="0">
                <a:latin typeface="Aptos Display" panose="020B0004020202020204" pitchFamily="34" charset="0"/>
              </a:rPr>
              <a:t>Co-Supervisor</a:t>
            </a:r>
            <a:endParaRPr lang="en-IN" sz="1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787439"/>
      </p:ext>
    </p:extLst>
  </p:cSld>
  <p:clrMapOvr>
    <a:masterClrMapping/>
  </p:clrMapOvr>
</p:sld>
</file>

<file path=ppt/theme/theme1.xml><?xml version="1.0" encoding="utf-8"?>
<a:theme xmlns:a="http://schemas.openxmlformats.org/drawingml/2006/main" name="1_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3504</TotalTime>
  <Words>4813</Words>
  <Application>Microsoft Office PowerPoint</Application>
  <PresentationFormat>Widescreen</PresentationFormat>
  <Paragraphs>521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Tw Cen MT</vt:lpstr>
      <vt:lpstr>Algerian</vt:lpstr>
      <vt:lpstr>Calibri Light</vt:lpstr>
      <vt:lpstr>Wingdings</vt:lpstr>
      <vt:lpstr>Times New Roman</vt:lpstr>
      <vt:lpstr>Arial</vt:lpstr>
      <vt:lpstr>Aptos Display</vt:lpstr>
      <vt:lpstr>Calibri</vt:lpstr>
      <vt:lpstr>Cambria Math</vt:lpstr>
      <vt:lpstr>1_Droplet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Jatin Manhoriya</dc:creator>
  <cp:lastModifiedBy>shubham garg</cp:lastModifiedBy>
  <cp:revision>69</cp:revision>
  <dcterms:created xsi:type="dcterms:W3CDTF">2025-08-11T09:29:11Z</dcterms:created>
  <dcterms:modified xsi:type="dcterms:W3CDTF">2025-12-08T04:56:01Z</dcterms:modified>
</cp:coreProperties>
</file>